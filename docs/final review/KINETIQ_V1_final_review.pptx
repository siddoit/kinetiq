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lvl="0">
      <a:defRPr lang="en-US"/>
    </a:defPPr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FF7"/>
    <a:srgbClr val="D2DE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60"/>
  </p:normalViewPr>
  <p:slideViewPr>
    <p:cSldViewPr snapToGrid="0">
      <p:cViewPr varScale="1">
        <p:scale>
          <a:sx n="84" d="100"/>
          <a:sy n="84" d="100"/>
        </p:scale>
        <p:origin x="408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B2298D-2FFE-4517-8E10-E9394894EEAF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C1D7D-EFEA-4841-959A-F45461074D0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042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C5FF3-00EA-45CC-B7E1-84D5D7832992}" type="datetime1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8661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C1846-6848-4C3C-A053-A69834132C16}" type="datetime1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671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822C4-472E-44A9-A657-67EDBE37D843}" type="datetime1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2894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92B11-9E42-47E7-A44B-2AD99F380F86}" type="datetime1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7799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4798E-D96E-4627-9584-A0046B543FEA}" type="datetime1">
              <a:rPr lang="en-IN" smtClean="0"/>
              <a:t>06-10-2026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8101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5BD22-7724-45F4-BDB5-8F99527BB392}" type="datetime1">
              <a:rPr lang="en-IN" smtClean="0"/>
              <a:t>06-10-2026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48958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79EA4-3F90-4BA9-A7BC-6EA928BE2513}" type="datetime1">
              <a:rPr lang="en-IN" smtClean="0"/>
              <a:t>06-10-2026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2479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8D480-A190-4E2C-B605-D3841A021D52}" type="datetime1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8014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BD555-71D3-4570-A68C-E33065D8866E}" type="datetime1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1261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68717-7530-43FA-B168-D3E0E4D4B37A}" type="datetime1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5262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96AF4-4731-4765-B4DF-43497718C08B}" type="datetime1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1468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AA8838-B03B-4394-A81F-E39DD145F32C}" type="datetime1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03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7048" y="1371600"/>
            <a:ext cx="9144000" cy="1463040"/>
          </a:xfrm>
        </p:spPr>
        <p:txBody>
          <a:bodyPr/>
          <a:lstStyle/>
          <a:p>
            <a:pPr algn="ctr"/>
            <a:r>
              <a:rPr sz="7200" b="1" i="0">
                <a:solidFill>
                  <a:srgbClr val="FF0000"/>
                </a:solidFill>
                <a:latin typeface="Times New Roman"/>
              </a:rPr>
              <a:t>KINETIQ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7048" y="2926080"/>
            <a:ext cx="9144000" cy="2743200"/>
          </a:xfrm>
        </p:spPr>
        <p:txBody>
          <a:bodyPr wrap="square"/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262626"/>
                </a:solidFill>
                <a:latin typeface="Times New Roman"/>
              </a:rPr>
              <a:t>RTOS-Based IoT Healthcare Assistant with Sensor-Grounded Voice AI</a:t>
            </a:r>
          </a:p>
          <a:p>
            <a:pPr algn="ctr">
              <a:spcAft>
                <a:spcPts val="600"/>
              </a:spcAft>
            </a:pPr>
            <a:r>
              <a:rPr sz="1800" b="0" i="1">
                <a:solidFill>
                  <a:srgbClr val="262626"/>
                </a:solidFill>
                <a:latin typeface="Times New Roman"/>
              </a:rPr>
              <a:t>‘Mirror, Mirror’ — the wellness mirror that sees, listens and answers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Team: Sid &amp; Tharun  ·  Faculty Guide: (to be confirmed)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0000"/>
                </a:solidFill>
                <a:latin typeface="Times New Roman"/>
              </a:rPr>
              <a:t>FINAL INTERNAL REVIEW — 15 Oct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19656" y="73152"/>
            <a:ext cx="7872983" cy="110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262626"/>
                </a:solidFill>
                <a:latin typeface="Times New Roman"/>
              </a:rPr>
              <a:t>SAINTGITS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62626"/>
                </a:solidFill>
                <a:latin typeface="Times New Roman"/>
              </a:rPr>
              <a:t>COLLEGE OF ENGINEERING (AUTONOMOUS)</a:t>
            </a:r>
          </a:p>
        </p:txBody>
      </p:sp>
      <p:pic>
        <p:nvPicPr>
          <p:cNvPr id="5" name="Picture 4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91440"/>
            <a:ext cx="960120" cy="1088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6409944"/>
            <a:ext cx="76901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LEARN . GROW .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90104" y="6409944"/>
            <a:ext cx="4498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PROBLEM STATEMENT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510528"/>
            <a:ext cx="769010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LEARN . GROW .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70408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</a:rPr>
              <a:t>•  Wellness data is siloed inside wearables — no open export, no live feed a student system can build on.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</a:rPr>
              <a:t>•  Generic voice and chat assistants hallucinate health advice; none of it is grounded in live physiology.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</a:rPr>
              <a:t>•  Posture, sedentary-time and room-comfort risks go undetected in real time at the study desk.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</a:rPr>
              <a:t>•  Classroom embedded work stops at demo boards — the RTOS-plus-IoT integration gap is the real learning gap.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</a:rPr>
              <a:t>•  Scope is honest: no clinical claims. The need is an open, explainable wellness assistant that reacts to live sensor state — and says why.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463040"/>
            <a:ext cx="4023360" cy="31423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470916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262626"/>
                </a:solidFill>
                <a:latin typeface="Times New Roman"/>
              </a:rPr>
              <a:t>System at a glance — sensing node to mirror. Full diagram in METHODOLOGY.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OBJECTIVES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510528"/>
            <a:ext cx="769010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LEARN . GROW .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</a:rPr>
              <a:t>1. RTOS SENSING NODE — FreeRTOS tasks plus queues on ESP32 (sensor / comms / alert tasks, vTaskDelay pacing, no delay() spaghetti).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</a:rPr>
              <a:t>2. IoT TELEMETRY PIPELINE — live newline-JSON stream off-device to the laptop dashboard and CSV log; serial first, WiFi bridge next.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</a:rPr>
              <a:t>3. EMBEDDED SENSOR DESIGN — I2C MPU6050 plus HC-SR04, DHT22 on GPIO13, button on GPIO4, buzzer on GPIO17; divider-protected echo pin.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</a:rPr>
              <a:t>4. SENSOR-GROUNDED VOICE AI — offline STT to LLM to TTS, every reply gated by verify_grounding against live telemetry; FAIL-closed.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</a:rPr>
              <a:t>SUCCESS GATE — serial-only demo frozen 20 Oct: the pass threshold even if WiFi slips; simulator plus recorded video as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METHODOLOGY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510528"/>
            <a:ext cx="769010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LEARN . GROW .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32688"/>
            <a:ext cx="2212848" cy="56692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0000"/>
                </a:solidFill>
                <a:latin typeface="Times New Roman"/>
              </a:rPr>
              <a:t>SENSE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262626"/>
                </a:solidFill>
                <a:latin typeface="Times New Roman"/>
              </a:rPr>
              <a:t>MPU6050·DHT22·sonar·cam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932688"/>
            <a:ext cx="137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0000"/>
                </a:solidFill>
                <a:latin typeface="Times New Roman"/>
              </a:rPr>
              <a:t>➔</a:t>
            </a:r>
          </a:p>
        </p:txBody>
      </p:sp>
      <p:sp>
        <p:nvSpPr>
          <p:cNvPr id="8" name="Rectangle 7"/>
          <p:cNvSpPr/>
          <p:nvPr/>
        </p:nvSpPr>
        <p:spPr>
          <a:xfrm>
            <a:off x="2624327" y="932688"/>
            <a:ext cx="2212848" cy="56692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0000"/>
                </a:solidFill>
                <a:latin typeface="Times New Roman"/>
              </a:rPr>
              <a:t>PROCESS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262626"/>
                </a:solidFill>
                <a:latin typeface="Times New Roman"/>
              </a:rPr>
              <a:t>queues·validate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7175" y="932688"/>
            <a:ext cx="137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0000"/>
                </a:solidFill>
                <a:latin typeface="Times New Roman"/>
              </a:rPr>
              <a:t>➔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4336" y="932688"/>
            <a:ext cx="2212848" cy="56692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0000"/>
                </a:solidFill>
                <a:latin typeface="Times New Roman"/>
              </a:rPr>
              <a:t>INFER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262626"/>
                </a:solidFill>
                <a:latin typeface="Times New Roman"/>
              </a:rPr>
              <a:t>posture·rules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7183" y="932688"/>
            <a:ext cx="137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0000"/>
                </a:solidFill>
                <a:latin typeface="Times New Roman"/>
              </a:rPr>
              <a:t>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24344" y="932688"/>
            <a:ext cx="2212848" cy="56692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0000"/>
                </a:solidFill>
                <a:latin typeface="Times New Roman"/>
              </a:rPr>
              <a:t>COMMUNICATE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262626"/>
                </a:solidFill>
                <a:latin typeface="Times New Roman"/>
              </a:rPr>
              <a:t>serial·WiFi·CSV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7192" y="932688"/>
            <a:ext cx="137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0000"/>
                </a:solidFill>
                <a:latin typeface="Times New Roman"/>
              </a:rPr>
              <a:t>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74352" y="932688"/>
            <a:ext cx="2212848" cy="56692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0000"/>
                </a:solidFill>
                <a:latin typeface="Times New Roman"/>
              </a:rPr>
              <a:t>ASSIST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262626"/>
                </a:solidFill>
                <a:latin typeface="Times New Roman"/>
              </a:rPr>
              <a:t>voice·buzzer</a:t>
            </a:r>
          </a:p>
        </p:txBody>
      </p:sp>
      <p:pic>
        <p:nvPicPr>
          <p:cNvPr id="15" name="Picture 1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27632"/>
            <a:ext cx="6035040" cy="471349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83680" y="1627632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•  SENSE — MPU6050 motion, DHT22 room climate, HC-SR04 presence, webcam pose mesh.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•  PROCESS — FreeRTOS sensor task samples, queue hands frames to comms task; schema validates every line.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•  INFER — activity and exertion rules plus posture cross-check turn raw numbers into state.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•  COMMUNICATE — newline-JSON over serial (WiFi bridge next) into dashboard, CSV log and voice context.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•  ASSIST — grounded voice answer cites live values; buzzer plus voice cue on slouch.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DEMO — WHAT WORKS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510528"/>
            <a:ext cx="769010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LEARN . GROW .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577840" cy="44805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>
                <a:solidFill>
                  <a:srgbClr val="00FF00"/>
                </a:solidFill>
                <a:latin typeface="Courier New"/>
              </a:rPr>
              <a:t>$ dashboard --source stdin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0FF00"/>
                </a:solidFill>
                <a:latin typeface="Courier New"/>
              </a:rPr>
              <a:t>dashboard: received=75 dropped=0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0FF00"/>
                </a:solidFill>
                <a:latin typeface="Courier New"/>
              </a:rPr>
              <a:t>$ assistant "how am I doing?"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0FF00"/>
                </a:solidFill>
                <a:latin typeface="Courier New"/>
              </a:rPr>
              <a:t>[grounding] PASS — cites live HR + posture</a:t>
            </a:r>
          </a:p>
          <a:p>
            <a:pPr>
              <a:spcAft>
                <a:spcPts val="400"/>
              </a:spcAft>
            </a:pPr>
            <a:r>
              <a:rPr sz="1400">
                <a:latin typeface="Courier New"/>
              </a:rPr>
              <a:t>[llm] reply via ollama (gemma2:2b) — grounding PASS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0FF00"/>
                </a:solidFill>
                <a:latin typeface="Courier New"/>
              </a:rPr>
              <a:t>$ ble bridge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0FF00"/>
                </a:solidFill>
                <a:latin typeface="Courier New"/>
              </a:rPr>
              <a:t>ble: packets_routed=30 schema_rejected=0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0FF00"/>
                </a:solidFill>
                <a:latin typeface="Courier New"/>
              </a:rPr>
              <a:t>$ voice pipeline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0FF00"/>
                </a:solidFill>
                <a:latin typeface="Courier New"/>
              </a:rPr>
              <a:t>voice: stt→llm→tts pipeline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14300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</a:rPr>
              <a:t>60-SECOND DEMO SCRIPT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1. Walk up to the mirror — camera sees posture; mirror greets you by state.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2. Slouch — voice says ‘sit up’ and the node buzzer fires.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3. Ask ‘how am I doing?’ — grounded voice answer plus [grounding] PASS on screen.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4. Dashboard behind shows the live RTOS node stream — the RTOS/IoT proof.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Counters (received/dropped, routed/rejected) stay visible: loss is shown, never silent.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RESULTS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510528"/>
            <a:ext cx="769010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LEARN . GROW .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pic>
        <p:nvPicPr>
          <p:cNvPr id="6" name="Picture 5" descr="results_tele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6949440" cy="41696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18872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62626"/>
                </a:solidFill>
                <a:latin typeface="Times New Roman"/>
              </a:rPr>
              <a:t>•  Mock session session_20261014_193910: 30 samples at ~1 Hz, rest to walk to run.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62626"/>
                </a:solidFill>
                <a:latin typeface="Times New Roman"/>
              </a:rPr>
              <a:t>•  Heart rate 63 → 155 bpm tracks activity phases; motion intensity 0.04 → 0.92.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62626"/>
                </a:solidFill>
                <a:latin typeface="Times New Roman"/>
              </a:rPr>
              <a:t>•  Schema: 8-field strict validation (timestamp, heart_rate, spo2, activity, motion_intensity, exertion, steps, ppg_quality); rejects logged with reason.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62626"/>
                </a:solidFill>
                <a:latin typeface="Times New Roman"/>
              </a:rPr>
              <a:t>•  Dashboard: received-vs-dropped counters on every run; BLE bridge routed-vs-rejected likewise.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62626"/>
                </a:solidFill>
                <a:latin typeface="Times New Roman"/>
              </a:rPr>
              <a:t>•  Voice: real STT measured 0.48 s per clip (synthesized audio), total well under the 5.0 s gate; grounding verify is FAIL-closed — ungrounded replies are never spoken.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HARDWARE &amp; BOM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510528"/>
            <a:ext cx="769010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LEARN . GROW .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11612880" cy="3840480"/>
        </p:xfrm>
        <a:graphic>
          <a:graphicData uri="http://schemas.openxmlformats.org/drawingml/2006/table">
            <a:tbl>
              <a:tblPr firstRow="1" bandRow="0" tableStyleId="{5940675A-B579-460E-94D1-542E71E4F335}">
                <a:tableStyleId>{5C22544A-7EE6-4342-B048-85BDC9FD1C3A}</a:tableStyleId>
              </a:tblPr>
              <a:tblGrid>
                <a:gridCol w="548640"/>
                <a:gridCol w="6217920"/>
                <a:gridCol w="822960"/>
                <a:gridCol w="1188720"/>
                <a:gridCol w="2834640"/>
              </a:tblGrid>
              <a:tr h="4800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#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₹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ESP32 DevKit V1 WROOM-32 (headers pre-soldered)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998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Ordered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Micro-USB data cables (drawer check first)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Ordered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830-pt breadboard + M-M jumper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499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Ordered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MPU6050 + HC-SR04 + IR combo (headers soldered)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Ordered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DHT22 module (built-in pullup)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Ordered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F-F jumper 20-pack + tact buttons + caps + buzzer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Ordered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TIER-A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≈1,950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Design-complete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507492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Times New Roman"/>
              </a:rPr>
              <a:t>PIN PLAN — I2C SDA=21 / SCL=22 (MPU 0x68) · DHT=GPIO13 · sonar Trig=26 / Echo=25 via 1k+2k2 divider · button=GPIO4 · buzzer=GPIO17 · LED=GPIO16.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Honest status: v1 software complete · hardware designed and ordered · Wokwi simulation next week; HR/SpO2 via wearable bridge is a timeboxed stretch goal.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ROADMAP &amp; THANK YOU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510528"/>
            <a:ext cx="769010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LEARN . GROW .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6949440" cy="3657600"/>
        </p:xfrm>
        <a:graphic>
          <a:graphicData uri="http://schemas.openxmlformats.org/drawingml/2006/table">
            <a:tbl>
              <a:tblPr firstRow="1" bandRow="0" tableStyleId="{5940675A-B579-460E-94D1-542E71E4F335}">
                <a:tableStyleId>{5C22544A-7EE6-4342-B048-85BDC9FD1C3A}</a:tableStyleId>
              </a:tblPr>
              <a:tblGrid>
                <a:gridCol w="1188720"/>
                <a:gridCol w="393192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DAY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GATE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12 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Idea confirmed · order placed · Wokwi blink tonight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✓ done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13 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Firmware hardware-agnostic · bridge · backup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✓ done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14–15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Board arrives · serial JSON to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→ next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I2C sensors live · figures + wiring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→ next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17–18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WiFi layer (soft-AP fallback ready)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→ next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19–20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Audio cut/go · serial demo 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→ next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21–22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Report · rehearse ·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→ next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0972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0000"/>
                </a:solidFill>
                <a:latin typeface="Times New Roman"/>
              </a:rPr>
              <a:t>REFERENCES (MINI)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Zephyr / FreeRTOS task-queue model · ESP32 DevKit docs · RAG-grounding for sensor-cited answers · MediaPipe pose mesh.</a:t>
            </a:r>
          </a:p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</a:rPr>
              <a:t>THANK YOU — Questions?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github.com/siddoit/KinetiQ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4912</TotalTime>
  <Words>2877</Words>
  <Application>Microsoft Office PowerPoint</Application>
  <PresentationFormat>Widescreen</PresentationFormat>
  <Paragraphs>261</Paragraphs>
  <Slides>22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Arial</vt:lpstr>
      <vt:lpstr>Calibri</vt:lpstr>
      <vt:lpstr>Calibri Light</vt:lpstr>
      <vt:lpstr>Cambria</vt:lpstr>
      <vt:lpstr>Gill Sans MT</vt:lpstr>
      <vt:lpstr>Swis721 BlkCn BT</vt:lpstr>
      <vt:lpstr>Times New Roman</vt:lpstr>
      <vt:lpstr>Office Theme</vt:lpstr>
      <vt:lpstr>B.TECH PROJECT PHASE 1 FINAL INTERNAL REVIEW</vt:lpstr>
      <vt:lpstr>Embodied Semantic Asset Recall Robot Offline Industrial Object Search, Recall, and Verification via Edge-Optimized Vision-Language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 492-Project First Progress Assessment</dc:title>
  <dc:creator>Abraham</dc:creator>
  <cp:lastModifiedBy>Sidharth Sajith</cp:lastModifiedBy>
  <cp:revision>52</cp:revision>
  <cp:lastPrinted>2024-11-07T04:07:42Z</cp:lastPrinted>
  <dcterms:modified xsi:type="dcterms:W3CDTF">2026-10-06T07:55:00Z</dcterms:modified>
</cp:coreProperties>
</file>