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5" r:id="rId11"/>
  </p:sldIdLst>
  <p:sldSz cx="12192000" cy="6858000"/>
  <p:notesSz cx="6858000" cy="9144000"/>
  <p:defaultTextStyle>
    <a:defPPr lvl="0">
      <a:defRPr lang="en-US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FF7"/>
    <a:srgbClr val="D2DE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60"/>
  </p:normalViewPr>
  <p:slideViewPr>
    <p:cSldViewPr snapToGrid="0">
      <p:cViewPr varScale="1">
        <p:scale>
          <a:sx n="97" d="100"/>
          <a:sy n="97" d="100"/>
        </p:scale>
        <p:origin x="42" y="17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2298D-2FFE-4517-8E10-E9394894EEAF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C1D7D-EFEA-4841-959A-F45461074D0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42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3300-F7C1-77D3-CE4F-17E9B92E7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98A73A-8540-EF55-5032-8CC401589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68AADD-787C-DED2-CBC5-38FECFFB4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A8BA7-1D3D-3F68-71DB-5D1B73642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22C1D7D-EFEA-4841-959A-F45461074D0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78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A49C1-4CDC-F30E-1CC1-F1365EC1C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41BB6-C799-3EBE-942A-68D074EBB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53D0-26B0-42FE-93D7-6F33B96F5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506A03-DD9A-CCA3-EEE5-6CE130744B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22C1D7D-EFEA-4841-959A-F45461074D07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8942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C5FF3-00EA-45CC-B7E1-84D5D7832992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8661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C1846-6848-4C3C-A053-A69834132C16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671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822C4-472E-44A9-A657-67EDBE37D843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289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92B11-9E42-47E7-A44B-2AD99F380F86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7799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4798E-D96E-4627-9584-A0046B543FEA}" type="datetime1">
              <a:rPr lang="en-IN" smtClean="0"/>
              <a:t>15-10-2026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8101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5BD22-7724-45F4-BDB5-8F99527BB392}" type="datetime1">
              <a:rPr lang="en-IN" smtClean="0"/>
              <a:t>15-10-2026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4895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79EA4-3F90-4BA9-A7BC-6EA928BE2513}" type="datetime1">
              <a:rPr lang="en-IN" smtClean="0"/>
              <a:t>15-10-2026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247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8D480-A190-4E2C-B605-D3841A021D52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8014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BD555-71D3-4570-A68C-E33065D8866E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1261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68717-7530-43FA-B168-D3E0E4D4B37A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262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96AF4-4731-4765-B4DF-43497718C08B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1468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AA8838-B03B-4394-A81F-E39DD145F32C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EA77F8-7CC5-4988-A0C0-1E2E2968A9A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03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CFA0-CC8E-1BA5-784B-FAE41EE3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1166AC-0AB5-B888-0318-C3CFACC546EF}"/>
              </a:ext>
            </a:extLst>
          </p:cNvPr>
          <p:cNvSpPr txBox="1"/>
          <p:nvPr/>
        </p:nvSpPr>
        <p:spPr>
          <a:xfrm>
            <a:off x="1822249" y="75183"/>
            <a:ext cx="78703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FF0000"/>
                </a:solidFill>
                <a:latin typeface="Swis721 BlkCn BT" panose="020B0806030502040204" pitchFamily="34" charset="0"/>
              </a:rPr>
              <a:t>SAINTGITS</a:t>
            </a:r>
            <a:endParaRPr lang="en-IN" sz="2400" b="1" dirty="0">
              <a:latin typeface="Swis721 BlkCn BT" panose="020B0806030502040204" pitchFamily="34" charset="0"/>
            </a:endParaRPr>
          </a:p>
          <a:p>
            <a:r>
              <a:rPr lang="en-IN" sz="2400" b="1" dirty="0">
                <a:latin typeface="Swis721 BlkCn BT" panose="020B0806030502040204" pitchFamily="34" charset="0"/>
              </a:rPr>
              <a:t>COLLEGE OF ENGINEERING</a:t>
            </a:r>
          </a:p>
          <a:p>
            <a:r>
              <a:rPr lang="en-IN" dirty="0">
                <a:latin typeface="Gill Sans MT" panose="020B0502020104020203" pitchFamily="34" charset="0"/>
              </a:rPr>
              <a:t>(AUTONOMOUS)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563E1-7D96-F5A2-6ACA-C37C233872DC}"/>
              </a:ext>
            </a:extLst>
          </p:cNvPr>
          <p:cNvSpPr txBox="1"/>
          <p:nvPr/>
        </p:nvSpPr>
        <p:spPr>
          <a:xfrm>
            <a:off x="0" y="6412331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10ABD3-75FA-9C16-C33C-3D90B75C71BE}"/>
              </a:ext>
            </a:extLst>
          </p:cNvPr>
          <p:cNvSpPr/>
          <p:nvPr/>
        </p:nvSpPr>
        <p:spPr>
          <a:xfrm>
            <a:off x="571500" y="4642"/>
            <a:ext cx="1152525" cy="12669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BFF886-5C7F-145E-7210-AACC6FB783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724" y="93102"/>
            <a:ext cx="956075" cy="109007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887D997-2295-17D9-FC47-20F1B4E89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411" y="1980411"/>
            <a:ext cx="12192000" cy="1569659"/>
          </a:xfrm>
        </p:spPr>
        <p:txBody>
          <a:bodyPr wrap="square">
            <a:normAutofit/>
          </a:bodyPr>
          <a:lstStyle/>
          <a:p>
            <a:r>
              <a:rPr sz="4800" b="1">
                <a:latin typeface="Book Antiqua"/>
              </a:rPr>
              <a:t>B.TECH MINOR PROJECT
FINAL STATUS UPDATE
23/10/2026</a:t>
            </a:r>
            <a:endParaRPr lang="en-IN" sz="4500" b="1" dirty="0">
              <a:latin typeface="Book Antiqua" panose="0204060205030503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6540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048" y="1371600"/>
            <a:ext cx="9144000" cy="1463040"/>
          </a:xfrm>
        </p:spPr>
        <p:txBody>
          <a:bodyPr/>
          <a:lstStyle/>
          <a:p>
            <a:pPr algn="ctr"/>
            <a:r>
              <a:rPr sz="7200" b="1" i="0" dirty="0">
                <a:solidFill>
                  <a:srgbClr val="FF0000"/>
                </a:solidFill>
                <a:latin typeface="Times New Roman"/>
              </a:rPr>
              <a:t>KINETIQ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048" y="2926080"/>
            <a:ext cx="9106539" cy="1321455"/>
          </a:xfrm>
        </p:spPr>
        <p:txBody>
          <a:bodyPr wrap="square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62626"/>
                </a:solidFill>
                <a:latin typeface="Times New Roman"/>
              </a:rPr>
              <a:t>Real-Time Wellness Mirror with FreeRTOS and Sensor-Grounded AI
Two evidence lanes: genuine Huawei Band 6 biometrics + deterministic RTOS control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65F4A9-0B85-9A40-61E4-9E6F10CB350C}"/>
              </a:ext>
            </a:extLst>
          </p:cNvPr>
          <p:cNvSpPr txBox="1"/>
          <p:nvPr/>
        </p:nvSpPr>
        <p:spPr>
          <a:xfrm>
            <a:off x="1817329" y="75463"/>
            <a:ext cx="78703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FF0000"/>
                </a:solidFill>
                <a:latin typeface="Swis721 BlkCn BT" panose="020B0806030502040204" pitchFamily="34" charset="0"/>
              </a:rPr>
              <a:t>SAINTGITS</a:t>
            </a:r>
            <a:endParaRPr lang="en-IN" sz="2400" b="1" dirty="0">
              <a:latin typeface="Swis721 BlkCn BT" panose="020B0806030502040204" pitchFamily="34" charset="0"/>
            </a:endParaRPr>
          </a:p>
          <a:p>
            <a:r>
              <a:rPr lang="en-IN" sz="2400" b="1" dirty="0">
                <a:latin typeface="Swis721 BlkCn BT" panose="020B0806030502040204" pitchFamily="34" charset="0"/>
              </a:rPr>
              <a:t>COLLEGE OF ENGINEERING</a:t>
            </a:r>
          </a:p>
          <a:p>
            <a:r>
              <a:rPr lang="en-IN" dirty="0">
                <a:latin typeface="Gill Sans MT" panose="020B0502020104020203" pitchFamily="34" charset="0"/>
              </a:rPr>
              <a:t>(AUTONOMOUS)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9C8E22-9F8A-524C-51B1-A6A255F65594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FAAF73-BB7C-8119-16B7-3028B1F54B48}"/>
              </a:ext>
            </a:extLst>
          </p:cNvPr>
          <p:cNvSpPr/>
          <p:nvPr/>
        </p:nvSpPr>
        <p:spPr>
          <a:xfrm>
            <a:off x="566580" y="4922"/>
            <a:ext cx="1152525" cy="12669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3572182-79A2-0162-7F24-5C1225004F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04" y="93382"/>
            <a:ext cx="956075" cy="1090077"/>
          </a:xfrm>
          <a:prstGeom prst="rect">
            <a:avLst/>
          </a:prstGeom>
        </p:spPr>
      </p:pic>
      <p:sp>
        <p:nvSpPr>
          <p:cNvPr id="18" name="TextBox 7">
            <a:extLst>
              <a:ext uri="{FF2B5EF4-FFF2-40B4-BE49-F238E27FC236}">
                <a16:creationId xmlns:a16="http://schemas.microsoft.com/office/drawing/2014/main" id="{126F2344-E01F-EC68-0019-A76B93E23258}"/>
              </a:ext>
            </a:extLst>
          </p:cNvPr>
          <p:cNvSpPr txBox="1"/>
          <p:nvPr/>
        </p:nvSpPr>
        <p:spPr>
          <a:xfrm>
            <a:off x="1081253" y="4490662"/>
            <a:ext cx="5380383" cy="1695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600" b="1">
                <a:latin typeface="Book Antiqua"/>
              </a:rPr>
              <a:t>PRESENTED BY:
	Sidharth Sajith
	Tharun Oommen Jacob</a:t>
            </a: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E839D3D0-80FC-A44B-11EC-BE63821A96AD}"/>
              </a:ext>
            </a:extLst>
          </p:cNvPr>
          <p:cNvSpPr txBox="1"/>
          <p:nvPr/>
        </p:nvSpPr>
        <p:spPr>
          <a:xfrm>
            <a:off x="7425093" y="4490662"/>
            <a:ext cx="42367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Book Antiqua" panose="02040602050305030304" pitchFamily="18" charset="0"/>
                <a:cs typeface="Times New Roman" panose="02020603050405020304" pitchFamily="18" charset="0"/>
              </a:rPr>
              <a:t>SUPERVISOR: </a:t>
            </a:r>
          </a:p>
          <a:p>
            <a:r>
              <a:rPr lang="en-US" sz="2000" b="1" dirty="0">
                <a:latin typeface="Book Antiqua" panose="02040602050305030304" pitchFamily="18" charset="0"/>
                <a:cs typeface="Times New Roman" panose="02020603050405020304" pitchFamily="18" charset="0"/>
              </a:rPr>
              <a:t>	Er. </a:t>
            </a:r>
            <a:r>
              <a:rPr lang="en-US" sz="2000" b="1" dirty="0" err="1">
                <a:latin typeface="Book Antiqua" panose="02040602050305030304" pitchFamily="18" charset="0"/>
                <a:cs typeface="Times New Roman" panose="02020603050405020304" pitchFamily="18" charset="0"/>
              </a:rPr>
              <a:t>Jittu</a:t>
            </a:r>
            <a:r>
              <a:rPr lang="en-US" sz="2000" b="1" dirty="0">
                <a:latin typeface="Book Antiqua" panose="02040602050305030304" pitchFamily="18" charset="0"/>
                <a:cs typeface="Times New Roman" panose="02020603050405020304" pitchFamily="18" charset="0"/>
              </a:rPr>
              <a:t> George Eapen</a:t>
            </a:r>
          </a:p>
          <a:p>
            <a:r>
              <a:rPr lang="en-US" sz="2000" dirty="0">
                <a:latin typeface="Book Antiqua" panose="02040602050305030304" pitchFamily="18" charset="0"/>
                <a:cs typeface="Times New Roman" panose="02020603050405020304" pitchFamily="18" charset="0"/>
              </a:rPr>
              <a:t>	Assistant Professor</a:t>
            </a:r>
          </a:p>
          <a:p>
            <a:r>
              <a:rPr lang="en-US" sz="2000" dirty="0">
                <a:latin typeface="Book Antiqua" panose="02040602050305030304" pitchFamily="18" charset="0"/>
                <a:cs typeface="Times New Roman" panose="02020603050405020304" pitchFamily="18" charset="0"/>
              </a:rPr>
              <a:t>	Department of Electronics 	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PROBLEM STATEMENT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7040880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1800" b="1">
                <a:latin typeface="Book Antiqua"/>
              </a:rPr>
              <a:t>Live wearable data is difficult to carry into a custom application.
Generic AI can give advice without current context.
A cached value can look current unless source and freshness are visible.
Our approach: one wellness mirror, two clearly separated evidence lanes, a strict telemetry contract and a visible grounding verdict.
Scope: wellness assistance only — never diagnosis or clinical alerting.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63040"/>
            <a:ext cx="4023360" cy="3142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470916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262626"/>
                </a:solidFill>
                <a:latin typeface="Times New Roman"/>
              </a:rPr>
              <a:t>The mirror never hides whether a value is genuine, synthetic, fresh or stale.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7FA108-A137-94FB-CB01-7BA0C93BE603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OBJECTIVES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116128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FreeRTOS control architecture</a:t>
            </a:r>
          </a:p>
          <a:p>
            <a:r>
              <a:t>Real v11 tasks, queue, mutex and timing diagnostics in an embedded node.</a:t>
            </a:r>
          </a:p>
          <a:p/>
          <a:p>
            <a:r>
              <a:t>2. Genuine wearable lane &amp; direct ingestion</a:t>
            </a:r>
          </a:p>
          <a:p>
            <a:r>
              <a:t>Huawei Band 6 → Huawei Health → authenticated receiver → mirror (synthetic data discarded).</a:t>
            </a:r>
          </a:p>
          <a:p/>
          <a:p>
            <a:r>
              <a:t>3. Dynamic in-app lane switcher</a:t>
            </a:r>
          </a:p>
          <a:p>
            <a:r>
              <a:t>Seamless one-click toggle in the mirror UI between Band Mode (wearable) and RTOS Mode.</a:t>
            </a:r>
          </a:p>
          <a:p/>
          <a:p>
            <a:r>
              <a:t>4. Conversational, sensor-grounded AI</a:t>
            </a:r>
          </a:p>
          <a:p>
            <a:r>
              <a:t>ChatGPT-style natural assistant with actionable health suggestions and machine-checked grounding.</a:t>
            </a:r>
          </a:p>
          <a:p/>
          <a:p>
            <a:r>
              <a:t>5. Computer-vision mirror presence</a:t>
            </a:r>
          </a:p>
          <a:p>
            <a:r>
              <a:t>Camera motion detection: continuous 5-second presence triggers an automated spoken greeting.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5DE6F9-BB06-9D08-33BE-A91F6BBEFC28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METHODOLOGY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0000"/>
                </a:solidFill>
                <a:latin typeface="Times New Roman"/>
              </a:rPr>
              <a:t>SENSE
Band 6 / virtual IMU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4327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0000"/>
                </a:solidFill>
                <a:latin typeface="Times New Roman"/>
              </a:rPr>
              <a:t>PROCESS
tasks · queue ·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5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4336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0000"/>
                </a:solidFill>
                <a:latin typeface="Times New Roman"/>
              </a:rPr>
              <a:t>INFER
rules · freshness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3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24344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0000"/>
                </a:solidFill>
                <a:latin typeface="Times New Roman"/>
              </a:rPr>
              <a:t>COMMUNICATE
local relay · stdin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7192" y="932688"/>
            <a:ext cx="137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0000"/>
                </a:solidFill>
                <a:latin typeface="Times New Roman"/>
              </a:rPr>
              <a:t>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74352" y="932688"/>
            <a:ext cx="2212848" cy="56692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0000"/>
                </a:solidFill>
                <a:latin typeface="Times New Roman"/>
              </a:rPr>
              <a:t>ASSIST
mirror · STT · LLM</a:t>
            </a:r>
          </a:p>
        </p:txBody>
      </p:sp>
      <p:pic>
        <p:nvPicPr>
          <p:cNvPr id="15" name="Picture 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27632"/>
            <a:ext cx="6035040" cy="471349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0" y="1627632"/>
            <a:ext cx="53035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LANE A — Genuine Band 6 wearable</a:t>
            </a:r>
          </a:p>
          <a:p>
            <a:r>
              <a:t>Huawei Health remains untouched. The Android Accessibility service reads visible Health tiles, receiver :8000 authenticates POSTs, and the mirror directly polls live HR, SpO₂ and steps (fake data discarded).</a:t>
            </a:r>
          </a:p>
          <a:p/>
          <a:p>
            <a:r>
              <a:t>LANE B — FreeRTOS control node</a:t>
            </a:r>
          </a:p>
          <a:p>
            <a:r>
              <a:t>A native FreeRTOS v11 node emits the same JSON contract. Keys force rest, walk, run or fall events; kernel timing diagnostics (period, jitter, HWM) are measured on stderr.</a:t>
            </a:r>
          </a:p>
          <a:p/>
          <a:p>
            <a:r>
              <a:t>Shared mirror &amp; conversational AI</a:t>
            </a:r>
          </a:p>
          <a:p>
            <a:r>
              <a:t>Browser HUD allows instant toggling between Band and RTOS modes. Camera detects user presence for 5s to trigger auto-greetings; LLM provides natural ChatGPT-style health advice grounded in live vitals.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46A0A3-D6FD-E375-5154-4B516D276884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DEMO — WHAT WORKS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577840" cy="4480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LANE A · GENUINE BAND 6</a:t>
            </a:r>
          </a:p>
          <a:p>
            <a:r>
              <a:t>Huawei Band 6 → Huawei Health</a:t>
            </a:r>
          </a:p>
          <a:p>
            <a:r>
              <a:t>    ↓ Accessibility streamer + token POST</a:t>
            </a:r>
          </a:p>
          <a:p>
            <a:r>
              <a:t>Receiver :8000 → direct mirror polling</a:t>
            </a:r>
          </a:p>
          <a:p>
            <a:r>
              <a:t>    ↓ fresh + complete HR, SpO₂ &amp; steps</a:t>
            </a:r>
          </a:p>
          <a:p>
            <a:r>
              <a:t>Web mirror :8777 (Band Mode)</a:t>
            </a:r>
          </a:p>
          <a:p/>
          <a:p>
            <a:r>
              <a:t>LANE B · FREERTOS CONTROL</a:t>
            </a:r>
          </a:p>
          <a:p>
            <a:r>
              <a:t>FreeRTOS v11 node → schema JSON stdout</a:t>
            </a:r>
          </a:p>
          <a:p>
            <a:r>
              <a:t>keys: 1 rest · 2 walk · 3 run · b fall · 0 auto</a:t>
            </a:r>
          </a:p>
          <a:p>
            <a:r>
              <a:t>stderr: period, lateness, queue HWM, drops, missed deadlines</a:t>
            </a:r>
          </a:p>
          <a:p>
            <a:r>
              <a:t>Web mirror :8777 (RTOS Mode)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1143000"/>
            <a:ext cx="5760720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Browser mirror with in-app switcher</a:t>
            </a:r>
          </a:p>
          <a:p>
            <a:r>
              <a:t>Live toggle between [⌚ Band 6] and [⚡ FreeRTOS] directly in the mirror UI without restarting scripts.</a:t>
            </a:r>
          </a:p>
          <a:p/>
          <a:p>
            <a:r>
              <a:t>2. Real wearable ingestion</a:t>
            </a:r>
          </a:p>
          <a:p>
            <a:r>
              <a:t>Band Mode runs 100% on genuine Huawei Band 6 biometrics; all synthetic fake data is discarded.</a:t>
            </a:r>
          </a:p>
          <a:p/>
          <a:p>
            <a:r>
              <a:t>3. Camera presence &amp; auto-greeting</a:t>
            </a:r>
          </a:p>
          <a:p>
            <a:r>
              <a:t>Webcam acts as the mirror's eyes: 5s continuous user presence triggers an automated spoken greeting.</a:t>
            </a:r>
          </a:p>
          <a:p/>
          <a:p>
            <a:r>
              <a:t>4. Smart ChatGPT-style assistant</a:t>
            </a:r>
          </a:p>
          <a:p>
            <a:r>
              <a:t>Conversational LLM (Ollama gemma2:2b) with actionable health suggestions and verified grounding [PASS].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A1FC3-6DF8-44F0-4726-8E54B2F24DE2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RESULTS &amp; EVIDENCE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pic>
        <p:nvPicPr>
          <p:cNvPr id="6" name="Picture 5" descr="results_tele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6949440" cy="41696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188720"/>
            <a:ext cx="438912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Genuine wearable evidence</a:t>
            </a:r>
          </a:p>
          <a:p>
            <a:r>
              <a:t>Live authenticated relay on port 8000: 78 BPM · 99% SpO₂ · 5,432 steps; direct mirror polling with zero dropped packets.</a:t>
            </a:r>
          </a:p>
          <a:p/>
          <a:p>
            <a:r>
              <a:t>Conversational AI &amp; grounding</a:t>
            </a:r>
          </a:p>
          <a:p>
            <a:r>
              <a:t>Ollama gemma2:2b responds in ~3.0 s with natural health suggestions. Strict fail-closed grounding check PASS verified on live vitals.</a:t>
            </a:r>
          </a:p>
          <a:p/>
          <a:p>
            <a:r>
              <a:t>Presence detection &amp; voice pipeline</a:t>
            </a:r>
          </a:p>
          <a:p>
            <a:r>
              <a:t>Camera presence triggers automated greeting at 5 s. faster-whisper STT runs in 0.48 s; spoken output via TTS.</a:t>
            </a:r>
          </a:p>
          <a:p/>
          <a:p>
            <a:r>
              <a:t>RTOS kernel transparency</a:t>
            </a:r>
          </a:p>
          <a:p>
            <a:r>
              <a:t>FreeRTOS v11 task/queue timing, deadline tracking (86–94 ms lateness), and queue HWM (8/8) monitored on stderr.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EC4A4A-694F-6136-AEF1-745504F6BD46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HARDWARE &amp; RUNTIME SCOPE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67401"/>
              </p:ext>
            </p:extLst>
          </p:nvPr>
        </p:nvGraphicFramePr>
        <p:xfrm>
          <a:off x="289560" y="702201"/>
          <a:ext cx="1161288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₹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ROLE / STATUS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Native FreeRTOS v11 node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active offline control lane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Huawei Band 6 + Health relay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active genuine-biometrics lane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ESP32 DevKit V1 WROOM-32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998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BOM / board 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MPU6050 + HC-SR04 + IR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470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planned sensing 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DHT22 + breadboard/jumpers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808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planned sensing 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Wokwi ESP32 simulation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browser RTOS exhibit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/>
                        <a:t/>
                      </a:r>
                      <a:endParaRPr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Tier-A BOM retained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/>
                        <a:t/>
                      </a:r>
                      <a:endParaRPr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≈1,950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design evidence; not new field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555361"/>
            <a:ext cx="116128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Current scope &amp; mirror replacement</a:t>
            </a:r>
          </a:p>
          <a:p>
            <a:r>
              <a:t>Laptop webcam functions as the mirror's eyes (presence &amp; motion). The Huawei Band 6 provides genuine wrist-worn telemetry without hardware fabrication delays.</a:t>
            </a:r>
          </a:p>
          <a:p/>
          <a:p>
            <a:r>
              <a:t>Why two runtime lanes?</a:t>
            </a:r>
          </a:p>
          <a:p>
            <a:r>
              <a:t>Band Mode provides real, unsimulated physiological data. RTOS Mode fulfills syllabus concurrency and scheduling requirements with real FreeRTOS kernel execution.</a:t>
            </a:r>
          </a:p>
          <a:p/>
          <a:p>
            <a:r>
              <a:t>Safety boundary</a:t>
            </a:r>
          </a:p>
          <a:p>
            <a:r>
              <a:t>All displayed metrics and AI responses are wellness estimates and lifestyle suggestions, not medical diagnoses.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CFE61D-E855-B344-AC0D-E625F8E6E38D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37160"/>
            <a:ext cx="10881360" cy="777240"/>
          </a:xfrm>
        </p:spPr>
        <p:txBody>
          <a:bodyPr wrap="square"/>
          <a:lstStyle/>
          <a:p>
            <a:pPr algn="l"/>
            <a:r>
              <a:rPr sz="4000" b="1" i="0">
                <a:solidFill>
                  <a:srgbClr val="FF0000"/>
                </a:solidFill>
                <a:latin typeface="Times New Roman"/>
              </a:rPr>
              <a:t>FINAL STATUS &amp; DEMO PLAN</a:t>
            </a:r>
          </a:p>
        </p:txBody>
      </p:sp>
      <p:pic>
        <p:nvPicPr>
          <p:cNvPr id="3" name="Picture 2" descr="saintgit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88" y="100584"/>
            <a:ext cx="621792" cy="704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90104" y="6446520"/>
            <a:ext cx="44988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Times New Roman"/>
              </a:rPr>
              <a:t>SAINTGITS COLLEGE (AUTONOMOUS)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6949440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TRACK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DEMO PATH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 i="0">
                          <a:solidFill>
                            <a:srgbClr val="FF0000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Lane 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Band 6 → Health → receiver → mirror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genuine when fresh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Lane 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native FreeRTOS → mirror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offline / deterministic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Freshness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LIVE · UNCHANGED · STALE · OFFLINE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shown on screen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current packet → reply → grounding verdict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PASS required for 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run Lane B; never invent Band frames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operator-ready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ESP32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Wokwi + BOM + pin plan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design / simulation 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Operator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lane scripts and pre-stage checks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26"/>
                          </a:solidFill>
                          <a:latin typeface="Times New Roman"/>
                        </a:rPr>
                        <a:t>repeatable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28560" y="1012954"/>
            <a:ext cx="438912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Run order</a:t>
            </a:r>
          </a:p>
          <a:p>
            <a:r>
              <a:t>1. Launch KINETIQ_DEMO.bat [6] → Opens receiver (:8000) and Web Mirror (:8777).</a:t>
            </a:r>
          </a:p>
          <a:p>
            <a:r>
              <a:t>2. Step in front of the camera mirror → after 5s, mirror automatically greets you with live stats and advice.</a:t>
            </a:r>
          </a:p>
          <a:p>
            <a:r>
              <a:t>3. Switch to FreeRTOS Mode via the in-app HUD button → show RTOS task concurrency and deadline logging.</a:t>
            </a:r>
          </a:p>
          <a:p>
            <a:r>
              <a:t>4. Ask conversational questions (voice/text) → demonstrate ChatGPT-like health advice with grounding [PASS].</a:t>
            </a:r>
          </a:p>
          <a:p/>
          <a:p>
            <a:r>
              <a:t>Key points to say aloud</a:t>
            </a:r>
          </a:p>
          <a:p>
            <a:r>
              <a:t>Band 6 provides real wrist vitals; FreeRTOS provides syllabus kernel proof; mirror provides conversational wellness assistance.</a:t>
            </a:r>
          </a:p>
          <a:p/>
          <a:p>
            <a:r>
              <a:t>Launcher</a:t>
            </a:r>
          </a:p>
          <a:p>
            <a:r>
              <a:t>KINETIQ_DEMO.bat (Menu option 6: one-click stage launch)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7E6B6A-8E73-0A4D-2C0C-F62082B16903}"/>
              </a:ext>
            </a:extLst>
          </p:cNvPr>
          <p:cNvSpPr txBox="1"/>
          <p:nvPr/>
        </p:nvSpPr>
        <p:spPr>
          <a:xfrm>
            <a:off x="0" y="6396335"/>
            <a:ext cx="7686676" cy="461665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4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14E8C-CB82-8EED-8B5E-1C6FE73D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3C239BF-CAD6-519B-F809-84AD8C9DFD24}"/>
              </a:ext>
            </a:extLst>
          </p:cNvPr>
          <p:cNvSpPr txBox="1"/>
          <p:nvPr/>
        </p:nvSpPr>
        <p:spPr>
          <a:xfrm>
            <a:off x="0" y="6508273"/>
            <a:ext cx="7686676" cy="338554"/>
          </a:xfrm>
          <a:custGeom>
            <a:avLst/>
            <a:gdLst>
              <a:gd name="connsiteX0" fmla="*/ 0 w 6172200"/>
              <a:gd name="connsiteY0" fmla="*/ 0 h 369332"/>
              <a:gd name="connsiteX1" fmla="*/ 6172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  <a:gd name="connsiteX0" fmla="*/ 0 w 6172200"/>
              <a:gd name="connsiteY0" fmla="*/ 0 h 369332"/>
              <a:gd name="connsiteX1" fmla="*/ 5791200 w 6172200"/>
              <a:gd name="connsiteY1" fmla="*/ 0 h 369332"/>
              <a:gd name="connsiteX2" fmla="*/ 6172200 w 6172200"/>
              <a:gd name="connsiteY2" fmla="*/ 369332 h 369332"/>
              <a:gd name="connsiteX3" fmla="*/ 0 w 6172200"/>
              <a:gd name="connsiteY3" fmla="*/ 369332 h 369332"/>
              <a:gd name="connsiteX4" fmla="*/ 0 w 6172200"/>
              <a:gd name="connsiteY4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200" h="369332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spc="600" dirty="0">
                <a:solidFill>
                  <a:schemeClr val="bg1"/>
                </a:solidFill>
                <a:latin typeface="Gill Sans MT" panose="020B0502020104020203" pitchFamily="34" charset="0"/>
              </a:rPr>
              <a:t>LEARN . GROW . EXCEL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222C93-C84A-2506-9F91-BEFF0A98F4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8288" y="105155"/>
            <a:ext cx="619959" cy="706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2BAD83-C3D6-8644-EBBA-2593D627991B}"/>
              </a:ext>
            </a:extLst>
          </p:cNvPr>
          <p:cNvSpPr txBox="1"/>
          <p:nvPr/>
        </p:nvSpPr>
        <p:spPr>
          <a:xfrm>
            <a:off x="0" y="2629091"/>
            <a:ext cx="121920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700" b="1">
                <a:solidFill>
                  <a:srgbClr val="FF0000"/>
                </a:solidFill>
                <a:latin typeface="Times New Roman"/>
              </a:rPr>
              <a:t>THANK YOU
KINETIQ
Live source · honest freshness · grounded wellness assistance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E4020A3-1CCA-E234-FAD5-4E85B29794E8}"/>
              </a:ext>
            </a:extLst>
          </p:cNvPr>
          <p:cNvSpPr txBox="1">
            <a:spLocks/>
          </p:cNvSpPr>
          <p:nvPr/>
        </p:nvSpPr>
        <p:spPr>
          <a:xfrm>
            <a:off x="0" y="1293192"/>
            <a:ext cx="12192000" cy="517152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buNone/>
            </a:pP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014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4931</TotalTime>
  <Words>1201</Words>
  <Application>Microsoft Office PowerPoint</Application>
  <PresentationFormat>Widescreen</PresentationFormat>
  <Paragraphs>193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Book Antiqua</vt:lpstr>
      <vt:lpstr>Calibri</vt:lpstr>
      <vt:lpstr>Calibri Light</vt:lpstr>
      <vt:lpstr>Courier New</vt:lpstr>
      <vt:lpstr>Gill Sans MT</vt:lpstr>
      <vt:lpstr>Swis721 BlkCn BT</vt:lpstr>
      <vt:lpstr>Times New Roman</vt:lpstr>
      <vt:lpstr>Office Theme</vt:lpstr>
      <vt:lpstr>B.TECH MINOR PROJECT FINAL REVIEW 15/10/2026</vt:lpstr>
      <vt:lpstr>KINETIQ</vt:lpstr>
      <vt:lpstr>PROBLEM STATEMENT</vt:lpstr>
      <vt:lpstr>OBJECTIVES</vt:lpstr>
      <vt:lpstr>METHODOLOGY</vt:lpstr>
      <vt:lpstr>DEMO — WHAT WORKS</vt:lpstr>
      <vt:lpstr>RESULTS</vt:lpstr>
      <vt:lpstr>HARDWARE &amp; BOM</vt:lpstr>
      <vt:lpstr>ROADMAP &amp; THANK YOU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 492-Project First Progress Assessment</dc:title>
  <dc:creator>Abraham</dc:creator>
  <cp:lastModifiedBy>Tharun Oommen Jacob</cp:lastModifiedBy>
  <cp:revision>54</cp:revision>
  <cp:lastPrinted>2024-11-07T04:07:42Z</cp:lastPrinted>
  <dcterms:modified xsi:type="dcterms:W3CDTF">2026-10-15T03:27:14Z</dcterms:modified>
</cp:coreProperties>
</file>