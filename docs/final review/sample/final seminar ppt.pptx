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257" r:id="rId3"/>
    <p:sldId id="271" r:id="rId4"/>
    <p:sldId id="269" r:id="rId5"/>
    <p:sldId id="272" r:id="rId6"/>
    <p:sldId id="301" r:id="rId7"/>
    <p:sldId id="275" r:id="rId8"/>
    <p:sldId id="296" r:id="rId9"/>
    <p:sldId id="297" r:id="rId10"/>
    <p:sldId id="309" r:id="rId11"/>
    <p:sldId id="310" r:id="rId12"/>
    <p:sldId id="311" r:id="rId13"/>
    <p:sldId id="312" r:id="rId14"/>
    <p:sldId id="313" r:id="rId15"/>
    <p:sldId id="304" r:id="rId16"/>
    <p:sldId id="305" r:id="rId17"/>
    <p:sldId id="306" r:id="rId18"/>
    <p:sldId id="308" r:id="rId19"/>
    <p:sldId id="288" r:id="rId20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F6DC8E-F56E-4398-AE0D-6EB34374A351}" v="22" dt="2025-10-16T11:45:13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88235" autoAdjust="0"/>
  </p:normalViewPr>
  <p:slideViewPr>
    <p:cSldViewPr snapToGrid="0">
      <p:cViewPr varScale="1">
        <p:scale>
          <a:sx n="78" d="100"/>
          <a:sy n="78" d="100"/>
        </p:scale>
        <p:origin x="355" y="5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Sumey Ajith" userId="bed4a9ac73b64a19" providerId="LiveId" clId="{326390F7-D32D-4091-9C3F-ECDED833CC66}"/>
    <pc:docChg chg="custSel modSld sldOrd">
      <pc:chgData name="Anna Sumey Ajith" userId="bed4a9ac73b64a19" providerId="LiveId" clId="{326390F7-D32D-4091-9C3F-ECDED833CC66}" dt="2025-10-16T13:11:05.843" v="970" actId="20577"/>
      <pc:docMkLst>
        <pc:docMk/>
      </pc:docMkLst>
      <pc:sldChg chg="modSp mod">
        <pc:chgData name="Anna Sumey Ajith" userId="bed4a9ac73b64a19" providerId="LiveId" clId="{326390F7-D32D-4091-9C3F-ECDED833CC66}" dt="2025-10-13T19:49:30.284" v="434" actId="20577"/>
        <pc:sldMkLst>
          <pc:docMk/>
          <pc:sldMk cId="3278288447" sldId="257"/>
        </pc:sldMkLst>
        <pc:spChg chg="mod">
          <ac:chgData name="Anna Sumey Ajith" userId="bed4a9ac73b64a19" providerId="LiveId" clId="{326390F7-D32D-4091-9C3F-ECDED833CC66}" dt="2025-10-13T19:49:30.284" v="434" actId="20577"/>
          <ac:spMkLst>
            <pc:docMk/>
            <pc:sldMk cId="3278288447" sldId="257"/>
            <ac:spMk id="7" creationId="{02A4836F-BB08-4E96-BA68-FF0FC9981F8F}"/>
          </ac:spMkLst>
        </pc:spChg>
      </pc:sldChg>
      <pc:sldChg chg="modSp mod">
        <pc:chgData name="Anna Sumey Ajith" userId="bed4a9ac73b64a19" providerId="LiveId" clId="{326390F7-D32D-4091-9C3F-ECDED833CC66}" dt="2025-10-16T11:56:41.012" v="957" actId="113"/>
        <pc:sldMkLst>
          <pc:docMk/>
          <pc:sldMk cId="1101057004" sldId="259"/>
        </pc:sldMkLst>
        <pc:spChg chg="mod">
          <ac:chgData name="Anna Sumey Ajith" userId="bed4a9ac73b64a19" providerId="LiveId" clId="{326390F7-D32D-4091-9C3F-ECDED833CC66}" dt="2025-10-16T11:56:41.012" v="957" actId="113"/>
          <ac:spMkLst>
            <pc:docMk/>
            <pc:sldMk cId="1101057004" sldId="259"/>
            <ac:spMk id="11" creationId="{00DC3281-071C-4D6C-BF6B-7C8E8A86C1BF}"/>
          </ac:spMkLst>
        </pc:spChg>
      </pc:sldChg>
      <pc:sldChg chg="modSp mod">
        <pc:chgData name="Anna Sumey Ajith" userId="bed4a9ac73b64a19" providerId="LiveId" clId="{326390F7-D32D-4091-9C3F-ECDED833CC66}" dt="2025-10-16T12:54:59.208" v="964" actId="14100"/>
        <pc:sldMkLst>
          <pc:docMk/>
          <pc:sldMk cId="4278471188" sldId="269"/>
        </pc:sldMkLst>
        <pc:graphicFrameChg chg="mod">
          <ac:chgData name="Anna Sumey Ajith" userId="bed4a9ac73b64a19" providerId="LiveId" clId="{326390F7-D32D-4091-9C3F-ECDED833CC66}" dt="2025-10-16T12:54:48.513" v="961" actId="1076"/>
          <ac:graphicFrameMkLst>
            <pc:docMk/>
            <pc:sldMk cId="4278471188" sldId="269"/>
            <ac:graphicFrameMk id="11" creationId="{ED69DA43-6A69-A74C-0AF4-2F064902643F}"/>
          </ac:graphicFrameMkLst>
        </pc:graphicFrameChg>
        <pc:picChg chg="mod">
          <ac:chgData name="Anna Sumey Ajith" userId="bed4a9ac73b64a19" providerId="LiveId" clId="{326390F7-D32D-4091-9C3F-ECDED833CC66}" dt="2025-10-16T12:54:59.208" v="964" actId="14100"/>
          <ac:picMkLst>
            <pc:docMk/>
            <pc:sldMk cId="4278471188" sldId="269"/>
            <ac:picMk id="5" creationId="{5A4D2E4C-580D-0648-F72A-0C40EB898F13}"/>
          </ac:picMkLst>
        </pc:picChg>
      </pc:sldChg>
      <pc:sldChg chg="modSp mod">
        <pc:chgData name="Anna Sumey Ajith" userId="bed4a9ac73b64a19" providerId="LiveId" clId="{326390F7-D32D-4091-9C3F-ECDED833CC66}" dt="2025-10-16T09:59:52.935" v="504" actId="732"/>
        <pc:sldMkLst>
          <pc:docMk/>
          <pc:sldMk cId="4261377433" sldId="275"/>
        </pc:sldMkLst>
        <pc:spChg chg="mod">
          <ac:chgData name="Anna Sumey Ajith" userId="bed4a9ac73b64a19" providerId="LiveId" clId="{326390F7-D32D-4091-9C3F-ECDED833CC66}" dt="2025-10-16T09:57:57.290" v="493" actId="1076"/>
          <ac:spMkLst>
            <pc:docMk/>
            <pc:sldMk cId="4261377433" sldId="275"/>
            <ac:spMk id="2" creationId="{3F9CC36E-290D-52D1-8857-F6C59777E882}"/>
          </ac:spMkLst>
        </pc:spChg>
        <pc:spChg chg="mod">
          <ac:chgData name="Anna Sumey Ajith" userId="bed4a9ac73b64a19" providerId="LiveId" clId="{326390F7-D32D-4091-9C3F-ECDED833CC66}" dt="2025-10-16T09:57:02.841" v="474" actId="113"/>
          <ac:spMkLst>
            <pc:docMk/>
            <pc:sldMk cId="4261377433" sldId="275"/>
            <ac:spMk id="18" creationId="{AEAAB553-5411-158C-4C99-AE28E014BF92}"/>
          </ac:spMkLst>
        </pc:spChg>
        <pc:spChg chg="mod">
          <ac:chgData name="Anna Sumey Ajith" userId="bed4a9ac73b64a19" providerId="LiveId" clId="{326390F7-D32D-4091-9C3F-ECDED833CC66}" dt="2025-10-16T09:59:36.019" v="503" actId="1076"/>
          <ac:spMkLst>
            <pc:docMk/>
            <pc:sldMk cId="4261377433" sldId="275"/>
            <ac:spMk id="21" creationId="{34D9CD36-44D6-7E04-B160-A6994FC09226}"/>
          </ac:spMkLst>
        </pc:spChg>
        <pc:picChg chg="mod">
          <ac:chgData name="Anna Sumey Ajith" userId="bed4a9ac73b64a19" providerId="LiveId" clId="{326390F7-D32D-4091-9C3F-ECDED833CC66}" dt="2025-10-16T09:59:23.594" v="502" actId="1076"/>
          <ac:picMkLst>
            <pc:docMk/>
            <pc:sldMk cId="4261377433" sldId="275"/>
            <ac:picMk id="20" creationId="{1C50F3D5-4472-0BE1-B265-D6EBD3A267C5}"/>
          </ac:picMkLst>
        </pc:picChg>
        <pc:picChg chg="mod modCrop">
          <ac:chgData name="Anna Sumey Ajith" userId="bed4a9ac73b64a19" providerId="LiveId" clId="{326390F7-D32D-4091-9C3F-ECDED833CC66}" dt="2025-10-16T09:59:52.935" v="504" actId="732"/>
          <ac:picMkLst>
            <pc:docMk/>
            <pc:sldMk cId="4261377433" sldId="275"/>
            <ac:picMk id="23" creationId="{7652FFDC-B50E-8B7E-1840-494AB0F21331}"/>
          </ac:picMkLst>
        </pc:picChg>
      </pc:sldChg>
      <pc:sldChg chg="addSp modSp mod">
        <pc:chgData name="Anna Sumey Ajith" userId="bed4a9ac73b64a19" providerId="LiveId" clId="{326390F7-D32D-4091-9C3F-ECDED833CC66}" dt="2025-10-16T11:51:59.652" v="956" actId="1076"/>
        <pc:sldMkLst>
          <pc:docMk/>
          <pc:sldMk cId="527049723" sldId="280"/>
        </pc:sldMkLst>
        <pc:spChg chg="add mod">
          <ac:chgData name="Anna Sumey Ajith" userId="bed4a9ac73b64a19" providerId="LiveId" clId="{326390F7-D32D-4091-9C3F-ECDED833CC66}" dt="2025-10-16T10:12:57.060" v="615" actId="2711"/>
          <ac:spMkLst>
            <pc:docMk/>
            <pc:sldMk cId="527049723" sldId="280"/>
            <ac:spMk id="4" creationId="{CB69A0E7-E522-585C-85E6-78CF8AC0A5D7}"/>
          </ac:spMkLst>
        </pc:spChg>
        <pc:spChg chg="mod">
          <ac:chgData name="Anna Sumey Ajith" userId="bed4a9ac73b64a19" providerId="LiveId" clId="{326390F7-D32D-4091-9C3F-ECDED833CC66}" dt="2025-10-16T09:36:07.886" v="440" actId="1076"/>
          <ac:spMkLst>
            <pc:docMk/>
            <pc:sldMk cId="527049723" sldId="280"/>
            <ac:spMk id="11" creationId="{FDDCB372-18E9-6CB3-4931-4C1805885183}"/>
          </ac:spMkLst>
        </pc:spChg>
        <pc:spChg chg="mod">
          <ac:chgData name="Anna Sumey Ajith" userId="bed4a9ac73b64a19" providerId="LiveId" clId="{326390F7-D32D-4091-9C3F-ECDED833CC66}" dt="2025-10-16T09:36:17.388" v="441" actId="1076"/>
          <ac:spMkLst>
            <pc:docMk/>
            <pc:sldMk cId="527049723" sldId="280"/>
            <ac:spMk id="12" creationId="{3CE14C76-E29E-B1A2-CDCB-583DEDCC7B15}"/>
          </ac:spMkLst>
        </pc:spChg>
        <pc:picChg chg="mod">
          <ac:chgData name="Anna Sumey Ajith" userId="bed4a9ac73b64a19" providerId="LiveId" clId="{326390F7-D32D-4091-9C3F-ECDED833CC66}" dt="2025-10-16T11:51:59.652" v="956" actId="1076"/>
          <ac:picMkLst>
            <pc:docMk/>
            <pc:sldMk cId="527049723" sldId="280"/>
            <ac:picMk id="14" creationId="{A2C90E24-6248-A42C-C3B0-158062F86F99}"/>
          </ac:picMkLst>
        </pc:picChg>
      </pc:sldChg>
      <pc:sldChg chg="addSp modSp mod">
        <pc:chgData name="Anna Sumey Ajith" userId="bed4a9ac73b64a19" providerId="LiveId" clId="{326390F7-D32D-4091-9C3F-ECDED833CC66}" dt="2025-10-16T10:12:20.055" v="614" actId="20577"/>
        <pc:sldMkLst>
          <pc:docMk/>
          <pc:sldMk cId="1145975187" sldId="286"/>
        </pc:sldMkLst>
        <pc:spChg chg="add mod">
          <ac:chgData name="Anna Sumey Ajith" userId="bed4a9ac73b64a19" providerId="LiveId" clId="{326390F7-D32D-4091-9C3F-ECDED833CC66}" dt="2025-10-16T10:12:20.055" v="614" actId="20577"/>
          <ac:spMkLst>
            <pc:docMk/>
            <pc:sldMk cId="1145975187" sldId="286"/>
            <ac:spMk id="6" creationId="{1DE8BE7A-4A7E-9340-EC90-3E9CA351847B}"/>
          </ac:spMkLst>
        </pc:spChg>
        <pc:picChg chg="mod modCrop">
          <ac:chgData name="Anna Sumey Ajith" userId="bed4a9ac73b64a19" providerId="LiveId" clId="{326390F7-D32D-4091-9C3F-ECDED833CC66}" dt="2025-10-16T10:11:52.257" v="612" actId="1076"/>
          <ac:picMkLst>
            <pc:docMk/>
            <pc:sldMk cId="1145975187" sldId="286"/>
            <ac:picMk id="7" creationId="{B31463A0-6384-3948-F4B9-2AD74CAE8125}"/>
          </ac:picMkLst>
        </pc:picChg>
      </pc:sldChg>
      <pc:sldChg chg="modSp mod">
        <pc:chgData name="Anna Sumey Ajith" userId="bed4a9ac73b64a19" providerId="LiveId" clId="{326390F7-D32D-4091-9C3F-ECDED833CC66}" dt="2025-10-15T19:01:07.496" v="439" actId="207"/>
        <pc:sldMkLst>
          <pc:docMk/>
          <pc:sldMk cId="3545888149" sldId="288"/>
        </pc:sldMkLst>
        <pc:spChg chg="mod">
          <ac:chgData name="Anna Sumey Ajith" userId="bed4a9ac73b64a19" providerId="LiveId" clId="{326390F7-D32D-4091-9C3F-ECDED833CC66}" dt="2025-10-15T19:01:07.496" v="439" actId="207"/>
          <ac:spMkLst>
            <pc:docMk/>
            <pc:sldMk cId="3545888149" sldId="288"/>
            <ac:spMk id="2" creationId="{C713AF5F-D8FA-7683-CB1B-2E5493BA6515}"/>
          </ac:spMkLst>
        </pc:spChg>
      </pc:sldChg>
      <pc:sldChg chg="modSp mod">
        <pc:chgData name="Anna Sumey Ajith" userId="bed4a9ac73b64a19" providerId="LiveId" clId="{326390F7-D32D-4091-9C3F-ECDED833CC66}" dt="2025-10-12T06:34:11.591" v="77" actId="20577"/>
        <pc:sldMkLst>
          <pc:docMk/>
          <pc:sldMk cId="1717080658" sldId="297"/>
        </pc:sldMkLst>
        <pc:spChg chg="mod">
          <ac:chgData name="Anna Sumey Ajith" userId="bed4a9ac73b64a19" providerId="LiveId" clId="{326390F7-D32D-4091-9C3F-ECDED833CC66}" dt="2025-10-12T06:34:11.591" v="77" actId="20577"/>
          <ac:spMkLst>
            <pc:docMk/>
            <pc:sldMk cId="1717080658" sldId="297"/>
            <ac:spMk id="4" creationId="{28AF2DC4-D396-3F91-94B3-ADF790F7AFD5}"/>
          </ac:spMkLst>
        </pc:spChg>
      </pc:sldChg>
      <pc:sldChg chg="addSp modSp mod">
        <pc:chgData name="Anna Sumey Ajith" userId="bed4a9ac73b64a19" providerId="LiveId" clId="{326390F7-D32D-4091-9C3F-ECDED833CC66}" dt="2025-10-16T11:44:24.421" v="751" actId="20577"/>
        <pc:sldMkLst>
          <pc:docMk/>
          <pc:sldMk cId="1429365625" sldId="298"/>
        </pc:sldMkLst>
        <pc:spChg chg="add mod">
          <ac:chgData name="Anna Sumey Ajith" userId="bed4a9ac73b64a19" providerId="LiveId" clId="{326390F7-D32D-4091-9C3F-ECDED833CC66}" dt="2025-10-12T14:26:34.999" v="178" actId="255"/>
          <ac:spMkLst>
            <pc:docMk/>
            <pc:sldMk cId="1429365625" sldId="298"/>
            <ac:spMk id="4" creationId="{1E52BC67-C4B7-93D6-2046-C2C571E6B24E}"/>
          </ac:spMkLst>
        </pc:spChg>
        <pc:spChg chg="add mod">
          <ac:chgData name="Anna Sumey Ajith" userId="bed4a9ac73b64a19" providerId="LiveId" clId="{326390F7-D32D-4091-9C3F-ECDED833CC66}" dt="2025-10-16T11:44:24.421" v="751" actId="20577"/>
          <ac:spMkLst>
            <pc:docMk/>
            <pc:sldMk cId="1429365625" sldId="298"/>
            <ac:spMk id="7" creationId="{1872CE37-0136-A6BD-497E-E4F4A4BD8F57}"/>
          </ac:spMkLst>
        </pc:spChg>
        <pc:picChg chg="mod modCrop">
          <ac:chgData name="Anna Sumey Ajith" userId="bed4a9ac73b64a19" providerId="LiveId" clId="{326390F7-D32D-4091-9C3F-ECDED833CC66}" dt="2025-10-16T10:20:45.271" v="744" actId="1076"/>
          <ac:picMkLst>
            <pc:docMk/>
            <pc:sldMk cId="1429365625" sldId="298"/>
            <ac:picMk id="13" creationId="{473822A6-75CE-A7C9-B44A-DB2547C4D80A}"/>
          </ac:picMkLst>
        </pc:picChg>
      </pc:sldChg>
      <pc:sldChg chg="modSp mod ord">
        <pc:chgData name="Anna Sumey Ajith" userId="bed4a9ac73b64a19" providerId="LiveId" clId="{326390F7-D32D-4091-9C3F-ECDED833CC66}" dt="2025-10-16T12:53:42.521" v="960" actId="255"/>
        <pc:sldMkLst>
          <pc:docMk/>
          <pc:sldMk cId="2973851373" sldId="300"/>
        </pc:sldMkLst>
        <pc:spChg chg="mod">
          <ac:chgData name="Anna Sumey Ajith" userId="bed4a9ac73b64a19" providerId="LiveId" clId="{326390F7-D32D-4091-9C3F-ECDED833CC66}" dt="2025-10-16T12:53:42.521" v="960" actId="255"/>
          <ac:spMkLst>
            <pc:docMk/>
            <pc:sldMk cId="2973851373" sldId="300"/>
            <ac:spMk id="12" creationId="{EE3716B6-17BC-DFF1-EE2E-B2656EB38A27}"/>
          </ac:spMkLst>
        </pc:spChg>
      </pc:sldChg>
      <pc:sldChg chg="modSp mod">
        <pc:chgData name="Anna Sumey Ajith" userId="bed4a9ac73b64a19" providerId="LiveId" clId="{326390F7-D32D-4091-9C3F-ECDED833CC66}" dt="2025-10-11T10:18:42.623" v="37" actId="1076"/>
        <pc:sldMkLst>
          <pc:docMk/>
          <pc:sldMk cId="4079346074" sldId="301"/>
        </pc:sldMkLst>
        <pc:spChg chg="mod">
          <ac:chgData name="Anna Sumey Ajith" userId="bed4a9ac73b64a19" providerId="LiveId" clId="{326390F7-D32D-4091-9C3F-ECDED833CC66}" dt="2025-10-11T10:18:42.623" v="37" actId="1076"/>
          <ac:spMkLst>
            <pc:docMk/>
            <pc:sldMk cId="4079346074" sldId="301"/>
            <ac:spMk id="11" creationId="{DFBDBF16-9F9D-B6A2-50A7-78725035E029}"/>
          </ac:spMkLst>
        </pc:spChg>
      </pc:sldChg>
      <pc:sldChg chg="addSp modSp mod">
        <pc:chgData name="Anna Sumey Ajith" userId="bed4a9ac73b64a19" providerId="LiveId" clId="{326390F7-D32D-4091-9C3F-ECDED833CC66}" dt="2025-10-16T13:10:28.862" v="966" actId="2711"/>
        <pc:sldMkLst>
          <pc:docMk/>
          <pc:sldMk cId="3070687245" sldId="302"/>
        </pc:sldMkLst>
        <pc:spChg chg="add mod">
          <ac:chgData name="Anna Sumey Ajith" userId="bed4a9ac73b64a19" providerId="LiveId" clId="{326390F7-D32D-4091-9C3F-ECDED833CC66}" dt="2025-10-16T13:10:28.862" v="966" actId="2711"/>
          <ac:spMkLst>
            <pc:docMk/>
            <pc:sldMk cId="3070687245" sldId="302"/>
            <ac:spMk id="4" creationId="{19E5A961-4B45-9B39-2AE2-1BBA515FD007}"/>
          </ac:spMkLst>
        </pc:spChg>
        <pc:picChg chg="mod modCrop">
          <ac:chgData name="Anna Sumey Ajith" userId="bed4a9ac73b64a19" providerId="LiveId" clId="{326390F7-D32D-4091-9C3F-ECDED833CC66}" dt="2025-10-16T11:48:04.169" v="950" actId="1076"/>
          <ac:picMkLst>
            <pc:docMk/>
            <pc:sldMk cId="3070687245" sldId="302"/>
            <ac:picMk id="6" creationId="{3A4E1932-1A93-D7A7-B480-9678FBAD978D}"/>
          </ac:picMkLst>
        </pc:picChg>
      </pc:sldChg>
      <pc:sldChg chg="addSp delSp modSp mod">
        <pc:chgData name="Anna Sumey Ajith" userId="bed4a9ac73b64a19" providerId="LiveId" clId="{326390F7-D32D-4091-9C3F-ECDED833CC66}" dt="2025-10-16T13:10:13.233" v="965" actId="255"/>
        <pc:sldMkLst>
          <pc:docMk/>
          <pc:sldMk cId="2635247244" sldId="303"/>
        </pc:sldMkLst>
        <pc:spChg chg="add mod">
          <ac:chgData name="Anna Sumey Ajith" userId="bed4a9ac73b64a19" providerId="LiveId" clId="{326390F7-D32D-4091-9C3F-ECDED833CC66}" dt="2025-10-16T13:10:13.233" v="965" actId="255"/>
          <ac:spMkLst>
            <pc:docMk/>
            <pc:sldMk cId="2635247244" sldId="303"/>
            <ac:spMk id="7" creationId="{3C295AB9-0819-AE44-B204-8CFC5D639EA8}"/>
          </ac:spMkLst>
        </pc:spChg>
      </pc:sldChg>
      <pc:sldChg chg="modSp mod">
        <pc:chgData name="Anna Sumey Ajith" userId="bed4a9ac73b64a19" providerId="LiveId" clId="{326390F7-D32D-4091-9C3F-ECDED833CC66}" dt="2025-10-13T16:58:40.808" v="220" actId="20577"/>
        <pc:sldMkLst>
          <pc:docMk/>
          <pc:sldMk cId="3759581533" sldId="304"/>
        </pc:sldMkLst>
        <pc:spChg chg="mod">
          <ac:chgData name="Anna Sumey Ajith" userId="bed4a9ac73b64a19" providerId="LiveId" clId="{326390F7-D32D-4091-9C3F-ECDED833CC66}" dt="2025-10-13T16:58:40.808" v="220" actId="20577"/>
          <ac:spMkLst>
            <pc:docMk/>
            <pc:sldMk cId="3759581533" sldId="304"/>
            <ac:spMk id="6" creationId="{BFE9D27C-4E05-C14D-8CA2-5CD49B9CB931}"/>
          </ac:spMkLst>
        </pc:spChg>
      </pc:sldChg>
      <pc:sldChg chg="modSp mod">
        <pc:chgData name="Anna Sumey Ajith" userId="bed4a9ac73b64a19" providerId="LiveId" clId="{326390F7-D32D-4091-9C3F-ECDED833CC66}" dt="2025-10-16T13:11:05.843" v="970" actId="20577"/>
        <pc:sldMkLst>
          <pc:docMk/>
          <pc:sldMk cId="929117577" sldId="305"/>
        </pc:sldMkLst>
        <pc:spChg chg="mod">
          <ac:chgData name="Anna Sumey Ajith" userId="bed4a9ac73b64a19" providerId="LiveId" clId="{326390F7-D32D-4091-9C3F-ECDED833CC66}" dt="2025-10-16T13:11:05.843" v="970" actId="20577"/>
          <ac:spMkLst>
            <pc:docMk/>
            <pc:sldMk cId="929117577" sldId="305"/>
            <ac:spMk id="6" creationId="{B24A842D-825C-5CF6-C3EF-A187AE0BAF08}"/>
          </ac:spMkLst>
        </pc:spChg>
      </pc:sldChg>
      <pc:sldChg chg="modSp mod">
        <pc:chgData name="Anna Sumey Ajith" userId="bed4a9ac73b64a19" providerId="LiveId" clId="{326390F7-D32D-4091-9C3F-ECDED833CC66}" dt="2025-10-13T17:10:00.738" v="229" actId="20577"/>
        <pc:sldMkLst>
          <pc:docMk/>
          <pc:sldMk cId="161173871" sldId="306"/>
        </pc:sldMkLst>
        <pc:spChg chg="mod">
          <ac:chgData name="Anna Sumey Ajith" userId="bed4a9ac73b64a19" providerId="LiveId" clId="{326390F7-D32D-4091-9C3F-ECDED833CC66}" dt="2025-10-13T17:10:00.738" v="229" actId="20577"/>
          <ac:spMkLst>
            <pc:docMk/>
            <pc:sldMk cId="161173871" sldId="306"/>
            <ac:spMk id="12" creationId="{666186F3-7C9C-84CA-47C7-2BFB712EFC3C}"/>
          </ac:spMkLst>
        </pc:spChg>
      </pc:sldChg>
      <pc:sldChg chg="modSp mod">
        <pc:chgData name="Anna Sumey Ajith" userId="bed4a9ac73b64a19" providerId="LiveId" clId="{326390F7-D32D-4091-9C3F-ECDED833CC66}" dt="2025-10-13T19:45:21.490" v="361" actId="114"/>
        <pc:sldMkLst>
          <pc:docMk/>
          <pc:sldMk cId="506251438" sldId="308"/>
        </pc:sldMkLst>
        <pc:spChg chg="mod">
          <ac:chgData name="Anna Sumey Ajith" userId="bed4a9ac73b64a19" providerId="LiveId" clId="{326390F7-D32D-4091-9C3F-ECDED833CC66}" dt="2025-10-13T19:45:21.490" v="361" actId="114"/>
          <ac:spMkLst>
            <pc:docMk/>
            <pc:sldMk cId="506251438" sldId="308"/>
            <ac:spMk id="7" creationId="{DE3ABEBC-5E58-CA35-30A0-569D60C1EE9A}"/>
          </ac:spMkLst>
        </pc:spChg>
      </pc:sldChg>
    </pc:docChg>
  </pc:docChgLst>
  <pc:docChgLst>
    <pc:chgData name="Anna Sumey Ajith" userId="bed4a9ac73b64a19" providerId="LiveId" clId="{FB6BEC1B-0CAF-4839-B402-A1269359B961}"/>
    <pc:docChg chg="custSel modSld">
      <pc:chgData name="Anna Sumey Ajith" userId="bed4a9ac73b64a19" providerId="LiveId" clId="{FB6BEC1B-0CAF-4839-B402-A1269359B961}" dt="2025-08-20T05:07:15.041" v="158" actId="20577"/>
      <pc:docMkLst>
        <pc:docMk/>
      </pc:docMkLst>
      <pc:sldChg chg="modSp mod">
        <pc:chgData name="Anna Sumey Ajith" userId="bed4a9ac73b64a19" providerId="LiveId" clId="{FB6BEC1B-0CAF-4839-B402-A1269359B961}" dt="2025-08-20T05:06:58.298" v="10"/>
        <pc:sldMkLst>
          <pc:docMk/>
          <pc:sldMk cId="4278471188" sldId="269"/>
        </pc:sldMkLst>
      </pc:sldChg>
      <pc:sldChg chg="modSp mod">
        <pc:chgData name="Anna Sumey Ajith" userId="bed4a9ac73b64a19" providerId="LiveId" clId="{FB6BEC1B-0CAF-4839-B402-A1269359B961}" dt="2025-08-20T05:07:15.041" v="158" actId="20577"/>
        <pc:sldMkLst>
          <pc:docMk/>
          <pc:sldMk cId="3606624784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FBA8-4524-2901-2DC2-1F321939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FAAB2-920B-5D86-4427-4D19221BE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D8135-0626-4C00-F596-FCA457FFF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8D36C-8586-1579-65E5-EFC5C8BED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9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5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483DC-1648-53B1-FE08-81CB29D2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FBBDF-09DA-1A38-61AC-CD99AA916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E46D5-C836-2F2F-6D06-EC4226BE9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2F64-35AD-42C6-D42E-36B280D3C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40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3063-B1FD-1C98-1877-10E69217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4B574-BB25-A886-C05C-2BEA94967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2DD3B-45A6-731B-85F9-CABDF57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6D14A-F12F-13A6-B701-F23AD8DA6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00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25434-9018-92F2-01B9-E337C389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DCFB2-3B09-CD1F-21CD-36E4BB290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E6B73-1F71-BF26-45C6-FEF5A7E71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177D5-04AD-3005-0B6C-F162E642F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73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5DAB-F2BB-7ECB-803D-3F781705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824DF-39BC-4B1D-9C94-C7D3CD315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F6B22-758E-1A4E-070E-9B0AE9764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E45B-6ECF-9A97-5598-EC55CB32A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49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9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2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6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25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6027-450E-0678-CA10-2F62E9C3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0A30-0246-AF4D-14EE-E82B3DAE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F3899-AE53-AE77-9720-9C685E550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E38A-7440-298F-7522-A2434B4C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40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21F9-1453-1B61-87D1-2E2224C5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5D6B4-FC8E-5DCC-3F4B-9D537FA30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F6945-BB45-3689-E137-67CB44D3B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FE610-5234-DB3A-B538-1B96EF06A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08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F3436-5698-1D67-8A05-D7306B8E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4AE5E-0148-C845-AF6A-C04FC2233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FEF6A-654B-B9F1-CC95-B37E17CB4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EADD4-D218-67A1-0D1C-EEDDB417C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55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D5B9-AB54-009B-7D18-C1C2C86D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2A310-A4A9-2AA8-0C15-BC280B9C2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38FED-2552-BFF7-B66C-20897E626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E418-EE60-C921-DFA5-77171E024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0F04-6C10-1312-D5C6-D9389108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9784D-4741-6F58-1643-549857472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2A1AE-3E76-5EC9-F747-1B927E1EE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9DBDE-E163-E3BF-BF72-7790D0D24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C1D7D-EFEA-4841-959A-F45461074D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94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4D45-F03C-4FB4-95EC-68C5A1933E63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EEB7-A1DE-4D96-9556-23242972F44C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8F15-C296-4976-BF27-229C399F13E5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6400-FAAF-4BBC-B3A2-0FB1BEB9F101}" type="datetime1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AC2DB-5C5D-45D3-A78F-CC88A6AB7D76}" type="datetime1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AAF95-5C6B-466D-B03D-3D872A516461}" type="datetime1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1617-49C5-4406-813A-234F5041D622}" type="datetime1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DD88-C21A-4992-9F53-5AA922C7FEA2}" type="datetime1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F0C87-7700-416A-AE00-418EC92D4FBB}" type="datetime1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858A-96E6-4A4B-917E-465407251133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67FF-173D-405B-8429-46B90A2917FD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B3872-A77B-4628-B462-30881F4147B5}" type="datetime1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2248" y="265725"/>
            <a:ext cx="78703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Swis721 BlkCn BT" panose="020B0806030502040204" pitchFamily="34" charset="0"/>
              </a:rPr>
              <a:t>SAINTGITS</a:t>
            </a:r>
            <a:endParaRPr lang="en-IN" sz="2400" b="1" dirty="0">
              <a:latin typeface="Swis721 BlkCn BT" panose="020B0806030502040204" pitchFamily="34" charset="0"/>
            </a:endParaRPr>
          </a:p>
          <a:p>
            <a:r>
              <a:rPr lang="en-IN" sz="2400" b="1" dirty="0">
                <a:latin typeface="Swis721 BlkCn BT" panose="020B0806030502040204" pitchFamily="34" charset="0"/>
              </a:rPr>
              <a:t>COLLEGE OF ENGINEERING</a:t>
            </a:r>
          </a:p>
          <a:p>
            <a:r>
              <a:rPr lang="en-IN" dirty="0">
                <a:latin typeface="Gill Sans MT" panose="020B0502020104020203" pitchFamily="34" charset="0"/>
              </a:rPr>
              <a:t>(AUTONOMOUS)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7689"/>
            <a:ext cx="7686676" cy="461665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CCA86-A0F1-413C-953F-0BCAE399FDF3}"/>
              </a:ext>
            </a:extLst>
          </p:cNvPr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4" y="88460"/>
            <a:ext cx="956075" cy="10900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E692721-AE3E-44C5-B417-6778C528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4048" y="1623652"/>
            <a:ext cx="12032974" cy="1569659"/>
          </a:xfrm>
        </p:spPr>
        <p:txBody>
          <a:bodyPr>
            <a:noAutofit/>
          </a:bodyPr>
          <a:lstStyle/>
          <a:p>
            <a:r>
              <a:rPr 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Deep Learning Systems for Steel Defect Detection</a:t>
            </a:r>
            <a:endParaRPr lang="en-IN" sz="4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0DC3281-071C-4D6C-BF6B-7C8E8A86C1BF}"/>
              </a:ext>
            </a:extLst>
          </p:cNvPr>
          <p:cNvSpPr txBox="1"/>
          <p:nvPr/>
        </p:nvSpPr>
        <p:spPr>
          <a:xfrm>
            <a:off x="562056" y="3978993"/>
            <a:ext cx="5380383" cy="1643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 Guide: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Rizwana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Akbar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8320377-CF11-4C8B-B89B-491D1E6CA1B5}"/>
              </a:ext>
            </a:extLst>
          </p:cNvPr>
          <p:cNvSpPr txBox="1"/>
          <p:nvPr/>
        </p:nvSpPr>
        <p:spPr>
          <a:xfrm>
            <a:off x="7920326" y="3831683"/>
            <a:ext cx="4038600" cy="216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Jibin C Basil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MGP23RA049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Saintgits College of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21A55-EDC3-4635-F161-D771A4E6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2A26C-D92E-4B7C-4F21-5E6950CE6AFB}"/>
              </a:ext>
            </a:extLst>
          </p:cNvPr>
          <p:cNvSpPr txBox="1"/>
          <p:nvPr/>
        </p:nvSpPr>
        <p:spPr>
          <a:xfrm>
            <a:off x="562056" y="5234348"/>
            <a:ext cx="613156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Saintgits College of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05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0DE998-F151-461D-BE38-7D1C24A28A8D}"/>
              </a:ext>
            </a:extLst>
          </p:cNvPr>
          <p:cNvSpPr txBox="1"/>
          <p:nvPr/>
        </p:nvSpPr>
        <p:spPr>
          <a:xfrm>
            <a:off x="546778" y="337538"/>
            <a:ext cx="11341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A4836F-BB08-4E96-BA68-FF0FC9981F8F}"/>
              </a:ext>
            </a:extLst>
          </p:cNvPr>
          <p:cNvSpPr txBox="1">
            <a:spLocks/>
          </p:cNvSpPr>
          <p:nvPr/>
        </p:nvSpPr>
        <p:spPr>
          <a:xfrm>
            <a:off x="546778" y="1045424"/>
            <a:ext cx="11098444" cy="570742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Detection &amp; Segmentation Concepts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Network Architectures (U-Net &amp; FPN)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Inspection Framework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&amp; Implementation Strategy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Integration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Advantages &amp; Future Scope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6D6E4-C729-CDE6-678A-02309C4C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2</a:t>
            </a:fld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28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48C02-DA84-610E-4A65-5B2FD752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AB42D8-6099-AB41-0580-0700A2C9D4D9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6986D-F622-4EF4-D362-35943CAC54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9EAF0B-9240-945D-38E6-D564AAE99CE4}"/>
              </a:ext>
            </a:extLst>
          </p:cNvPr>
          <p:cNvSpPr txBox="1"/>
          <p:nvPr/>
        </p:nvSpPr>
        <p:spPr>
          <a:xfrm>
            <a:off x="397563" y="367255"/>
            <a:ext cx="10956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AD878B-A418-66E9-F6DA-265E375F73D1}"/>
              </a:ext>
            </a:extLst>
          </p:cNvPr>
          <p:cNvSpPr txBox="1">
            <a:spLocks/>
          </p:cNvSpPr>
          <p:nvPr/>
        </p:nvSpPr>
        <p:spPr>
          <a:xfrm>
            <a:off x="397565" y="1336751"/>
            <a:ext cx="12192000" cy="517152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endParaRPr lang="en-IN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D6676-811B-EB35-4FBA-D1E4BACA5EEC}"/>
              </a:ext>
            </a:extLst>
          </p:cNvPr>
          <p:cNvSpPr txBox="1"/>
          <p:nvPr/>
        </p:nvSpPr>
        <p:spPr>
          <a:xfrm>
            <a:off x="397563" y="1629139"/>
            <a:ext cx="9717987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>
                <a:latin typeface="Times New Roman"/>
              </a:rPr>
              <a:t>Steel is essential to modern industry, but defects from the rolling process cause severe safety hazards and economic losses.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>
                <a:latin typeface="Times New Roman"/>
              </a:rPr>
              <a:t>Current manual inspections are too slow, inconsistent, and highly prone to human error.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US" sz="2400" dirty="0">
                <a:latin typeface="Times New Roman"/>
              </a:rPr>
              <a:t>Deep Learning automates detection well, but factories hesitate to trust unexplainable "black box" decisions.</a:t>
            </a:r>
          </a:p>
          <a:p>
            <a:pPr algn="just">
              <a:lnSpc>
                <a:spcPts val="2800"/>
              </a:lnSpc>
              <a:defRPr sz="22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lang="en-IN" sz="2400" dirty="0"/>
              <a:t>Therefore an accurate, robust, and fully explainable automated defect detection system has to be built.</a:t>
            </a:r>
            <a:endParaRPr lang="en-US" sz="2800" dirty="0">
              <a:latin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AC20B-F208-C152-B71B-A17F4E8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3</a:t>
            </a:fld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62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8421A-9C9E-4220-9651-88BDC87CB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3FEA35-EF67-4DBB-8EFE-9C05F18FD1B8}"/>
              </a:ext>
            </a:extLst>
          </p:cNvPr>
          <p:cNvSpPr txBox="1"/>
          <p:nvPr/>
        </p:nvSpPr>
        <p:spPr>
          <a:xfrm>
            <a:off x="280108" y="178846"/>
            <a:ext cx="11918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Steel Surface Defect Types (</a:t>
            </a:r>
            <a:r>
              <a:rPr lang="en-US" sz="4000" dirty="0" err="1"/>
              <a:t>Severstal</a:t>
            </a:r>
            <a:r>
              <a:rPr lang="en-US" sz="4000" dirty="0"/>
              <a:t> Dataset)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B26020-9551-49FA-95BD-7E141F512632}"/>
              </a:ext>
            </a:extLst>
          </p:cNvPr>
          <p:cNvSpPr txBox="1">
            <a:spLocks/>
          </p:cNvSpPr>
          <p:nvPr/>
        </p:nvSpPr>
        <p:spPr>
          <a:xfrm>
            <a:off x="280108" y="1128126"/>
            <a:ext cx="7488249" cy="49834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Severstal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Dataset: 12,568 grayscale production-line images.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Classes: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1 (Patches): Cooling and solidification faults.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2 (Scratches): Mechanical abrasion marks.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3 (Pits): Blemishes from impurities.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4 (Blotches): Irregular handling damage.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Images frequently contain multiple defect types at once.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Low contrast, variable lighting, and extremely small defect sizes.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7D529-DBAE-A73F-F88B-5B46A10A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4</a:t>
            </a:fld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4" name="Picture 3" descr="page11_img2_1130x625.png">
            <a:extLst>
              <a:ext uri="{FF2B5EF4-FFF2-40B4-BE49-F238E27FC236}">
                <a16:creationId xmlns:a16="http://schemas.microsoft.com/office/drawing/2014/main" id="{25DC33C3-5251-9504-3B78-9BC2CF8A0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038" y="776799"/>
            <a:ext cx="4341962" cy="590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7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AAC3-7FA2-8030-4E70-C4D9A09D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70EB28-76C7-EBA6-6DEB-C439624E0E7E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E6F7C-3E8E-EC8D-FAA1-D36195286E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F4782E-846F-19A7-5936-FC937D454C74}"/>
              </a:ext>
            </a:extLst>
          </p:cNvPr>
          <p:cNvSpPr txBox="1"/>
          <p:nvPr/>
        </p:nvSpPr>
        <p:spPr>
          <a:xfrm>
            <a:off x="540529" y="3196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Deep Learning for Defect Segmentation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D3966F-E629-F348-4A6C-FD85D719DB45}"/>
              </a:ext>
            </a:extLst>
          </p:cNvPr>
          <p:cNvSpPr txBox="1">
            <a:spLocks/>
          </p:cNvSpPr>
          <p:nvPr/>
        </p:nvSpPr>
        <p:spPr>
          <a:xfrm>
            <a:off x="228600" y="1336751"/>
            <a:ext cx="12092609" cy="706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D8A7C-8ACC-4EDE-D0A5-6C455640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5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402E2-605E-7006-A572-F3D0C9E0CDE5}"/>
              </a:ext>
            </a:extLst>
          </p:cNvPr>
          <p:cNvSpPr txBox="1"/>
          <p:nvPr/>
        </p:nvSpPr>
        <p:spPr>
          <a:xfrm>
            <a:off x="540529" y="1336751"/>
            <a:ext cx="93154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Classification: </a:t>
            </a:r>
            <a:r>
              <a:rPr lang="en-US" sz="2400" dirty="0">
                <a:latin typeface="Times New Roman"/>
              </a:rPr>
              <a:t>Determines if a defect exists in the image (defect vs. no defect)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Detection: </a:t>
            </a:r>
            <a:r>
              <a:rPr lang="en-US" sz="2400" dirty="0">
                <a:latin typeface="Times New Roman"/>
              </a:rPr>
              <a:t>Locates the general area by drawing bounding boxes around defects.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Segmentation: </a:t>
            </a:r>
            <a:r>
              <a:rPr lang="en-US" sz="2400" dirty="0">
                <a:latin typeface="Times New Roman"/>
              </a:rPr>
              <a:t>Generates precise, pixel-level masks revealing the exact location, shape, and size of the defect.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The Framework: </a:t>
            </a:r>
            <a:r>
              <a:rPr lang="en-US" sz="2400" dirty="0">
                <a:latin typeface="Times New Roman"/>
              </a:rPr>
              <a:t>We use Convolutional Neural Networks (CNNs) because they excel at learning hierarchical features, from simple edges to complex defect patterns.</a:t>
            </a:r>
          </a:p>
        </p:txBody>
      </p:sp>
    </p:spTree>
    <p:extLst>
      <p:ext uri="{BB962C8B-B14F-4D97-AF65-F5344CB8AC3E}">
        <p14:creationId xmlns:p14="http://schemas.microsoft.com/office/powerpoint/2010/main" val="344048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4456-5B45-B2AF-D32C-615C1610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CD8B0CF-E9DF-71B0-106F-69D47AE5EAF1}"/>
              </a:ext>
            </a:extLst>
          </p:cNvPr>
          <p:cNvSpPr txBox="1"/>
          <p:nvPr/>
        </p:nvSpPr>
        <p:spPr>
          <a:xfrm>
            <a:off x="0" y="6509877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104519-EA37-8DB3-728C-47E66C060B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D4BE11-2ACB-F82E-69AC-4A919BD94020}"/>
              </a:ext>
            </a:extLst>
          </p:cNvPr>
          <p:cNvSpPr txBox="1"/>
          <p:nvPr/>
        </p:nvSpPr>
        <p:spPr>
          <a:xfrm>
            <a:off x="610517" y="344951"/>
            <a:ext cx="10305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U-Net Architecture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151D57-6197-9148-FE51-80874BAE8EE9}"/>
              </a:ext>
            </a:extLst>
          </p:cNvPr>
          <p:cNvSpPr txBox="1">
            <a:spLocks/>
          </p:cNvSpPr>
          <p:nvPr/>
        </p:nvSpPr>
        <p:spPr>
          <a:xfrm>
            <a:off x="610517" y="2320290"/>
            <a:ext cx="8876383" cy="59054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036863-2CDC-4858-B177-B00A6CA3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6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DBF16-9F9D-B6A2-50A7-78725035E029}"/>
              </a:ext>
            </a:extLst>
          </p:cNvPr>
          <p:cNvSpPr txBox="1"/>
          <p:nvPr/>
        </p:nvSpPr>
        <p:spPr>
          <a:xfrm>
            <a:off x="478990" y="1365763"/>
            <a:ext cx="5715333" cy="4320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Encoder: </a:t>
            </a:r>
            <a:r>
              <a:rPr lang="en-US" sz="2000" dirty="0">
                <a:latin typeface="Times New Roman"/>
              </a:rPr>
              <a:t>Compresses the input image to extract essential features and structural patterns.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Decoder: </a:t>
            </a:r>
            <a:r>
              <a:rPr lang="en-US" sz="2000" dirty="0">
                <a:latin typeface="Times New Roman"/>
              </a:rPr>
              <a:t>Up samples the compressed data to reconstruct the spatial dimensions of the original image.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Skip Connections: </a:t>
            </a:r>
            <a:r>
              <a:rPr lang="en-US" sz="2000" dirty="0">
                <a:latin typeface="Times New Roman"/>
              </a:rPr>
              <a:t>Direct links that transfer high-resolution spatial details directly from the encoder to the decoder.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Functional Output: </a:t>
            </a:r>
            <a:r>
              <a:rPr lang="en-US" sz="2000" dirty="0">
                <a:latin typeface="Times New Roman"/>
              </a:rPr>
              <a:t>The network merges broad structural context with precise spatial data to generate accurate pixel-level defect boundaries.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7567B-490B-9D07-184C-DA37E1FE3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133" y="1365763"/>
            <a:ext cx="6110629" cy="4364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71154-2C3F-AC35-DF58-005A37553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218" y="5891568"/>
            <a:ext cx="1848021" cy="21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4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1B594D-7238-AE09-39C1-DDB328C0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6DD075-1E7C-1221-778E-1AC9741067EC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91A9B-F92A-FA63-1A5F-873078C058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DC0F4-9B82-6C5E-3992-F0434CEF6CCE}"/>
              </a:ext>
            </a:extLst>
          </p:cNvPr>
          <p:cNvSpPr txBox="1"/>
          <p:nvPr/>
        </p:nvSpPr>
        <p:spPr>
          <a:xfrm>
            <a:off x="486394" y="333383"/>
            <a:ext cx="11786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Feature Pyramid Network (FPN) Architecture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B67304-406F-0659-51A9-F3C90A05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7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F29AD-E04E-5B5B-3611-F98DF35D0E4D}"/>
              </a:ext>
            </a:extLst>
          </p:cNvPr>
          <p:cNvSpPr txBox="1"/>
          <p:nvPr/>
        </p:nvSpPr>
        <p:spPr>
          <a:xfrm>
            <a:off x="405114" y="1317983"/>
            <a:ext cx="5715333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Bottom-Up Pathway: </a:t>
            </a:r>
            <a:r>
              <a:rPr lang="en-US" sz="2000" dirty="0">
                <a:latin typeface="Times New Roman"/>
              </a:rPr>
              <a:t>Executes a standard feedforward pass through the backbone network to generate feature maps at multiple scales.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Top-Down Pathway:</a:t>
            </a:r>
            <a:r>
              <a:rPr lang="en-US" sz="2000" dirty="0">
                <a:latin typeface="Times New Roman"/>
              </a:rPr>
              <a:t> Up samples high-level, semantically strong feature maps to provide higher spatial resolution. 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Lateral Connections: </a:t>
            </a:r>
            <a:r>
              <a:rPr lang="en-US" sz="2000" dirty="0">
                <a:latin typeface="Times New Roman"/>
              </a:rPr>
              <a:t>Fuse the up sampled maps with feature maps from the bottom-up pathway using element-wise addition.</a:t>
            </a:r>
          </a:p>
          <a:p>
            <a:pPr marL="285750" indent="-285750" algn="l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000" b="1" dirty="0">
                <a:latin typeface="Times New Roman"/>
              </a:rPr>
              <a:t>Resulting Hierarchy: </a:t>
            </a:r>
            <a:r>
              <a:rPr lang="en-US" sz="2000" dirty="0">
                <a:latin typeface="Times New Roman"/>
              </a:rPr>
              <a:t>Creates a comprehensive pyramid of features, enabling the model to detect and localize defects across varying sizes and complexities simultaneously.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5BB43F-8CED-056C-1DBD-A3E29495D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830" y="1668061"/>
            <a:ext cx="6180170" cy="3521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4F844-5218-EE5D-2028-F6E651F1C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347" y="5245818"/>
            <a:ext cx="2453853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7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B5CD-1F39-0E57-17D3-2085BDE0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ABFCE8E-B6E9-3C99-D40D-B83E574D0506}"/>
              </a:ext>
            </a:extLst>
          </p:cNvPr>
          <p:cNvSpPr txBox="1"/>
          <p:nvPr/>
        </p:nvSpPr>
        <p:spPr>
          <a:xfrm>
            <a:off x="0" y="6508273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01AA3-9B48-2F5A-8807-4F1D2993FB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288" y="105155"/>
            <a:ext cx="619959" cy="7068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FF5EAC-6CE1-FEBC-B330-A92D40F3EECC}"/>
              </a:ext>
            </a:extLst>
          </p:cNvPr>
          <p:cNvSpPr txBox="1">
            <a:spLocks/>
          </p:cNvSpPr>
          <p:nvPr/>
        </p:nvSpPr>
        <p:spPr>
          <a:xfrm>
            <a:off x="923925" y="1683841"/>
            <a:ext cx="7686675" cy="52839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BEB79D-6ABB-FA65-A837-F7AAD4A8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8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95217-4C23-26A3-6485-FEAE10AD6A83}"/>
              </a:ext>
            </a:extLst>
          </p:cNvPr>
          <p:cNvSpPr txBox="1"/>
          <p:nvPr/>
        </p:nvSpPr>
        <p:spPr>
          <a:xfrm>
            <a:off x="281361" y="213122"/>
            <a:ext cx="11786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Proposed 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B72AC-4FE9-89AF-5030-F3A21474BDC9}"/>
              </a:ext>
            </a:extLst>
          </p:cNvPr>
          <p:cNvSpPr txBox="1"/>
          <p:nvPr/>
        </p:nvSpPr>
        <p:spPr>
          <a:xfrm>
            <a:off x="202557" y="1029366"/>
            <a:ext cx="6628435" cy="536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b="1" dirty="0">
                <a:latin typeface="Times New Roman"/>
              </a:rPr>
              <a:t>Comparative Framework: </a:t>
            </a:r>
            <a:r>
              <a:rPr lang="en-US" sz="2200" dirty="0">
                <a:latin typeface="Times New Roman"/>
              </a:rPr>
              <a:t>Evaluates two primary architectures—U-Net and FPN—across three distinct backbone networks: ResNet34, InceptionV3, and EfficientNet-B4.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b="1" dirty="0">
                <a:latin typeface="Times New Roman"/>
              </a:rPr>
              <a:t>Systematic Evaluation:</a:t>
            </a:r>
            <a:r>
              <a:rPr lang="en-US" sz="2200" dirty="0">
                <a:latin typeface="Times New Roman"/>
              </a:rPr>
              <a:t> Six total model variants were benchmarked under identical processing conditions to determine optimal performance.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b="1" dirty="0">
                <a:latin typeface="Times New Roman"/>
              </a:rPr>
              <a:t>Architecture Suitability: </a:t>
            </a:r>
            <a:r>
              <a:rPr lang="en-US" sz="2200" dirty="0">
                <a:latin typeface="Times New Roman"/>
              </a:rPr>
              <a:t>U-Net provides high-precision segmentation in low-noise conditions, while FPN demonstrates superior robustness in high-noise industrial settings.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lang="en-US" sz="2200" b="1" dirty="0">
                <a:latin typeface="Times New Roman"/>
              </a:rPr>
              <a:t>Operational Pipeline: </a:t>
            </a:r>
            <a:r>
              <a:rPr lang="en-US" sz="2200" dirty="0">
                <a:latin typeface="Times New Roman"/>
              </a:rPr>
              <a:t>Raw Data → Preprocessing → Data Augmentation → Model Training → Explainable AI (XAI) → Supervisor Decision Support.</a:t>
            </a:r>
            <a:endParaRPr sz="22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144AF3-011A-1CDC-6247-50824ED64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992" y="1466481"/>
            <a:ext cx="5299187" cy="2932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148CE7-3A93-F742-983D-D3F31CB86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724" y="4591055"/>
            <a:ext cx="4965720" cy="2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6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326443" y="338553"/>
            <a:ext cx="10589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Backbone </a:t>
            </a:r>
            <a:r>
              <a:rPr lang="en-US" sz="4000"/>
              <a:t>Network 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67523"/>
            <a:ext cx="2743200" cy="365125"/>
          </a:xfrm>
        </p:spPr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9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B47BA-FDB9-2E27-A78B-75BAA18F27F6}"/>
              </a:ext>
            </a:extLst>
          </p:cNvPr>
          <p:cNvSpPr txBox="1"/>
          <p:nvPr/>
        </p:nvSpPr>
        <p:spPr>
          <a:xfrm>
            <a:off x="254000" y="1263759"/>
            <a:ext cx="6304179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ResNet34: </a:t>
            </a:r>
            <a:r>
              <a:rPr lang="en-US" sz="2100" dirty="0">
                <a:latin typeface="Times New Roman"/>
              </a:rPr>
              <a:t>Utilizes identity shortcut connections to mitigate the vanishing gradient problem, enabling the training of deeper, more effective networks.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InceptionV3: </a:t>
            </a:r>
            <a:r>
              <a:rPr lang="en-US" sz="2100" dirty="0">
                <a:latin typeface="Times New Roman"/>
              </a:rPr>
              <a:t>Employs parallel multi-scale convolutions to capture diverse spatial patterns while maintaining computational efficiency.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EfficientNet-B4: </a:t>
            </a:r>
            <a:r>
              <a:rPr lang="en-US" sz="2100" dirty="0">
                <a:latin typeface="Times New Roman"/>
              </a:rPr>
              <a:t>Implements a compound scaling method that balances depth, width, and resolution to maximize feature extraction performance.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Architecture Selection: </a:t>
            </a:r>
            <a:r>
              <a:rPr lang="en-US" sz="2100" dirty="0">
                <a:latin typeface="Times New Roman"/>
              </a:rPr>
              <a:t>These backbones were chosen to provide a range of learning capacities, allowing for a thorough evaluation of the best approach for segmenting complex steel defects</a:t>
            </a:r>
            <a:r>
              <a:rPr lang="en-US" sz="2000" dirty="0">
                <a:latin typeface="Times New Roman"/>
              </a:rPr>
              <a:t>.</a:t>
            </a:r>
            <a:endParaRPr sz="2000" dirty="0"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79B2F-22D7-A4D9-8057-9ADFED36D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99" y="1757499"/>
            <a:ext cx="5656328" cy="33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3DD99C-ECC1-0E48-83BE-5BF061BF3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786" y="5166540"/>
            <a:ext cx="2225233" cy="19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8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335280" y="338554"/>
            <a:ext cx="1073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Data Augmentation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67523"/>
            <a:ext cx="2743200" cy="365125"/>
          </a:xfrm>
        </p:spPr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10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B47BA-FDB9-2E27-A78B-75BAA18F27F6}"/>
              </a:ext>
            </a:extLst>
          </p:cNvPr>
          <p:cNvSpPr txBox="1"/>
          <p:nvPr/>
        </p:nvSpPr>
        <p:spPr>
          <a:xfrm>
            <a:off x="335280" y="1268889"/>
            <a:ext cx="6304179" cy="4320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Purpose: </a:t>
            </a:r>
            <a:r>
              <a:rPr lang="en-US" sz="2400" dirty="0">
                <a:latin typeface="Times New Roman"/>
              </a:rPr>
              <a:t>Increases model robustness by simulating real-world industrial environments.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Geometric Transforms: </a:t>
            </a:r>
            <a:r>
              <a:rPr lang="en-US" sz="2400" dirty="0">
                <a:latin typeface="Times New Roman"/>
              </a:rPr>
              <a:t>Applies translation, rotation, and flipping to simulate varying camera angles and sheet positioning.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Noise Injection: </a:t>
            </a:r>
            <a:r>
              <a:rPr lang="en-US" sz="2400" dirty="0">
                <a:latin typeface="Times New Roman"/>
              </a:rPr>
              <a:t>Introduces Gaussian and impulse noise to mimic camera sensor degradation, dust, and electrical interference.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Generalization: </a:t>
            </a:r>
            <a:r>
              <a:rPr lang="en-US" sz="2400" dirty="0">
                <a:latin typeface="Times New Roman"/>
              </a:rPr>
              <a:t>Forces the model to learn noise-invariant features, ensuring reliability under diverse, non-ideal production conditions.</a:t>
            </a:r>
            <a:endParaRPr sz="2400" dirty="0">
              <a:latin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655744-4D98-ABAD-2C0B-72A9F4C52C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574"/>
          <a:stretch>
            <a:fillRect/>
          </a:stretch>
        </p:blipFill>
        <p:spPr>
          <a:xfrm>
            <a:off x="6717182" y="1539401"/>
            <a:ext cx="5306261" cy="3474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F3E73E-F39D-B1E2-7E19-6682AECE4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01" y="4861359"/>
            <a:ext cx="4267570" cy="457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CB3FB0-B231-2912-21C6-C6397EC11C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58"/>
          <a:stretch>
            <a:fillRect/>
          </a:stretch>
        </p:blipFill>
        <p:spPr>
          <a:xfrm>
            <a:off x="11176635" y="4966232"/>
            <a:ext cx="483572" cy="24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72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331117" y="280219"/>
            <a:ext cx="1073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Implementation Strategy</a:t>
            </a:r>
            <a:endParaRPr lang="en-US" sz="16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67523"/>
            <a:ext cx="2743200" cy="365125"/>
          </a:xfrm>
        </p:spPr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11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B47BA-FDB9-2E27-A78B-75BAA18F27F6}"/>
              </a:ext>
            </a:extLst>
          </p:cNvPr>
          <p:cNvSpPr txBox="1"/>
          <p:nvPr/>
        </p:nvSpPr>
        <p:spPr>
          <a:xfrm>
            <a:off x="254001" y="1122006"/>
            <a:ext cx="6181524" cy="540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Training Methodology: </a:t>
            </a:r>
            <a:r>
              <a:rPr lang="en-US" sz="2100" dirty="0">
                <a:latin typeface="Times New Roman"/>
              </a:rPr>
              <a:t>The model was trained over 30 epochs using an Adam optimizer with a learning rate of 1e-5 and a batch size of 8.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Dataset Partitioning: </a:t>
            </a:r>
            <a:r>
              <a:rPr lang="en-US" sz="2100" dirty="0">
                <a:latin typeface="Times New Roman"/>
              </a:rPr>
              <a:t>A 60/20/20 split (Training/Validation/Testing) was implemented to ensure the model could be evaluated independently and effectively.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Hyperparameter Optimization: </a:t>
            </a:r>
            <a:r>
              <a:rPr lang="en-US" sz="2100" dirty="0">
                <a:latin typeface="Times New Roman"/>
              </a:rPr>
              <a:t>A hybrid grid and random search strategy was used to identify the configuration that yielded optimal performance.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Evaluation Objective: </a:t>
            </a:r>
            <a:r>
              <a:rPr lang="en-US" sz="2100" dirty="0">
                <a:latin typeface="Times New Roman"/>
              </a:rPr>
              <a:t>Models were assessed based on Dice Similarity Coefficient (DSC) and Intersection over Union (</a:t>
            </a:r>
            <a:r>
              <a:rPr lang="en-US" sz="2100" dirty="0" err="1">
                <a:latin typeface="Times New Roman"/>
              </a:rPr>
              <a:t>IoU</a:t>
            </a:r>
            <a:r>
              <a:rPr lang="en-US" sz="2100" dirty="0">
                <a:latin typeface="Times New Roman"/>
              </a:rPr>
              <a:t>) metrics to quantify precise defect delineation.</a:t>
            </a:r>
            <a:endParaRPr sz="2100" dirty="0"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8FD13-50D6-DD0B-365A-530FDE291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605" y="1188240"/>
            <a:ext cx="5766535" cy="4202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D42173-FB54-769F-6C46-DDCCBB551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355" y="5589745"/>
            <a:ext cx="3810330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03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335280" y="241374"/>
            <a:ext cx="1073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dirty="0"/>
              <a:t>Performance Results</a:t>
            </a:r>
            <a:endParaRPr lang="en-US" sz="16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67523"/>
            <a:ext cx="2743200" cy="365125"/>
          </a:xfrm>
        </p:spPr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12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B47BA-FDB9-2E27-A78B-75BAA18F27F6}"/>
              </a:ext>
            </a:extLst>
          </p:cNvPr>
          <p:cNvSpPr txBox="1"/>
          <p:nvPr/>
        </p:nvSpPr>
        <p:spPr>
          <a:xfrm>
            <a:off x="254000" y="1122006"/>
            <a:ext cx="11353799" cy="4627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Baseline Performance: </a:t>
            </a:r>
            <a:r>
              <a:rPr lang="en-US" sz="2400" dirty="0">
                <a:latin typeface="Times New Roman"/>
              </a:rPr>
              <a:t>U-Net with an InceptionV3 backbone delivered the highest overall accuracy in clean conditions, achieving a test Dice Score (DSC) of 0.736.</a:t>
            </a:r>
          </a:p>
          <a:p>
            <a:pPr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Architecture Comparison: </a:t>
            </a:r>
            <a:r>
              <a:rPr lang="en-US" sz="2400" dirty="0">
                <a:latin typeface="Times New Roman"/>
              </a:rPr>
              <a:t>U-Net consistently outperformed the Feature Pyramid Network (FPN) across all tested backbone networks in standard testing.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Backbone Efficiency: </a:t>
            </a:r>
            <a:r>
              <a:rPr lang="en-US" sz="2400" dirty="0">
                <a:latin typeface="Times New Roman"/>
              </a:rPr>
              <a:t>The selection of the backbone network proved critical, with ResNet34 consistently providing the least effective segmentation results.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endParaRPr lang="en-US" sz="2400" dirty="0">
              <a:latin typeface="Times New Roman"/>
            </a:endParaRP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400" b="1" dirty="0">
                <a:latin typeface="Times New Roman"/>
              </a:rPr>
              <a:t>Generalization: </a:t>
            </a:r>
            <a:r>
              <a:rPr lang="en-US" sz="2400" dirty="0">
                <a:latin typeface="Times New Roman"/>
              </a:rPr>
              <a:t>Small variance between validation and test metrics confirms that the top-performing models maintain reliable performance on unseen data.</a:t>
            </a:r>
            <a:endParaRPr sz="24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8564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254000" y="250121"/>
            <a:ext cx="1073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sz="4000" dirty="0"/>
              <a:t>Contd.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67523"/>
            <a:ext cx="2743200" cy="365125"/>
          </a:xfrm>
        </p:spPr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13</a:t>
            </a:fld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B7BD2-25B0-5C5A-DD3B-D8A171D8F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400" y="1212763"/>
            <a:ext cx="6058425" cy="2095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C91C46-739E-2D23-5C79-FEFE33A65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00" y="1172749"/>
            <a:ext cx="5883150" cy="4389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E3AF37-2E5E-1A3E-1004-2DF3077A2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763" y="3070734"/>
            <a:ext cx="5311600" cy="3208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2F5428-E78E-7148-9740-61DB83849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192" y="6244837"/>
            <a:ext cx="4404742" cy="1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0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0D7-722C-68C8-5E08-302987D7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113AA3-2A46-E6F7-F143-2526BFC21FAC}"/>
              </a:ext>
            </a:extLst>
          </p:cNvPr>
          <p:cNvSpPr txBox="1"/>
          <p:nvPr/>
        </p:nvSpPr>
        <p:spPr>
          <a:xfrm>
            <a:off x="254000" y="6519446"/>
            <a:ext cx="7686676" cy="338554"/>
          </a:xfrm>
          <a:custGeom>
            <a:avLst/>
            <a:gdLst>
              <a:gd name="connsiteX0" fmla="*/ 0 w 6172200"/>
              <a:gd name="connsiteY0" fmla="*/ 0 h 369332"/>
              <a:gd name="connsiteX1" fmla="*/ 6172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  <a:gd name="connsiteX0" fmla="*/ 0 w 6172200"/>
              <a:gd name="connsiteY0" fmla="*/ 0 h 369332"/>
              <a:gd name="connsiteX1" fmla="*/ 5791200 w 6172200"/>
              <a:gd name="connsiteY1" fmla="*/ 0 h 369332"/>
              <a:gd name="connsiteX2" fmla="*/ 6172200 w 6172200"/>
              <a:gd name="connsiteY2" fmla="*/ 369332 h 369332"/>
              <a:gd name="connsiteX3" fmla="*/ 0 w 6172200"/>
              <a:gd name="connsiteY3" fmla="*/ 369332 h 369332"/>
              <a:gd name="connsiteX4" fmla="*/ 0 w 6172200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369332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spc="600" dirty="0">
                <a:solidFill>
                  <a:schemeClr val="bg1"/>
                </a:solidFill>
                <a:latin typeface="Gill Sans MT" panose="020B0502020104020203" pitchFamily="34" charset="0"/>
              </a:rPr>
              <a:t>LEARN . GROW . EXCEL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16DB2-96B1-7349-87AB-66332169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83" y="107677"/>
            <a:ext cx="732060" cy="841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93770-D62A-E1AF-1930-4A8291CE4FCC}"/>
              </a:ext>
            </a:extLst>
          </p:cNvPr>
          <p:cNvSpPr txBox="1"/>
          <p:nvPr/>
        </p:nvSpPr>
        <p:spPr>
          <a:xfrm>
            <a:off x="325120" y="157620"/>
            <a:ext cx="1073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4000" b="1">
                <a:solidFill>
                  <a:srgbClr val="FF0000"/>
                </a:solidFill>
                <a:latin typeface="Times New Roman"/>
              </a:defRPr>
            </a:pPr>
            <a:r>
              <a:rPr lang="en-US" dirty="0"/>
              <a:t>Noise Robustness &amp; XAI Integration</a:t>
            </a:r>
            <a:endParaRPr lang="en-US" sz="16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48FFF-4C28-E9A0-396C-823446BE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14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B47BA-FDB9-2E27-A78B-75BAA18F27F6}"/>
              </a:ext>
            </a:extLst>
          </p:cNvPr>
          <p:cNvSpPr txBox="1"/>
          <p:nvPr/>
        </p:nvSpPr>
        <p:spPr>
          <a:xfrm>
            <a:off x="227781" y="1047761"/>
            <a:ext cx="6707239" cy="540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Noise Robustness: </a:t>
            </a:r>
            <a:r>
              <a:rPr lang="en-US" sz="2100" dirty="0">
                <a:latin typeface="Times New Roman"/>
              </a:rPr>
              <a:t>While U-Net performs well under clean conditions, FPN architectures maintain superior segmentation accuracy under high-level noise (Gaussian and Salt &amp; Pepper).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Model Stability: </a:t>
            </a:r>
            <a:r>
              <a:rPr lang="en-US" sz="2100" dirty="0">
                <a:latin typeface="Times New Roman"/>
              </a:rPr>
              <a:t>The performance gap between FPN and U-Net widens as noise severity increases, validating FPN for real-world, non-ideal industrial settings.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XAI Integration: </a:t>
            </a:r>
            <a:r>
              <a:rPr lang="en-US" sz="2100" dirty="0">
                <a:latin typeface="Times New Roman"/>
              </a:rPr>
              <a:t>Explainable AI (</a:t>
            </a:r>
            <a:r>
              <a:rPr lang="en-US" sz="2100" dirty="0" err="1">
                <a:latin typeface="Times New Roman"/>
              </a:rPr>
              <a:t>GradCAM</a:t>
            </a:r>
            <a:r>
              <a:rPr lang="en-US" sz="2100" dirty="0">
                <a:latin typeface="Times New Roman"/>
              </a:rPr>
              <a:t>, SHAP, LIME) is integrated into the pipeline to visualize influential regions and validate defect localization.</a:t>
            </a:r>
          </a:p>
          <a:p>
            <a:pPr marL="342900" indent="-342900" algn="just">
              <a:lnSpc>
                <a:spcPts val="28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lang="en-US" sz="2100" b="1" dirty="0">
                <a:latin typeface="Times New Roman"/>
              </a:rPr>
              <a:t>Operational Trust: </a:t>
            </a:r>
            <a:r>
              <a:rPr lang="en-US" sz="2100" dirty="0">
                <a:latin typeface="Times New Roman"/>
              </a:rPr>
              <a:t>These visualizations provide clear, auditable insights into the model's decision-making process, narrowing the trust gap for industry practitioners.</a:t>
            </a:r>
            <a:endParaRPr sz="2100" dirty="0"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E46BF-B93D-EF2A-C462-8214FC68A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64" b="1"/>
          <a:stretch/>
        </p:blipFill>
        <p:spPr>
          <a:xfrm>
            <a:off x="7158442" y="865506"/>
            <a:ext cx="4865001" cy="5126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B1AACC-053B-2C05-A0D4-B3A3F58791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36" t="-8043"/>
          <a:stretch>
            <a:fillRect/>
          </a:stretch>
        </p:blipFill>
        <p:spPr>
          <a:xfrm>
            <a:off x="8095488" y="5992494"/>
            <a:ext cx="3541974" cy="26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5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9F00-3FD6-1C7C-C61C-1503A095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EA0CC7-5532-14A4-04AE-FE254E1E2E38}"/>
              </a:ext>
            </a:extLst>
          </p:cNvPr>
          <p:cNvSpPr txBox="1"/>
          <p:nvPr/>
        </p:nvSpPr>
        <p:spPr>
          <a:xfrm>
            <a:off x="373626" y="32466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E1ACBC-AED1-ED02-4D2C-C9A27BD85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747" y="62244"/>
            <a:ext cx="621846" cy="707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0A1F10-2F68-681B-40AF-BFF88D1B4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24568"/>
            <a:ext cx="7687722" cy="432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DC875-EE48-417C-C70E-CA9C427A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15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9D27C-4E05-C14D-8CA2-5CD49B9CB931}"/>
              </a:ext>
            </a:extLst>
          </p:cNvPr>
          <p:cNvSpPr txBox="1"/>
          <p:nvPr/>
        </p:nvSpPr>
        <p:spPr>
          <a:xfrm>
            <a:off x="373626" y="1242267"/>
            <a:ext cx="115067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Dual-Architecture Evaluation: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both U-Net and FPN to identify the optimal framework for varying factory noise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Noise Augmentation: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advanced low-level and high-level noise injection to accurately replicate true factory lens distortions and sensor failures.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Interpretability: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three distinct XAI methods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SHAP, LIME) to completely eliminate the black-box problem for human operators.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Scale Validation: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on a highly extensive dataset of 12,568 images, proving high generalization compared to smaller sample sizes in literature.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581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3E81-E432-CD29-CE67-0702CD8B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89A170-AC1B-7B46-D267-996812CF099E}"/>
              </a:ext>
            </a:extLst>
          </p:cNvPr>
          <p:cNvSpPr txBox="1"/>
          <p:nvPr/>
        </p:nvSpPr>
        <p:spPr>
          <a:xfrm>
            <a:off x="373626" y="34408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9CE7C3-0EC4-DF7E-01BB-40230822C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747" y="62244"/>
            <a:ext cx="621846" cy="707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6D6401-4967-F85C-E21B-C3ECDF0DA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24568"/>
            <a:ext cx="7687722" cy="432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CC5B9-569B-D5AA-B8E5-2E0B947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16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A842D-825C-5CF6-C3EF-A187AE0BAF08}"/>
              </a:ext>
            </a:extLst>
          </p:cNvPr>
          <p:cNvSpPr txBox="1"/>
          <p:nvPr/>
        </p:nvSpPr>
        <p:spPr>
          <a:xfrm>
            <a:off x="373626" y="1151827"/>
            <a:ext cx="11444126" cy="446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Deployment: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Distill, prune, and quantize the models to run efficiently on low-power edge nodes directly on the factory floor.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Defect Taxonomy: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additional datasets to train the system on highly rare or complex defect categories using few-shot learning.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XAI Features: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uncertainty quantification and human-in-the-loop validation for automated deployment decisions.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Inspection: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3D surface scanning and thermal imaging with visual camera data to capture subsurface anomalies.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117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558B-5392-5A48-502E-C309937A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A54EC-DC97-0D43-BDBE-59D4EB148EA9}"/>
              </a:ext>
            </a:extLst>
          </p:cNvPr>
          <p:cNvSpPr txBox="1"/>
          <p:nvPr/>
        </p:nvSpPr>
        <p:spPr>
          <a:xfrm>
            <a:off x="327783" y="365411"/>
            <a:ext cx="10788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AE3AA-82FB-2EFC-28C6-346F0CA2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747" y="62244"/>
            <a:ext cx="621846" cy="707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E9C61C-7DF8-6CB2-162B-F299B6987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24568"/>
            <a:ext cx="7687722" cy="432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5C2F9-A55C-EFAF-8C45-8C697FFF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17</a:t>
            </a:fld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186F3-7C9C-84CA-47C7-2BFB712EFC3C}"/>
              </a:ext>
            </a:extLst>
          </p:cNvPr>
          <p:cNvSpPr txBox="1"/>
          <p:nvPr/>
        </p:nvSpPr>
        <p:spPr>
          <a:xfrm>
            <a:off x="327783" y="1377152"/>
            <a:ext cx="11536434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Benchmarking: Successfully evaluated six deep learning configurations across 12,568 industrial manufacturing images to establish an optimized inspection pipeline.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Trade-offs: Proved that while U-Net architectures deliver high boundary precision in clean conditions, FPN frameworks are necessary for maintaining robustness in noisy industrial environments.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Transparency: Integrated a post-hoc Explainable AI triad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GradCAM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SHAP, and LIME) to successfully eliminate the black-box limitation of deep learning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Practitioner Trust: The generated visual explanations provide human operators and supervisors with the interpretability required to confidently adopt automated quality control decisions.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3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D8F0-1684-1D6C-2D7E-6DD12E2E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68A4D9-7DAB-2A08-FB27-FB5F305A3FD9}"/>
              </a:ext>
            </a:extLst>
          </p:cNvPr>
          <p:cNvSpPr txBox="1"/>
          <p:nvPr/>
        </p:nvSpPr>
        <p:spPr>
          <a:xfrm>
            <a:off x="373626" y="25816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ABEBC-5E58-CA35-30A0-569D60C1EE9A}"/>
              </a:ext>
            </a:extLst>
          </p:cNvPr>
          <p:cNvSpPr/>
          <p:nvPr/>
        </p:nvSpPr>
        <p:spPr>
          <a:xfrm>
            <a:off x="373626" y="1072030"/>
            <a:ext cx="111497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Z. Aboulhosn,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Musamih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Salah, R. Jayaraman, M. Omar, and Z. Aung,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"Detection of Manufacturing Defects in Steel Using Deep Learning with Explainable Artificial Intelligence,"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11, 2023.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O.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Ronneberger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Fischer, and T. Brox, "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U-Net: Convolutional Networks for Biomedical Image Segmentation,"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MICCAI, pp. 234-241, 2015.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T.-Y. Lin et al.,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"Feature Pyramid Networks for Object Detection," CVPR, pp. 2117-2125, 2017.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K. He et al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"Deep Residual Learning for Image Recognition,"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CVPR, pp. 770-778, 2016.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R. R. Selvaraju et al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"Grad-CAM: Visual Explanations from Deep Networks via Gradient-Based Localization,"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ICCV, pp. 618-626, 2017.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M. Lundberg and S.-I. Lee,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Unified Approach to Interpreting Model Predictions,"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4765-4774, 2017.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081CAF-B773-DDC8-5741-DEF7DDF2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747" y="62244"/>
            <a:ext cx="621846" cy="7071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4B93C7-B3A8-3BA0-6423-A5DFC6346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24568"/>
            <a:ext cx="7687722" cy="4328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CFB36-7E1D-148A-0FF3-20F06E1C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z="2000" smtClean="0">
                <a:solidFill>
                  <a:schemeClr val="tx1"/>
                </a:solidFill>
              </a:rPr>
              <a:t>18</a:t>
            </a:fld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25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C90C1D-2E63-D853-A5B8-E1969540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893" y="49696"/>
            <a:ext cx="621846" cy="7071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2BE738-550B-0BE2-FE89-A4726680B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4842"/>
            <a:ext cx="7687722" cy="43285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13AF5F-D8FA-7683-CB1B-2E5493BA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20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6DA4F-E917-CD71-133E-72E23312120E}"/>
              </a:ext>
            </a:extLst>
          </p:cNvPr>
          <p:cNvSpPr txBox="1"/>
          <p:nvPr/>
        </p:nvSpPr>
        <p:spPr>
          <a:xfrm>
            <a:off x="4159045" y="3044279"/>
            <a:ext cx="37362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5888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12616</TotalTime>
  <Words>1630</Words>
  <Application>Microsoft Office PowerPoint</Application>
  <PresentationFormat>Widescreen</PresentationFormat>
  <Paragraphs>183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Gill Sans MT</vt:lpstr>
      <vt:lpstr>Swis721 BlkCn BT</vt:lpstr>
      <vt:lpstr>Times New Roman</vt:lpstr>
      <vt:lpstr>Office Theme</vt:lpstr>
      <vt:lpstr>Explainable Deep Learning Systems for Steel Defect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Vyshnavi s</dc:creator>
  <cp:lastModifiedBy>jibincbasil@outlook.com</cp:lastModifiedBy>
  <cp:revision>92</cp:revision>
  <dcterms:modified xsi:type="dcterms:W3CDTF">2026-07-18T02:56:12Z</dcterms:modified>
</cp:coreProperties>
</file>