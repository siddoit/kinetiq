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76" r:id="rId2"/>
    <p:sldId id="259" r:id="rId3"/>
    <p:sldId id="290" r:id="rId4"/>
    <p:sldId id="291" r:id="rId5"/>
    <p:sldId id="257" r:id="rId6"/>
    <p:sldId id="300" r:id="rId7"/>
    <p:sldId id="293" r:id="rId8"/>
    <p:sldId id="301" r:id="rId9"/>
    <p:sldId id="307" r:id="rId10"/>
    <p:sldId id="308" r:id="rId11"/>
    <p:sldId id="295" r:id="rId12"/>
    <p:sldId id="302" r:id="rId13"/>
    <p:sldId id="281" r:id="rId14"/>
    <p:sldId id="289" r:id="rId15"/>
    <p:sldId id="296" r:id="rId16"/>
    <p:sldId id="306" r:id="rId17"/>
    <p:sldId id="304" r:id="rId18"/>
    <p:sldId id="288" r:id="rId19"/>
    <p:sldId id="298" r:id="rId20"/>
    <p:sldId id="303" r:id="rId21"/>
    <p:sldId id="285" r:id="rId22"/>
    <p:sldId id="275" r:id="rId23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FF7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2298D-2FFE-4517-8E10-E9394894EEA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C1D7D-EFEA-4841-959A-F45461074D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03300-F7C1-77D3-CE4F-17E9B92E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8A73A-8540-EF55-5032-8CC401589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8AADD-787C-DED2-CBC5-38FECFFB4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A8BA7-1D3D-3F68-71DB-5D1B73642D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78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7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39B91-2500-C704-6A23-BCFE2E41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535CA-1F61-C692-0927-86FD570BD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BFE9C-D16F-6576-A6E3-BBBBC4718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6C876-0C36-4275-1D81-477A09742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01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1CA1-FB9F-E524-B869-8D51EFF9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94ED7-BA34-DBB4-F29C-90B788CEC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BF0DF-AA59-FB56-74EC-3997470AA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43D35-C107-EBC0-049A-6FD9C77C0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95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39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67A26-A748-8FD5-F0F8-C4416E69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CE284-DA41-17D0-F5C0-0BCCF040D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68DA2-7105-2C4C-6E09-2D438F92B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2FC48-615D-208D-B3E4-4BEF66D589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50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CE0CD-1327-B26A-73AA-D8F71D5D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86116-0DB8-D680-809D-4F35B75DC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B25AB-9973-94A1-4FA3-BF74EA2D2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728C4-EB59-3241-0C1C-A675DFD2A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45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4E8A-3225-3F35-9033-928C0B335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C2202-7FC6-DE36-E152-8F4D2270E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8D8CF-D748-51A5-97B1-A105BD08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982AA-C73C-7132-BB5D-9763A24E7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75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D0184-1DA4-FE2A-A3DF-7AD20B8B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D1524-9D05-37AD-8D4A-5060F5A9D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19B7F-8D2D-D36A-D981-DB58E8A11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97FEC-0090-BEA7-74A1-6A657F981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23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C9186-6477-4323-88CD-C85C8D7A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24197-4DDE-C91E-93EE-4DC1C9D32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7040B-78D0-F1F7-950F-9CB30E76F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8C48F-5D6F-5FE7-D795-EB18BC281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96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D66F5-D6AC-0D96-51A2-A2F645656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FA07B-8F30-2F2E-4083-FED2DB2DB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6230F-62AF-19F8-C7FD-C46B8243C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301A2-D9D1-2C1D-B9C2-1C9F3DC1D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42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F300A-2BAD-E220-CDA4-381C0BC6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029ED-B8EF-F263-AC44-F6C48EB2E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D1007-7B14-F8C1-7DA3-CEAA9020A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19ECB-6189-A5EF-D7AA-B1EE0C7DEA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28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28915-CCD5-3602-967C-1F0297FE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4F916-4251-B15C-A9CF-02205C6F4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15278-D032-EB97-A669-1E5958BE9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12E48-8AFB-FAA0-B58D-5ECE4F4E52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19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59A73-4F94-A45B-D48D-F7CDD032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EA300-8C9E-02A2-BAA5-5D0C9AD72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64840-E1F7-6B61-A501-AED1B110B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220BB-352C-7350-6711-AD67F5FB86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52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FCE98-A34D-9228-2AA8-4A692985F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CDBB6-CF7A-2597-66F8-D7506E24B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D35D8-3123-4E55-8411-3E2F8546B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3C9E0-FB7A-4AD0-E96C-4FA3C5DB0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58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B3915-4C10-CAF4-3733-FE3A3143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A3CAB-D03A-E098-F669-42DF5A9B2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9AFE8-A67C-D6C6-BF57-9E746D3D3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084D0-C6D7-AC92-4E89-A1286984F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62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34819-6F9B-CE70-AA8E-B37F980E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09A7D-86CD-4B61-FE6C-BE5D1DB3B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02553-183A-9F61-976E-4A957478E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C935C-02EA-5F63-F317-1CC816D54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97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601E5-8EBE-A44B-94AD-EDA54C8C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AABD8-BA06-C138-4A57-FBDC0818F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61E54-6529-AFE0-F41A-DD4F17238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07352-7A18-104B-8A03-03BA5F2BB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48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A49C1-4CDC-F30E-1CC1-F1365EC1C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41BB6-C799-3EBE-942A-68D074EBB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E53D0-26B0-42FE-93D7-6F33B96F5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06A03-DD9A-CCA3-EEE5-6CE130744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94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5FF3-00EA-45CC-B7E1-84D5D7832992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66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1846-6848-4C3C-A053-A69834132C16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67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22C4-472E-44A9-A657-67EDBE37D843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89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92B11-9E42-47E7-A44B-2AD99F380F86}" type="datetime1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79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798E-D96E-4627-9584-A0046B543FEA}" type="datetime1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10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5BD22-7724-45F4-BDB5-8F99527BB392}" type="datetime1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89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9EA4-3F90-4BA9-A7BC-6EA928BE2513}" type="datetime1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47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480-A190-4E2C-B605-D3841A021D52}" type="datetime1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014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BD555-71D3-4570-A68C-E33065D8866E}" type="datetime1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26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68717-7530-43FA-B168-D3E0E4D4B37A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26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96AF4-4731-4765-B4DF-43497718C08B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6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A8838-B03B-4394-A81F-E39DD145F32C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8CFA0-CC8E-1BA5-784B-FAE41EE3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1166AC-0AB5-B888-0318-C3CFACC546EF}"/>
              </a:ext>
            </a:extLst>
          </p:cNvPr>
          <p:cNvSpPr txBox="1"/>
          <p:nvPr/>
        </p:nvSpPr>
        <p:spPr>
          <a:xfrm>
            <a:off x="1822249" y="70541"/>
            <a:ext cx="7870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Swis721 BlkCn BT" panose="020B0806030502040204" pitchFamily="34" charset="0"/>
              </a:rPr>
              <a:t>SAINTGITS</a:t>
            </a:r>
            <a:endParaRPr lang="en-IN" sz="2400" b="1" dirty="0">
              <a:latin typeface="Swis721 BlkCn BT" panose="020B0806030502040204" pitchFamily="34" charset="0"/>
            </a:endParaRPr>
          </a:p>
          <a:p>
            <a:r>
              <a:rPr lang="en-IN" sz="2400" b="1" dirty="0">
                <a:latin typeface="Swis721 BlkCn BT" panose="020B0806030502040204" pitchFamily="34" charset="0"/>
              </a:rPr>
              <a:t>COLLEGE OF ENGINEERING</a:t>
            </a:r>
          </a:p>
          <a:p>
            <a:r>
              <a:rPr lang="en-IN" dirty="0">
                <a:latin typeface="Gill Sans MT" panose="020B0502020104020203" pitchFamily="34" charset="0"/>
              </a:rPr>
              <a:t>(AUTONOMOUS)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563E1-7D96-F5A2-6ACA-C37C233872DC}"/>
              </a:ext>
            </a:extLst>
          </p:cNvPr>
          <p:cNvSpPr txBox="1"/>
          <p:nvPr/>
        </p:nvSpPr>
        <p:spPr>
          <a:xfrm>
            <a:off x="0" y="6407689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10ABD3-75FA-9C16-C33C-3D90B75C71BE}"/>
              </a:ext>
            </a:extLst>
          </p:cNvPr>
          <p:cNvSpPr/>
          <p:nvPr/>
        </p:nvSpPr>
        <p:spPr>
          <a:xfrm>
            <a:off x="571500" y="0"/>
            <a:ext cx="1152525" cy="1266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BFF886-5C7F-145E-7210-AACC6FB783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24" y="88460"/>
            <a:ext cx="956075" cy="10900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887D997-2295-17D9-FC47-20F1B4E89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103120"/>
            <a:ext cx="11457432" cy="1645920"/>
          </a:xfr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latin typeface="Times New Roman"/>
              </a:rPr>
              <a:t>B.TECH PROJECT PHASE 1</a:t>
            </a: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FINAL INTERNAL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32234-C86A-2214-8CD3-AE873CA7E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54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2249" y="70541"/>
            <a:ext cx="7870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Swis721 BlkCn BT" panose="020B0806030502040204" pitchFamily="34" charset="0"/>
              </a:rPr>
              <a:t>SAINTGITS</a:t>
            </a:r>
            <a:endParaRPr lang="en-IN" sz="2400" b="1" dirty="0">
              <a:latin typeface="Swis721 BlkCn BT" panose="020B0806030502040204" pitchFamily="34" charset="0"/>
            </a:endParaRPr>
          </a:p>
          <a:p>
            <a:r>
              <a:rPr lang="en-IN" sz="2400" b="1" dirty="0">
                <a:latin typeface="Swis721 BlkCn BT" panose="020B0806030502040204" pitchFamily="34" charset="0"/>
              </a:rPr>
              <a:t>COLLEGE OF ENGINEERING</a:t>
            </a:r>
          </a:p>
          <a:p>
            <a:r>
              <a:rPr lang="en-IN" dirty="0">
                <a:latin typeface="Gill Sans MT" panose="020B0502020104020203" pitchFamily="34" charset="0"/>
              </a:rPr>
              <a:t>(AUTONOMOUS)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07689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2CCA86-A0F1-413C-953F-0BCAE399FDF3}"/>
              </a:ext>
            </a:extLst>
          </p:cNvPr>
          <p:cNvSpPr/>
          <p:nvPr/>
        </p:nvSpPr>
        <p:spPr>
          <a:xfrm>
            <a:off x="571500" y="0"/>
            <a:ext cx="1152525" cy="1266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8421A-9C9E-4220-9651-88BDC87CB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24" y="88460"/>
            <a:ext cx="956075" cy="10900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E692721-AE3E-44C5-B417-6778C528E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1737360"/>
            <a:ext cx="11548872" cy="1600200"/>
          </a:xfr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latin typeface="Times New Roman"/>
              </a:rPr>
              <a:t>Embodied Semantic Asset Recall Robot</a:t>
            </a:r>
            <a:endParaRPr lang="en-IN" sz="22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sz="1800" b="1">
                <a:latin typeface="Times New Roman"/>
              </a:rPr>
              <a:t>Offline Industrial Object Search, Recall, and Verification via Edge-Optimized Vision-Language Models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0DC3281-071C-4D6C-BF6B-7C8E8A86C1BF}"/>
              </a:ext>
            </a:extLst>
          </p:cNvPr>
          <p:cNvSpPr txBox="1"/>
          <p:nvPr/>
        </p:nvSpPr>
        <p:spPr>
          <a:xfrm>
            <a:off x="265176" y="4220269"/>
            <a:ext cx="5380383" cy="2273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4060205030503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Times New Roman" panose="02040602050305030304" pitchFamily="18" charset="0"/>
                <a:cs typeface="Times New Roman" panose="02020603050405020304" pitchFamily="18" charset="0"/>
              </a:rPr>
              <a:t>	Sidharth Sajith</a:t>
            </a:r>
          </a:p>
          <a:p>
            <a:pPr algn="just"/>
            <a:r>
              <a:rPr lang="en-US" sz="2000" dirty="0">
                <a:latin typeface="Times New Roman" panose="02040602050305030304" pitchFamily="18" charset="0"/>
                <a:cs typeface="Times New Roman" panose="02020603050405020304" pitchFamily="18" charset="0"/>
              </a:rPr>
              <a:t>	Nidhi N</a:t>
            </a:r>
          </a:p>
          <a:p>
            <a:pPr algn="just"/>
            <a:r>
              <a:rPr lang="en-US" sz="2000" dirty="0">
                <a:latin typeface="Times New Roman" panose="02040602050305030304" pitchFamily="18" charset="0"/>
                <a:cs typeface="Times New Roman" panose="02020603050405020304" pitchFamily="18" charset="0"/>
              </a:rPr>
              <a:t>	Tharun Oommen Jacob</a:t>
            </a:r>
          </a:p>
          <a:p>
            <a:pPr algn="just"/>
            <a:r>
              <a:rPr lang="en-US" sz="2000" dirty="0">
                <a:latin typeface="Times New Roman" panose="02040602050305030304" pitchFamily="18" charset="0"/>
                <a:cs typeface="Times New Roman" panose="02020603050405020304" pitchFamily="18" charset="0"/>
              </a:rPr>
              <a:t>	Jibin C Basil</a:t>
            </a:r>
          </a:p>
          <a:p>
            <a:pPr algn="just"/>
            <a:endParaRPr lang="en-US" dirty="0"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E8320377-CF11-4C8B-B89B-491D1E6CA1B5}"/>
              </a:ext>
            </a:extLst>
          </p:cNvPr>
          <p:cNvSpPr txBox="1"/>
          <p:nvPr/>
        </p:nvSpPr>
        <p:spPr>
          <a:xfrm>
            <a:off x="6609016" y="4220269"/>
            <a:ext cx="42367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40602050305030304" pitchFamily="18" charset="0"/>
                <a:cs typeface="Times New Roman" panose="02020603050405020304" pitchFamily="18" charset="0"/>
              </a:rPr>
              <a:t>SUPERVISOR: </a:t>
            </a:r>
          </a:p>
          <a:p>
            <a:r>
              <a:rPr lang="en-US" sz="2000" b="1" dirty="0">
                <a:latin typeface="Times New Roman" panose="02040602050305030304" pitchFamily="18" charset="0"/>
                <a:cs typeface="Times New Roman" panose="02020603050405020304" pitchFamily="18" charset="0"/>
              </a:rPr>
              <a:t>	Chinn Mohanan</a:t>
            </a:r>
          </a:p>
          <a:p>
            <a:r>
              <a:rPr lang="en-US" sz="2000" dirty="0">
                <a:latin typeface="Times New Roman" panose="02040602050305030304" pitchFamily="18" charset="0"/>
                <a:cs typeface="Times New Roman" panose="02020603050405020304" pitchFamily="18" charset="0"/>
              </a:rPr>
              <a:t>	Assistant Professor</a:t>
            </a:r>
          </a:p>
          <a:p>
            <a:r>
              <a:rPr lang="en-US" sz="2000" dirty="0">
                <a:latin typeface="Times New Roman" panose="02040602050305030304" pitchFamily="18" charset="0"/>
                <a:cs typeface="Times New Roman" panose="02020603050405020304" pitchFamily="18" charset="0"/>
              </a:rPr>
              <a:t>	Department of Electronics 	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AD77E5-28F5-62F6-3A8D-E9B660C3320B}"/>
              </a:ext>
            </a:extLst>
          </p:cNvPr>
          <p:cNvSpPr txBox="1"/>
          <p:nvPr/>
        </p:nvSpPr>
        <p:spPr>
          <a:xfrm>
            <a:off x="201168" y="3429000"/>
            <a:ext cx="11567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F0000"/>
                </a:solidFill>
                <a:latin typeface="Times New Roman" panose="02040503050406030204" pitchFamily="18" charset="0"/>
                <a:ea typeface="Cambria" panose="02040503050406030204" pitchFamily="18" charset="0"/>
              </a:rPr>
              <a:t>PROJECT AREA : Edge AI, Embedded Systems, Mobile Robotics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417AF-BA4B-229B-83D2-339C1C18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057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F755-E080-9452-7B61-3DB6673E3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BB4E224-818F-3EAF-6BCF-2D5D08847DAE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5D2C9F-6F55-4FA9-DD41-CD39EB5119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4BC0A6-06A9-B620-43EA-9C5ECDD5116B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62E89A-98BB-3426-66BF-492DAD3A315C}"/>
              </a:ext>
            </a:extLst>
          </p:cNvPr>
          <p:cNvSpPr txBox="1">
            <a:spLocks/>
          </p:cNvSpPr>
          <p:nvPr/>
        </p:nvSpPr>
        <p:spPr>
          <a:xfrm>
            <a:off x="188976" y="903254"/>
            <a:ext cx="11814048" cy="51715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19A22F-306D-FF93-8663-3163D61A5B38}"/>
              </a:ext>
            </a:extLst>
          </p:cNvPr>
          <p:cNvSpPr txBox="1"/>
          <p:nvPr/>
        </p:nvSpPr>
        <p:spPr>
          <a:xfrm>
            <a:off x="548640" y="1051560"/>
            <a:ext cx="10881360" cy="5037789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In shared laboratory and workshop environments, tools, components and safety equipment move between many hands</a:t>
            </a:r>
            <a:r>
              <a:rPr lang="en-US" sz="1800" b="0" i="0" dirty="0">
                <a:latin typeface="Times New Roman"/>
              </a:rPr>
              <a:t>, </a:t>
            </a:r>
            <a:r>
              <a:rPr sz="1800" b="0" i="0" dirty="0">
                <a:latin typeface="Times New Roman"/>
              </a:rPr>
              <a:t>a multimeter borrowed from the electronics bench appears days later on a mechanical shelf; safety goggles vanish before an inspection; a soldering iron changes benches without a record.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Traditional solutions fall short: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CCTV records video but cannot answer spatial queries like "Where is the multimeter right now?"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RFID/Barcode needs tagging every item and reader infrastructure — discipline that rarely survives a busy semester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Manual inventory checks are infrequent, </a:t>
            </a:r>
            <a:r>
              <a:rPr sz="1800" b="0" i="0" dirty="0" err="1">
                <a:latin typeface="Times New Roman"/>
              </a:rPr>
              <a:t>labour-intensive</a:t>
            </a:r>
            <a:r>
              <a:rPr sz="1800" b="0" i="0" dirty="0">
                <a:latin typeface="Times New Roman"/>
              </a:rPr>
              <a:t> and error-prone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Commercial inspection robots (e.g. Spot) cost upwards of $75,000, depend on cloud connectivity, and target fixed-infrastructure inspection — not movable-asset recall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Our answer: </a:t>
            </a:r>
            <a:r>
              <a:rPr sz="1800" b="0" i="0" dirty="0">
                <a:latin typeface="Times New Roman"/>
              </a:rPr>
              <a:t>a fully offline, low-cost robot with persistent semantic memory</a:t>
            </a:r>
            <a:r>
              <a:rPr lang="en-US" dirty="0">
                <a:latin typeface="Times New Roman"/>
              </a:rPr>
              <a:t>-</a:t>
            </a:r>
            <a:r>
              <a:rPr sz="1800" b="0" i="0" dirty="0">
                <a:latin typeface="Times New Roman"/>
              </a:rPr>
              <a:t>recall where assets were last seen, verify them visually, and when an object is moved, run probabilistic active search to find it efficiently.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B6F06C-6411-6783-2089-21177300A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96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12FD-D1AE-5D16-AB19-E9CA8FF51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DB9F30D-2C8A-EFA4-878B-68CBC5D078B6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E93B39-065F-87DF-6631-6991D4AE2A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EB4BEA-5E97-FACB-727D-10650A23839E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TOPIC IDENTIFICATION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8B48BC-8FB0-DAAC-6659-E95826983779}"/>
              </a:ext>
            </a:extLst>
          </p:cNvPr>
          <p:cNvSpPr txBox="1"/>
          <p:nvPr/>
        </p:nvSpPr>
        <p:spPr>
          <a:xfrm>
            <a:off x="548640" y="1051560"/>
            <a:ext cx="10881360" cy="4360681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Combines Edge AI, Embedded Systems, and Mobile Robotics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Relevant to industrial automation, lab/workshop management, and safety compliance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Scope for simulation (Gazebo + ROS 2) now, real-world hardware deployment as funds land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Persistent semantic memory → </a:t>
            </a:r>
            <a:r>
              <a:rPr sz="1800" b="0" i="0" dirty="0" err="1">
                <a:latin typeface="Times New Roman"/>
              </a:rPr>
              <a:t>queryable</a:t>
            </a:r>
            <a:r>
              <a:rPr sz="1800" b="0" i="0" dirty="0">
                <a:latin typeface="Times New Roman"/>
              </a:rPr>
              <a:t> spatial knowledge across reboots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Probabilistic active search for moved objects using Bayesian belief over discrete zones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Natural-language/visual interaction via a companion phone app (offline)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Hybrid distributed compute: smartphone </a:t>
            </a:r>
            <a:r>
              <a:rPr sz="1800" b="0" i="0" dirty="0" err="1">
                <a:latin typeface="Times New Roman"/>
              </a:rPr>
              <a:t>ARCore</a:t>
            </a:r>
            <a:r>
              <a:rPr sz="1800" b="0" i="0" dirty="0">
                <a:latin typeface="Times New Roman"/>
              </a:rPr>
              <a:t> + local PC (RTX 4060) + ESP32 — no onboard Jetson, no cloud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Smartphone </a:t>
            </a:r>
            <a:r>
              <a:rPr sz="1800" b="0" i="0" dirty="0" err="1">
                <a:latin typeface="Times New Roman"/>
              </a:rPr>
              <a:t>ARCore</a:t>
            </a:r>
            <a:r>
              <a:rPr sz="1800" b="0" i="0" dirty="0">
                <a:latin typeface="Times New Roman"/>
              </a:rPr>
              <a:t> replaces expensive LiDAR for visual-inertial odometry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Two-phone design: sensing phone on the robot (data), interaction phone for the user (control + queries)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7F7045-5A4B-3AF4-92F3-7DF72B15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44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8421A-9C9E-4220-9651-88BDC87CB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0DE998-F151-461D-BE38-7D1C24A28A8D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OBJECTIVES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A4836F-BB08-4E96-BA68-FF0FC9981F8F}"/>
              </a:ext>
            </a:extLst>
          </p:cNvPr>
          <p:cNvSpPr txBox="1">
            <a:spLocks/>
          </p:cNvSpPr>
          <p:nvPr/>
        </p:nvSpPr>
        <p:spPr>
          <a:xfrm>
            <a:off x="188976" y="903254"/>
            <a:ext cx="11814048" cy="51715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5A41D-8F9D-1DCB-9B8E-6C370B97AA97}"/>
              </a:ext>
            </a:extLst>
          </p:cNvPr>
          <p:cNvSpPr txBox="1"/>
          <p:nvPr/>
        </p:nvSpPr>
        <p:spPr>
          <a:xfrm>
            <a:off x="548640" y="1051560"/>
            <a:ext cx="10881360" cy="3975960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1. </a:t>
            </a:r>
            <a:r>
              <a:rPr sz="1800" b="0" i="0" dirty="0">
                <a:latin typeface="Times New Roman"/>
              </a:rPr>
              <a:t>Build a reliable </a:t>
            </a:r>
            <a:r>
              <a:rPr sz="1800" b="1" i="0" dirty="0">
                <a:latin typeface="Times New Roman"/>
              </a:rPr>
              <a:t>2WD differential-drive mobile base</a:t>
            </a:r>
            <a:r>
              <a:rPr sz="1800" b="0" i="0" dirty="0">
                <a:latin typeface="Times New Roman"/>
              </a:rPr>
              <a:t> with fused </a:t>
            </a:r>
            <a:r>
              <a:rPr sz="1800" b="0" i="0" dirty="0" err="1">
                <a:latin typeface="Times New Roman"/>
              </a:rPr>
              <a:t>localisation</a:t>
            </a:r>
            <a:r>
              <a:rPr sz="1800" b="0" i="0" dirty="0">
                <a:latin typeface="Times New Roman"/>
              </a:rPr>
              <a:t> (</a:t>
            </a:r>
            <a:r>
              <a:rPr sz="1800" b="0" i="0" dirty="0" err="1">
                <a:latin typeface="Times New Roman"/>
              </a:rPr>
              <a:t>ARCore</a:t>
            </a:r>
            <a:r>
              <a:rPr sz="1800" b="0" i="0" dirty="0">
                <a:latin typeface="Times New Roman"/>
              </a:rPr>
              <a:t> VIO + optional wheel odometry + EKF) achieving </a:t>
            </a:r>
            <a:r>
              <a:rPr sz="1800" b="1" i="0" dirty="0">
                <a:latin typeface="Times New Roman"/>
              </a:rPr>
              <a:t>≤0.1 m pose accuracy</a:t>
            </a:r>
            <a:r>
              <a:rPr sz="1800" b="0" i="0" dirty="0">
                <a:latin typeface="Times New Roman"/>
              </a:rPr>
              <a:t> in a 5 m × 5 m room.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2. </a:t>
            </a:r>
            <a:r>
              <a:rPr sz="1800" b="0" i="0" dirty="0">
                <a:latin typeface="Times New Roman"/>
              </a:rPr>
              <a:t>Develop a </a:t>
            </a:r>
            <a:r>
              <a:rPr sz="1800" b="1" i="0" dirty="0">
                <a:latin typeface="Times New Roman"/>
              </a:rPr>
              <a:t>two-stage perception pipeline on the local PC</a:t>
            </a:r>
            <a:r>
              <a:rPr sz="1800" b="0" i="0" dirty="0">
                <a:latin typeface="Times New Roman"/>
              </a:rPr>
              <a:t>: continuous open-vocabulary detection (YOLO-World) + event-triggered VLM verification (Florence-2/</a:t>
            </a:r>
            <a:r>
              <a:rPr sz="1800" b="0" i="0" dirty="0" err="1">
                <a:latin typeface="Times New Roman"/>
              </a:rPr>
              <a:t>NanoLLaVA</a:t>
            </a:r>
            <a:r>
              <a:rPr sz="1800" b="0" i="0" dirty="0">
                <a:latin typeface="Times New Roman"/>
              </a:rPr>
              <a:t>) at keyframes — benchmarked against Grounding-DINO on an RTX 4060.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3. </a:t>
            </a:r>
            <a:r>
              <a:rPr sz="1800" b="0" i="0" dirty="0">
                <a:latin typeface="Times New Roman"/>
              </a:rPr>
              <a:t>Implement a </a:t>
            </a:r>
            <a:r>
              <a:rPr sz="1800" b="1" i="0" dirty="0">
                <a:latin typeface="Times New Roman"/>
              </a:rPr>
              <a:t>persistent semantic scene graph (JSON-backed)</a:t>
            </a:r>
            <a:r>
              <a:rPr sz="1800" b="0" i="0" dirty="0">
                <a:latin typeface="Times New Roman"/>
              </a:rPr>
              <a:t> storing per asset: unique ID, class, 3D position, timestamp, confidence, spatial relationships (on/inside/near), carrier associations — surviving power cycles.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4. </a:t>
            </a:r>
            <a:r>
              <a:rPr sz="1800" b="0" i="0" dirty="0">
                <a:latin typeface="Times New Roman"/>
              </a:rPr>
              <a:t>Enable </a:t>
            </a:r>
            <a:r>
              <a:rPr sz="1800" b="1" i="0" dirty="0">
                <a:latin typeface="Times New Roman"/>
              </a:rPr>
              <a:t>natural-language asset recall through the interaction phone app</a:t>
            </a:r>
            <a:r>
              <a:rPr sz="1800" b="0" i="0" dirty="0">
                <a:latin typeface="Times New Roman"/>
              </a:rPr>
              <a:t>: query → parse intent → navigate to last-known location → visually verify → report with bounding box + on-screen confirmation.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69CE29-2C4E-586A-CC76-D2FADB26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28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8C74E-6832-0042-6335-F211D0C2C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CE2418A-C937-8723-C401-7353D2CCBBD6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2FAC97-28DA-7727-C37B-0EC0E36249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31589C-7753-AEAC-0A05-6291BF3783A2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OBJECTIVES (Contd.)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7EDD6C-6E37-3CB1-4AAA-AA47488C1D4A}"/>
              </a:ext>
            </a:extLst>
          </p:cNvPr>
          <p:cNvSpPr txBox="1">
            <a:spLocks/>
          </p:cNvSpPr>
          <p:nvPr/>
        </p:nvSpPr>
        <p:spPr>
          <a:xfrm>
            <a:off x="188976" y="903254"/>
            <a:ext cx="11814048" cy="51715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7CAAC-E49A-3266-3A4F-8480532AE4AB}"/>
              </a:ext>
            </a:extLst>
          </p:cNvPr>
          <p:cNvSpPr txBox="1"/>
          <p:nvPr/>
        </p:nvSpPr>
        <p:spPr>
          <a:xfrm>
            <a:off x="548640" y="1051560"/>
            <a:ext cx="10881360" cy="3975960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5. </a:t>
            </a:r>
            <a:r>
              <a:rPr sz="1800" b="0" i="0" dirty="0">
                <a:latin typeface="Times New Roman"/>
              </a:rPr>
              <a:t>Implement </a:t>
            </a:r>
            <a:r>
              <a:rPr sz="1800" b="1" i="0" dirty="0">
                <a:latin typeface="Times New Roman"/>
              </a:rPr>
              <a:t>Bayesian active search</a:t>
            </a:r>
            <a:r>
              <a:rPr sz="1800" b="0" i="0" dirty="0">
                <a:latin typeface="Times New Roman"/>
              </a:rPr>
              <a:t> for moved/missing objects: probability over discrete candidate zones; updates from history, semantic, carrier priors and detection-failure-aware updates — production module </a:t>
            </a:r>
            <a:r>
              <a:rPr sz="1800" b="0" i="0" dirty="0" err="1">
                <a:latin typeface="Times New Roman"/>
              </a:rPr>
              <a:t>soma_brain</a:t>
            </a:r>
            <a:r>
              <a:rPr sz="1800" b="0" i="0" dirty="0">
                <a:latin typeface="Times New Roman"/>
              </a:rPr>
              <a:t>/, unit-tested.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6. </a:t>
            </a:r>
            <a:r>
              <a:rPr sz="1800" b="0" i="0" dirty="0">
                <a:latin typeface="Times New Roman"/>
              </a:rPr>
              <a:t>Demonstrate </a:t>
            </a:r>
            <a:r>
              <a:rPr sz="1800" b="1" i="0" dirty="0">
                <a:latin typeface="Times New Roman"/>
              </a:rPr>
              <a:t>three scenarios in a real lab/workshop (internet disabled)</a:t>
            </a:r>
            <a:r>
              <a:rPr sz="1800" b="0" i="0" dirty="0">
                <a:latin typeface="Times New Roman"/>
              </a:rPr>
              <a:t>: stationary tool recall · moved-object search · safety compliance inspection.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7. Quantify against four baselines</a:t>
            </a:r>
            <a:r>
              <a:rPr sz="1800" b="0" i="0" dirty="0">
                <a:latin typeface="Times New Roman"/>
              </a:rPr>
              <a:t> (random, nearest-zone, last-known-only, semantic-prior): success rate, time-to-find, path length, viewpoints visited, runtime (RAM, FPS, latency).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8. Two-phone human-robot interface</a:t>
            </a:r>
            <a:r>
              <a:rPr sz="1800" b="0" i="0" dirty="0">
                <a:latin typeface="Times New Roman"/>
              </a:rPr>
              <a:t>: on-robot phone (soma-app: VIO + stream) + user's interaction phone (queries, memory cards, heatmap); ultrasonic e-stop for close-range safety.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B84283-0FDC-A458-5FA5-2F132C210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37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BD713-4B47-9A9A-5314-6773337B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77C4B75-3028-782D-E965-BA7553E415D4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33C15-FD1C-6AAE-6D13-C640DAC32E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841E44-E848-4794-2172-0B7C2A892BB8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METHODOLOGY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9ABF678-AAAC-61DF-67A4-2EF3B094F96E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D781E4-706D-C97E-570F-F94FEF89BA6C}"/>
              </a:ext>
            </a:extLst>
          </p:cNvPr>
          <p:cNvSpPr txBox="1"/>
          <p:nvPr/>
        </p:nvSpPr>
        <p:spPr>
          <a:xfrm>
            <a:off x="548640" y="1051560"/>
            <a:ext cx="5806440" cy="4979825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1800" b="1" i="0" dirty="0">
                <a:latin typeface="Times New Roman"/>
              </a:rPr>
              <a:t>Literature survey &amp; problem formulation — </a:t>
            </a:r>
            <a:r>
              <a:rPr sz="1800" b="0" i="0" dirty="0">
                <a:latin typeface="Times New Roman"/>
              </a:rPr>
              <a:t>semantic mapping, scene graphs, probabilistic search and edge AI studied (25+ papers); the offline asset-recall problem and research gap are defined. Done.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1800" b="1" i="0" dirty="0">
                <a:latin typeface="Times New Roman"/>
              </a:rPr>
              <a:t>Hybrid architecture (locked with guide, 08-Sep-2026) — </a:t>
            </a:r>
            <a:r>
              <a:rPr sz="1800" b="0" i="0" dirty="0">
                <a:latin typeface="Times New Roman"/>
              </a:rPr>
              <a:t>sensing phone → local PC (ROS 2, RTX 4060) → ESP32 (micro-ROS). No onboard Jetson, no cloud; the robot carries control and sensing only.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1800" b="1" i="0" dirty="0">
                <a:latin typeface="Times New Roman"/>
              </a:rPr>
              <a:t>Phased plan — </a:t>
            </a:r>
            <a:r>
              <a:rPr sz="1800" b="0" i="0" dirty="0">
                <a:latin typeface="Times New Roman"/>
              </a:rPr>
              <a:t>M2a: static pan-tilt bench rig </a:t>
            </a:r>
            <a:r>
              <a:rPr sz="1800" b="0" i="0">
                <a:latin typeface="Times New Roman"/>
              </a:rPr>
              <a:t>now (demo</a:t>
            </a:r>
            <a:r>
              <a:rPr sz="1800" b="0" i="0" dirty="0">
                <a:latin typeface="Times New Roman"/>
              </a:rPr>
              <a:t>, ≈₹4,600); M2b: mobile base later. Perception, memory, search and dashboard are identical in both phases — no throwaway work.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1800" b="1" i="0" dirty="0">
                <a:latin typeface="Times New Roman"/>
              </a:rPr>
              <a:t>Hardware platform — </a:t>
            </a:r>
            <a:r>
              <a:rPr sz="1800" b="0" i="0" dirty="0">
                <a:latin typeface="Times New Roman"/>
              </a:rPr>
              <a:t>hexagonal two-level chassis (CAD complete), 2WD + front castor, 65 mm wheels, phone on MG995 tilt sweep, TB6612FNG + ESP32, 3S LiPo.</a:t>
            </a:r>
          </a:p>
        </p:txBody>
      </p:sp>
      <p:pic>
        <p:nvPicPr>
          <p:cNvPr id="11" name="Picture 10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554480"/>
            <a:ext cx="4983480" cy="32967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60" y="493776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1">
                <a:solidFill>
                  <a:srgbClr val="555555"/>
                </a:solidFill>
                <a:latin typeface="Times New Roman"/>
              </a:rPr>
              <a:t>Hybrid pipeline: sensing phone → ROS 2 PC → ESP32 (no Jetson, no cloud)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CFB2E-5C5D-E40D-98A2-16AB5A4F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252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A0624-18B0-A854-D45C-1970F550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22A4467-BC06-68BC-E5F3-3B6142490415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AC995E-0101-B2FA-900D-2FD5954081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C0687D-C636-0D6C-F794-143F665F7FF1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METHODOLOGY (Contd.)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BF0C02-0CDD-D4CA-182B-45DDDDD32C0F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1C9B7-244B-81BC-BC89-07085A360EEA}"/>
              </a:ext>
            </a:extLst>
          </p:cNvPr>
          <p:cNvSpPr txBox="1"/>
          <p:nvPr/>
        </p:nvSpPr>
        <p:spPr>
          <a:xfrm>
            <a:off x="548640" y="1051560"/>
            <a:ext cx="10881360" cy="4079835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Perception (local PC) — </a:t>
            </a:r>
            <a:r>
              <a:rPr sz="1800" b="0" i="0" dirty="0">
                <a:latin typeface="Times New Roman"/>
              </a:rPr>
              <a:t>benchmark YOLO-World vs Florence-2 vs Grounding-DINO (</a:t>
            </a:r>
            <a:r>
              <a:rPr sz="1800" b="0" i="0" dirty="0" err="1">
                <a:latin typeface="Times New Roman"/>
              </a:rPr>
              <a:t>mAP</a:t>
            </a:r>
            <a:r>
              <a:rPr sz="1800" b="0" i="0" dirty="0">
                <a:latin typeface="Times New Roman"/>
              </a:rPr>
              <a:t>/FPS/RAM) on a lab-object dataset → select the two-stage </a:t>
            </a:r>
            <a:r>
              <a:rPr sz="1800" b="0" i="0" dirty="0" err="1">
                <a:latin typeface="Times New Roman"/>
              </a:rPr>
              <a:t>detect+verify</a:t>
            </a:r>
            <a:r>
              <a:rPr sz="1800" b="0" i="0" dirty="0">
                <a:latin typeface="Times New Roman"/>
              </a:rPr>
              <a:t> pipeline.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Semantic memory &amp; Bayesian search — </a:t>
            </a:r>
            <a:r>
              <a:rPr sz="1800" b="0" i="0" dirty="0">
                <a:latin typeface="Times New Roman"/>
              </a:rPr>
              <a:t>scene-graph schema + JSON persistence; </a:t>
            </a:r>
            <a:r>
              <a:rPr sz="1800" b="0" i="0" dirty="0" err="1">
                <a:latin typeface="Times New Roman"/>
              </a:rPr>
              <a:t>soma_brain</a:t>
            </a:r>
            <a:r>
              <a:rPr sz="1800" b="0" i="0" dirty="0">
                <a:latin typeface="Times New Roman"/>
              </a:rPr>
              <a:t>/ production module (2D probability grid, conical sensor model, NBV planner) — 12 </a:t>
            </a:r>
            <a:r>
              <a:rPr sz="1800" b="0" i="0" dirty="0" err="1">
                <a:latin typeface="Times New Roman"/>
              </a:rPr>
              <a:t>pytest</a:t>
            </a:r>
            <a:r>
              <a:rPr sz="1800" b="0" i="0" dirty="0">
                <a:latin typeface="Times New Roman"/>
              </a:rPr>
              <a:t> invariants passing.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Navigation &amp; executive — </a:t>
            </a:r>
            <a:r>
              <a:rPr sz="1800" b="0" i="0" dirty="0">
                <a:latin typeface="Times New Roman"/>
              </a:rPr>
              <a:t>Gazebo simulation first, then real: EKF fuses VIO (+ optional wheel </a:t>
            </a:r>
            <a:r>
              <a:rPr sz="1800" b="0" i="0" dirty="0" err="1">
                <a:latin typeface="Times New Roman"/>
              </a:rPr>
              <a:t>odom</a:t>
            </a:r>
            <a:r>
              <a:rPr sz="1800" b="0" i="0" dirty="0">
                <a:latin typeface="Times New Roman"/>
              </a:rPr>
              <a:t>); Nav2 + BehaviorTree.CPP for recall → verify → search with failure handling.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Validation — </a:t>
            </a:r>
            <a:r>
              <a:rPr sz="1800" b="0" i="0" dirty="0">
                <a:latin typeface="Times New Roman"/>
              </a:rPr>
              <a:t>sim → lab </a:t>
            </a:r>
            <a:r>
              <a:rPr sz="1800" b="0" i="0" dirty="0" err="1">
                <a:latin typeface="Times New Roman"/>
              </a:rPr>
              <a:t>rosbags</a:t>
            </a:r>
            <a:r>
              <a:rPr sz="1800" b="0" i="0" dirty="0">
                <a:latin typeface="Times New Roman"/>
              </a:rPr>
              <a:t> → real trials; metrics vs 4 baselines; demo with internet disabled.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D0242-9FF8-1BEF-372D-19161972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527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BB4E224-818F-3EAF-6BCF-2D5D08847DAE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5D2C9F-6F55-4FA9-DD41-CD39EB5119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137160"/>
            <a:ext cx="3246658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FF0000"/>
                </a:solidFill>
                <a:latin typeface="Times New Roman"/>
              </a:rPr>
              <a:t>THE</a:t>
            </a:r>
            <a:r>
              <a:rPr lang="en-US" sz="4000" b="1" dirty="0">
                <a:solidFill>
                  <a:srgbClr val="FF0000"/>
                </a:solidFill>
                <a:latin typeface="Times New Roman"/>
              </a:rPr>
              <a:t> </a:t>
            </a:r>
            <a:r>
              <a:rPr lang="en-US" sz="4000" b="1">
                <a:solidFill>
                  <a:srgbClr val="FF0000"/>
                </a:solidFill>
                <a:latin typeface="Times New Roman"/>
              </a:rPr>
              <a:t>MODEL </a:t>
            </a:r>
            <a:endParaRPr sz="4000" b="1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051560"/>
            <a:ext cx="10881360" cy="197387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MECHANICAL PLATFORM — </a:t>
            </a:r>
            <a:r>
              <a:rPr sz="1800" b="0" i="0" dirty="0">
                <a:latin typeface="Times New Roman"/>
              </a:rPr>
              <a:t>SOLIDWORKS assembly complete: hexagonal two-level chassis, 2WD + front castor, 65 mm wheels; top deck: phone on MG995 tilt sweep; component deck: ESP32, TB6612FNG, buck, 3S LiPo.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VERIFIED BY ANALYSIS — </a:t>
            </a:r>
            <a:r>
              <a:rPr sz="1800" b="0" i="0" dirty="0">
                <a:latin typeface="Times New Roman"/>
              </a:rPr>
              <a:t>1.27× drive-torque margin at 3 kg and 6.9× servo margin (docs/mechanical/rationale.md).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SOFTWARE TWIN — </a:t>
            </a:r>
            <a:r>
              <a:rPr sz="1800" b="0" i="0" dirty="0">
                <a:latin typeface="Times New Roman"/>
              </a:rPr>
              <a:t>assembly exported to </a:t>
            </a:r>
            <a:r>
              <a:rPr sz="1800" b="0" i="0" dirty="0" err="1">
                <a:latin typeface="Times New Roman"/>
              </a:rPr>
              <a:t>assembled.</a:t>
            </a:r>
            <a:r>
              <a:rPr lang="en-US" sz="1800" b="0" i="0" dirty="0" err="1">
                <a:latin typeface="Times New Roman"/>
              </a:rPr>
              <a:t>sldasm</a:t>
            </a:r>
            <a:r>
              <a:rPr sz="1800" b="0" i="0" dirty="0">
                <a:latin typeface="Times New Roman"/>
              </a:rPr>
              <a:t> + 6 renders + PDF report; </a:t>
            </a:r>
            <a:r>
              <a:rPr sz="1800" b="0" i="0" dirty="0" err="1">
                <a:latin typeface="Times New Roman"/>
              </a:rPr>
              <a:t>soma_description</a:t>
            </a:r>
            <a:r>
              <a:rPr sz="1800" b="0" i="0" dirty="0">
                <a:latin typeface="Times New Roman"/>
              </a:rPr>
              <a:t> URDF mirrors the CAD and loads in </a:t>
            </a:r>
            <a:r>
              <a:rPr sz="1800" b="0" i="0" dirty="0" err="1">
                <a:latin typeface="Times New Roman"/>
              </a:rPr>
              <a:t>RViz</a:t>
            </a:r>
            <a:r>
              <a:rPr sz="1800" b="0" i="0" dirty="0">
                <a:latin typeface="Times New Roman"/>
              </a:rPr>
              <a:t>.</a:t>
            </a:r>
          </a:p>
        </p:txBody>
      </p:sp>
      <p:pic>
        <p:nvPicPr>
          <p:cNvPr id="13" name="Picture 12" descr="complete_assemb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969" y="3071257"/>
            <a:ext cx="3503676" cy="3017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3419" y="6088777"/>
            <a:ext cx="35036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1" dirty="0">
                <a:solidFill>
                  <a:srgbClr val="555555"/>
                </a:solidFill>
                <a:latin typeface="Times New Roman"/>
              </a:rPr>
              <a:t>CAD assembly — </a:t>
            </a:r>
            <a:r>
              <a:rPr sz="1100" i="1" dirty="0" err="1">
                <a:solidFill>
                  <a:srgbClr val="555555"/>
                </a:solidFill>
                <a:latin typeface="Times New Roman"/>
              </a:rPr>
              <a:t>assembled.SLDASM</a:t>
            </a:r>
            <a:endParaRPr sz="1100" i="1" dirty="0">
              <a:solidFill>
                <a:srgbClr val="555555"/>
              </a:solidFill>
              <a:latin typeface="Times New Roman"/>
            </a:endParaRPr>
          </a:p>
        </p:txBody>
      </p:sp>
      <p:pic>
        <p:nvPicPr>
          <p:cNvPr id="15" name="Picture 14" descr="complete_phone_assemb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2998669"/>
            <a:ext cx="5914517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84064" y="6088777"/>
            <a:ext cx="591451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1" dirty="0">
                <a:solidFill>
                  <a:srgbClr val="555555"/>
                </a:solidFill>
                <a:latin typeface="Times New Roman"/>
              </a:rPr>
              <a:t>Phone holder + MG995 tilt (render)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420B31-F3DC-94C2-3FFC-E736303B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BB4E224-818F-3EAF-6BCF-2D5D08847DAE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5D2C9F-6F55-4FA9-DD41-CD39EB5119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INTERACTIVE 3D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143000"/>
            <a:ext cx="10881360" cy="4709160"/>
          </a:xfrm>
          <a:prstGeom prst="roundRect">
            <a:avLst/>
          </a:prstGeom>
          <a:solidFill>
            <a:schemeClr val="tx1"/>
          </a:solidFill>
          <a:ln w="12700">
            <a:solidFill>
              <a:srgbClr val="8FA0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932613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 dirty="0">
                <a:solidFill>
                  <a:srgbClr val="3A4452"/>
                </a:solidFill>
                <a:latin typeface="Times New Roman"/>
              </a:rPr>
              <a:t>Live 3D — drag to rotate, scroll to zoom during the presentation.  Source: docs/mechanical/</a:t>
            </a:r>
            <a:r>
              <a:rPr sz="1500" b="0" i="1" dirty="0" err="1">
                <a:solidFill>
                  <a:srgbClr val="3A4452"/>
                </a:solidFill>
                <a:latin typeface="Times New Roman"/>
              </a:rPr>
              <a:t>assembled.glb</a:t>
            </a:r>
            <a:r>
              <a:rPr sz="1500" b="0" i="1" dirty="0">
                <a:solidFill>
                  <a:srgbClr val="3A4452"/>
                </a:solidFill>
                <a:latin typeface="Times New Roman"/>
              </a:rPr>
              <a:t> (SolidWorks export)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Robot3D">
                <a:extLst>
                  <a:ext uri="{FF2B5EF4-FFF2-40B4-BE49-F238E27FC236}">
                    <a16:creationId xmlns:a16="http://schemas.microsoft.com/office/drawing/2014/main" id="{EA8B1FA9-4EEF-A707-CA1A-9C92AAC8C7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6572207"/>
                  </p:ext>
                </p:extLst>
              </p:nvPr>
            </p:nvGraphicFramePr>
            <p:xfrm>
              <a:off x="3927319" y="1368455"/>
              <a:ext cx="4124001" cy="412109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124001" cy="4121090"/>
                    </a:xfrm>
                    <a:prstGeom prst="rect">
                      <a:avLst/>
                    </a:prstGeom>
                  </am3d:spPr>
                  <am3d:camera>
                    <am3d:pos x="0" y="0" z="754068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38555" d="1000000"/>
                    <am3d:preTrans dx="-82520988" dy="-110249828" dz="-133523377"/>
                    <am3d:scale>
                      <am3d:sx n="1000000" d="1000000"/>
                      <am3d:sy n="1000000" d="1000000"/>
                      <am3d:sz n="1000000" d="1000000"/>
                    </am3d:scale>
                    <am3d:rot ax="10453289" ay="859833" az="1071393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68240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Robot3D">
                <a:extLst>
                  <a:ext uri="{FF2B5EF4-FFF2-40B4-BE49-F238E27FC236}">
                    <a16:creationId xmlns:a16="http://schemas.microsoft.com/office/drawing/2014/main" id="{EA8B1FA9-4EEF-A707-CA1A-9C92AAC8C7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7319" y="1368455"/>
                <a:ext cx="4124001" cy="412109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09928-8D89-5C6B-15FA-579E938E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08A9-45BE-B8BC-A37B-4FD463025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B2C1E28-39AE-6BBC-EB11-744F9D9C614E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F7B652-696C-55B5-05D8-233BD4AF1E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C6CCBC-6E93-6A6F-2C98-F934EE29697D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RESEARCH GAP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9E529A-10DE-4630-99C3-5506DCE58183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0C1AF-6F38-80B4-4DA8-0078921E849B}"/>
              </a:ext>
            </a:extLst>
          </p:cNvPr>
          <p:cNvSpPr txBox="1"/>
          <p:nvPr/>
        </p:nvSpPr>
        <p:spPr>
          <a:xfrm>
            <a:off x="548640" y="1051560"/>
            <a:ext cx="10881360" cy="3868238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Existing research (from literature survey):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Semantic mapping extensively studied for robot navigation (</a:t>
            </a:r>
            <a:r>
              <a:rPr sz="1800" b="0" i="0" dirty="0" err="1">
                <a:latin typeface="Times New Roman"/>
              </a:rPr>
              <a:t>VLMaps</a:t>
            </a:r>
            <a:r>
              <a:rPr sz="1800" b="0" i="0" dirty="0">
                <a:latin typeface="Times New Roman"/>
              </a:rPr>
              <a:t>, </a:t>
            </a:r>
            <a:r>
              <a:rPr sz="1800" b="0" i="0" dirty="0" err="1">
                <a:latin typeface="Times New Roman"/>
              </a:rPr>
              <a:t>ConceptFusion</a:t>
            </a:r>
            <a:r>
              <a:rPr sz="1800" b="0" i="0" dirty="0">
                <a:latin typeface="Times New Roman"/>
              </a:rPr>
              <a:t>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3D scene graphs with open-vocabulary objects demonstrated (</a:t>
            </a:r>
            <a:r>
              <a:rPr sz="1800" b="0" i="0" dirty="0" err="1">
                <a:latin typeface="Times New Roman"/>
              </a:rPr>
              <a:t>ConceptGraphs</a:t>
            </a:r>
            <a:r>
              <a:rPr sz="1800" b="0" i="0" dirty="0">
                <a:latin typeface="Times New Roman"/>
              </a:rPr>
              <a:t>, </a:t>
            </a:r>
            <a:r>
              <a:rPr sz="1800" b="0" i="0" dirty="0" err="1">
                <a:latin typeface="Times New Roman"/>
              </a:rPr>
              <a:t>DovSG</a:t>
            </a:r>
            <a:r>
              <a:rPr sz="1800" b="0" i="0" dirty="0">
                <a:latin typeface="Times New Roman"/>
              </a:rPr>
              <a:t>, HOV-SG)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Dynamic object tracking via carrier relationships proposed (</a:t>
            </a:r>
            <a:r>
              <a:rPr sz="1800" b="0" i="0" dirty="0" err="1">
                <a:latin typeface="Times New Roman"/>
              </a:rPr>
              <a:t>OpenObject</a:t>
            </a:r>
            <a:r>
              <a:rPr sz="1800" b="0" i="0" dirty="0">
                <a:latin typeface="Times New Roman"/>
              </a:rPr>
              <a:t>-NAV, </a:t>
            </a:r>
            <a:r>
              <a:rPr sz="1800" b="0" i="0" dirty="0" err="1">
                <a:latin typeface="Times New Roman"/>
              </a:rPr>
              <a:t>DovSG</a:t>
            </a:r>
            <a:r>
              <a:rPr sz="1800" b="0" i="0" dirty="0">
                <a:latin typeface="Times New Roman"/>
              </a:rPr>
              <a:t>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Probabilistic/active search with semantic priors validated (ZAVIS, SEEK, L3MVN)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Simulation-based training widely used to reduce cost/risk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Industrial inspection robots prove commercial value (</a:t>
            </a:r>
            <a:r>
              <a:rPr sz="1800" b="0" i="0" dirty="0" err="1">
                <a:latin typeface="Times New Roman"/>
              </a:rPr>
              <a:t>AutoInspect</a:t>
            </a:r>
            <a:r>
              <a:rPr sz="1800" b="0" i="0" dirty="0">
                <a:latin typeface="Times New Roman"/>
              </a:rPr>
              <a:t>, Spot, </a:t>
            </a:r>
            <a:r>
              <a:rPr sz="1800" b="0" i="0" dirty="0" err="1">
                <a:latin typeface="Times New Roman"/>
              </a:rPr>
              <a:t>Simbe</a:t>
            </a:r>
            <a:r>
              <a:rPr sz="1800" b="0" i="0" dirty="0">
                <a:latin typeface="Times New Roman"/>
              </a:rPr>
              <a:t> Tally)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Edge-optimized models enable on-device VLM inference (YOLO-World, Florence-2, </a:t>
            </a:r>
            <a:r>
              <a:rPr sz="1800" b="0" i="0" dirty="0" err="1">
                <a:latin typeface="Times New Roman"/>
              </a:rPr>
              <a:t>NanoLLaVA</a:t>
            </a:r>
            <a:r>
              <a:rPr sz="1800" b="0" i="0" dirty="0">
                <a:latin typeface="Times New Roman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75B3F1-BAF8-502A-5AE9-A62AC2F96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390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BFEB-4ECF-B93C-B547-721C6625C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1208E89-7BD0-3DF5-A2F5-3E486B438C0C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187C8E-314D-3FF2-F9B0-DEE2C5617F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E2EC56-DF74-366E-0CC6-4EBB00948A28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RESEARCH GAP (Contd.)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8BC053-97BE-F614-6423-ACFE1B92AE08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14D83-C60D-A519-1250-355FA3305B14}"/>
              </a:ext>
            </a:extLst>
          </p:cNvPr>
          <p:cNvSpPr txBox="1"/>
          <p:nvPr/>
        </p:nvSpPr>
        <p:spPr>
          <a:xfrm>
            <a:off x="548640" y="1051560"/>
            <a:ext cx="10881360" cy="4283737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Identified Gap: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No existing system integrates ALL FIVE of the following: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1.  Persistent object-level semantic memory (survives power cycles, </a:t>
            </a:r>
            <a:r>
              <a:rPr sz="1800" b="0" i="0" dirty="0" err="1">
                <a:latin typeface="Times New Roman"/>
              </a:rPr>
              <a:t>queryable</a:t>
            </a:r>
            <a:r>
              <a:rPr sz="1800" b="0" i="0" dirty="0">
                <a:latin typeface="Times New Roman"/>
              </a:rPr>
              <a:t> across sessions)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2.  Bayesian active search for moved/missing objects (belief updates with semantic priors + carrier relationships)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3.  Fully offline operation on a </a:t>
            </a:r>
            <a:r>
              <a:rPr sz="1800" b="1" i="0" dirty="0">
                <a:latin typeface="Times New Roman"/>
              </a:rPr>
              <a:t>sub-₹8,000 robot</a:t>
            </a:r>
            <a:r>
              <a:rPr sz="1800" b="0" i="0" dirty="0">
                <a:latin typeface="Times New Roman"/>
              </a:rPr>
              <a:t> (phones student-owned)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4.  Without LiDAR or depth cameras (smartphone </a:t>
            </a:r>
            <a:r>
              <a:rPr sz="1800" b="0" i="0" dirty="0" err="1">
                <a:latin typeface="Times New Roman"/>
              </a:rPr>
              <a:t>ARCore</a:t>
            </a:r>
            <a:r>
              <a:rPr sz="1800" b="0" i="0" dirty="0">
                <a:latin typeface="Times New Roman"/>
              </a:rPr>
              <a:t> only)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5.  In a real shared lab/workshop environment (not simulation)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Specific gap: </a:t>
            </a:r>
            <a:r>
              <a:rPr sz="1800" b="0" i="0" dirty="0">
                <a:latin typeface="Times New Roman"/>
              </a:rPr>
              <a:t>No work demonstrates a low-cost, fully offline, mobile semantic asset-recall system for small shared workspaces where objects are movable, untagged, and visually identified without cloud AI, RFID, or LiDAR.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2A95A3-64E4-7B27-0686-CCAFB32F8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121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66BF-FF08-55FE-0C84-3A2CAA62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53EA8EB-FB27-C55A-5EE9-B7B0E56DA991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EEC25-7834-365D-8828-337E048184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0EBF3F-4424-BEC4-9922-C799E5E3094C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C04F0D-A794-553D-077E-0619D9C9F058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051560"/>
          <a:ext cx="10881360" cy="457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3056517239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4009051075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88751308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TITLE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ABOUT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REFERENCE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0946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b="1" i="0">
                          <a:latin typeface="Times New Roman"/>
                        </a:rPr>
                        <a:t>VLMaps</a:t>
                      </a:r>
                      <a:endParaRPr lang="en-US" sz="1600" b="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latin typeface="Times New Roman"/>
                        </a:rPr>
                        <a:t>Constructs 3D semantic maps by fusing VLM features into a volumetric or point-based map representation.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latin typeface="Times New Roman"/>
                        </a:rPr>
                        <a:t>Huang et al., ICRA 2023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42372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 dirty="0" err="1">
                          <a:latin typeface="Times New Roman"/>
                        </a:rPr>
                        <a:t>ConceptGraphs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latin typeface="Times New Roman"/>
                        </a:rPr>
                        <a:t>Builds open-vocabulary 3D scene graphs where nodes are object instances with CLIP embeddings and edges encode spatial/semantic relationships.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latin typeface="Times New Roman"/>
                        </a:rPr>
                        <a:t>Gu et al., ICRA 2024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84246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b="1" i="0">
                          <a:latin typeface="Times New Roman"/>
                        </a:rPr>
                        <a:t>DovSG</a:t>
                      </a:r>
                      <a:endParaRPr lang="en-US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latin typeface="Times New Roman"/>
                        </a:rPr>
                        <a:t>Addresses long-term robotic operation by maintaining a dynamic 3D scene graph that incrementally updates as the environment changes.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 dirty="0">
                          <a:latin typeface="Times New Roman"/>
                        </a:rPr>
                        <a:t>Zhu et al., RA-L 2025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20572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AF4DE-2E35-9C29-FA93-DC8A7A58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958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A1415-5EE8-44DA-3522-D0D4FAA0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BD8AFB0-446A-86F2-5B33-05CD00EA7F53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A1A5D2-2222-8ED7-88BB-813F6B7B3D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B1D6EC-F3E1-FEFC-FDB1-2A4D1D8B81BE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LITERATURE SURVEY (Contd.)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99461D-5806-651B-A34F-C747D76A3470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051560"/>
          <a:ext cx="10881360" cy="457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3056517239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4009051075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88751308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TITLE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ABOUT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REFERENCE</a:t>
                      </a:r>
                      <a:endParaRPr lang="en-IN" sz="20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0946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b="1" i="0">
                          <a:latin typeface="Times New Roman"/>
                        </a:rPr>
                        <a:t>SEEK</a:t>
                      </a:r>
                      <a:endParaRPr lang="en-US" sz="1600" b="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latin typeface="Times New Roman"/>
                        </a:rPr>
                        <a:t>Proposes a semantic reasoning framework for object search that combines LLMs with scene graphs.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latin typeface="Times New Roman"/>
                        </a:rPr>
                        <a:t>Ginting et al., RSS 2024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42372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latin typeface="Times New Roman"/>
                        </a:rPr>
                        <a:t>Open Scene Graphs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latin typeface="Times New Roman"/>
                        </a:rPr>
                        <a:t>Introduces a persistent, open-vocabulary 3D scene graph as long-term semantic memory for navigation.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latin typeface="Times New Roman"/>
                        </a:rPr>
                        <a:t>Loo et al., IJRR 2024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84246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b="1" i="0">
                          <a:latin typeface="Times New Roman"/>
                        </a:rPr>
                        <a:t>YOLO-World / Florence-2</a:t>
                      </a:r>
                      <a:endParaRPr lang="en-US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latin typeface="Times New Roman"/>
                        </a:rPr>
                        <a:t>YOLO-World: Real-time open-vocabulary detection using vision-language pre-training; accepts text prompts at inference to detect arbitrary classes without retraining.</a:t>
                      </a:r>
                      <a:endParaRPr lang="en-IN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latin typeface="Times New Roman"/>
                        </a:rPr>
                        <a:t>Cheng et al., CVPR 2024 / Xiao et al., 2023</a:t>
                      </a:r>
                      <a:endParaRPr lang="en-IN" sz="16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20572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59346-A6A0-0FA7-2E17-439CAEF2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35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FB78A-E9F8-F79B-00FF-F1A6D10B9841}"/>
              </a:ext>
            </a:extLst>
          </p:cNvPr>
          <p:cNvSpPr txBox="1"/>
          <p:nvPr/>
        </p:nvSpPr>
        <p:spPr>
          <a:xfrm>
            <a:off x="566928" y="967113"/>
            <a:ext cx="10881360" cy="5790303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Focus: </a:t>
            </a:r>
            <a:r>
              <a:rPr sz="1800" b="0" i="0" dirty="0">
                <a:latin typeface="Times New Roman"/>
              </a:rPr>
              <a:t>an offline semantic asset-recall system on a low-cost mobile robot, evaluated in a real laboratory, with persistent memory, probabilistic moved-object search and phone-based interaction — fully offline (hybrid PC, no cloud, no LiDAR) on a ≈₹7,400 robot.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PROJECT CONTRIBUTIONS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1. Ultra-low-cost offline architecture — </a:t>
            </a:r>
            <a:r>
              <a:rPr sz="1800" b="0" i="0" dirty="0">
                <a:latin typeface="Times New Roman"/>
              </a:rPr>
              <a:t>complete robot ≈₹7,400 (rig ₹4,600 + base ₹2,790) + two student-owned phones; </a:t>
            </a:r>
            <a:r>
              <a:rPr sz="1800" b="0" i="0" dirty="0" err="1">
                <a:latin typeface="Times New Roman"/>
              </a:rPr>
              <a:t>ARCore</a:t>
            </a:r>
            <a:r>
              <a:rPr sz="1800" b="0" i="0" dirty="0">
                <a:latin typeface="Times New Roman"/>
              </a:rPr>
              <a:t> VIO replaces LiDAR; compute on the lab PC.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2. Persistent semantic scene graph — </a:t>
            </a:r>
            <a:r>
              <a:rPr sz="1800" b="0" i="0" dirty="0">
                <a:latin typeface="Times New Roman"/>
              </a:rPr>
              <a:t>JSON-backed object-level memory (identity, 3D location, timestamp, confidence, relations, carriers), survives reboots.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3. Benchmark-driven edge perception — </a:t>
            </a:r>
            <a:r>
              <a:rPr sz="1800" b="0" i="0" dirty="0">
                <a:latin typeface="Times New Roman"/>
              </a:rPr>
              <a:t>YOLO-World vs Florence-2 vs Grounding-DINO on real lab data → two-stage </a:t>
            </a:r>
            <a:r>
              <a:rPr sz="1800" b="0" i="0" dirty="0" err="1">
                <a:latin typeface="Times New Roman"/>
              </a:rPr>
              <a:t>detect+verify</a:t>
            </a:r>
            <a:r>
              <a:rPr sz="1800" b="0" i="0" dirty="0">
                <a:latin typeface="Times New Roman"/>
              </a:rPr>
              <a:t> pipeline sized for the RTX 4060.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4. Bayesian active search engine — </a:t>
            </a:r>
            <a:r>
              <a:rPr sz="1800" b="0" i="0" dirty="0">
                <a:latin typeface="Times New Roman"/>
              </a:rPr>
              <a:t>discrete-zone belief with history/semantic/carrier priors, failure-aware updates, explainable log — shipped as tested module </a:t>
            </a:r>
            <a:r>
              <a:rPr sz="1800" b="0" i="0" dirty="0" err="1">
                <a:latin typeface="Times New Roman"/>
              </a:rPr>
              <a:t>soma_brain</a:t>
            </a:r>
            <a:r>
              <a:rPr sz="1800" b="0" i="0" dirty="0">
                <a:latin typeface="Times New Roman"/>
              </a:rPr>
              <a:t>/ (12/12 tests).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5. Two-phone human-robot interface — </a:t>
            </a:r>
            <a:r>
              <a:rPr sz="1800" b="0" i="0" dirty="0">
                <a:latin typeface="Times New Roman"/>
              </a:rPr>
              <a:t>sensing phone on the robot + interaction phone app (queries, memory cards, heatmap); no cloud, no extra display/mic/speaker hardware.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6. End-to-end real-world validation — </a:t>
            </a:r>
            <a:r>
              <a:rPr sz="1800" b="0" i="0" dirty="0">
                <a:latin typeface="Times New Roman"/>
              </a:rPr>
              <a:t>three demo scenarios, quantitative comparison vs 4 baselines, internet disabled.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1" dirty="0">
                <a:latin typeface="Times New Roman"/>
              </a:rPr>
              <a:t>Future scope (not committed): optional cloud offload for heavier VLMs, LiDAR/encoder upgrades, voice interaction.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31D28-12C7-CE2F-8691-9BF7F57E2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PROPOSED FOCUS &amp; CONTRIBUTIONS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0CBE9D-F4EB-5180-EF8E-831B925C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95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2E53-6700-297D-840E-712F1B7A7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0D6F762-F432-07F8-D1FC-0F6A216F5E2E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1F4A39-D8F3-EB32-3F0D-9348FB217E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30CAE2-9704-4A3A-1CE2-73D0B83C9289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PROJECT EVOLUTION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3864FE9-325A-D574-03EF-4903E153A363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38EDB-C876-AB0B-4FE3-C89C0B2E594F}"/>
              </a:ext>
            </a:extLst>
          </p:cNvPr>
          <p:cNvSpPr txBox="1"/>
          <p:nvPr/>
        </p:nvSpPr>
        <p:spPr>
          <a:xfrm>
            <a:off x="438912" y="822527"/>
            <a:ext cx="5989320" cy="553382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WHERE WE STARTED (Zeroth + First Review, Aug–Sep 2026)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 dirty="0">
                <a:latin typeface="Times New Roman"/>
              </a:rPr>
              <a:t>Fully autonomous 4WD bot, onboard Jetson Orin Nano, 100 mm wheels, BTS7960 ×2, 4S 5000 </a:t>
            </a:r>
            <a:r>
              <a:rPr sz="1800" b="0" i="0" dirty="0" err="1">
                <a:latin typeface="Times New Roman"/>
              </a:rPr>
              <a:t>mAh</a:t>
            </a:r>
            <a:r>
              <a:rPr sz="1800" b="0" i="0" dirty="0">
                <a:latin typeface="Times New Roman"/>
              </a:rPr>
              <a:t> LiPo, 7″ touchscreen + 4-mic array — draft BOM ₹43,000–52,000.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WHAT WE REMOVED (and why)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 dirty="0">
                <a:latin typeface="Times New Roman"/>
              </a:rPr>
              <a:t>Jetson → hybrid local PC (−₹40k, guide-approved 08-Sep) · 4WD → 2WD + castor · BTS7960 → TB6612FNG · 4S → 3S · 100 mm → 65 mm (torque </a:t>
            </a:r>
            <a:r>
              <a:rPr sz="1800" b="0" i="0" dirty="0" err="1">
                <a:latin typeface="Times New Roman"/>
              </a:rPr>
              <a:t>maths</a:t>
            </a:r>
            <a:r>
              <a:rPr sz="1800" b="0" i="0" dirty="0">
                <a:latin typeface="Times New Roman"/>
              </a:rPr>
              <a:t>) · touchscreen/mic/speaker → interaction-phone app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WHERE WE ARE NOW (05-Oct-2026)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M1 DONE — </a:t>
            </a:r>
            <a:r>
              <a:rPr sz="1800" b="0" i="0" dirty="0">
                <a:latin typeface="Times New Roman"/>
              </a:rPr>
              <a:t>two repos, V1 APK, </a:t>
            </a:r>
            <a:r>
              <a:rPr sz="1800" b="0" i="0" dirty="0" err="1">
                <a:latin typeface="Times New Roman"/>
              </a:rPr>
              <a:t>WebSocket→ROS</a:t>
            </a:r>
            <a:r>
              <a:rPr sz="1800" b="0" i="0" dirty="0">
                <a:latin typeface="Times New Roman"/>
              </a:rPr>
              <a:t> 2 bridge, </a:t>
            </a:r>
            <a:r>
              <a:rPr sz="1800" b="0" i="0" dirty="0" err="1">
                <a:latin typeface="Times New Roman"/>
              </a:rPr>
              <a:t>soma_brain</a:t>
            </a:r>
            <a:r>
              <a:rPr sz="1800" b="0" i="0" dirty="0">
                <a:latin typeface="Times New Roman"/>
              </a:rPr>
              <a:t> 12/12 tests · </a:t>
            </a:r>
            <a:r>
              <a:rPr sz="1800" b="1" i="0" dirty="0">
                <a:latin typeface="Times New Roman"/>
              </a:rPr>
              <a:t>M2 IN PROGRESS — </a:t>
            </a:r>
            <a:r>
              <a:rPr sz="1800" b="0" i="0" dirty="0">
                <a:latin typeface="Times New Roman"/>
              </a:rPr>
              <a:t>full CAD + renders + report, URDF/</a:t>
            </a:r>
            <a:r>
              <a:rPr sz="1800" b="0" i="0" dirty="0" err="1">
                <a:latin typeface="Times New Roman"/>
              </a:rPr>
              <a:t>RViz</a:t>
            </a:r>
            <a:r>
              <a:rPr sz="1800" b="0" i="0" dirty="0">
                <a:latin typeface="Times New Roman"/>
              </a:rPr>
              <a:t>, BOM locked, roadmap locked for November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latin typeface="Times New Roman"/>
              </a:rPr>
              <a:t>NEXT</a:t>
            </a:r>
            <a:r>
              <a:rPr sz="1800" b="0" i="0" dirty="0">
                <a:latin typeface="Times New Roman"/>
              </a:rPr>
              <a:t> — Gazebo → EKF on </a:t>
            </a:r>
            <a:r>
              <a:rPr sz="1800" b="0" i="0" dirty="0" err="1">
                <a:latin typeface="Times New Roman"/>
              </a:rPr>
              <a:t>rosbags</a:t>
            </a:r>
            <a:r>
              <a:rPr sz="1800" b="0" i="0" dirty="0">
                <a:latin typeface="Times New Roman"/>
              </a:rPr>
              <a:t> → perception benchmark → BT → dashboard (M3–M7)</a:t>
            </a:r>
          </a:p>
        </p:txBody>
      </p:sp>
      <p:pic>
        <p:nvPicPr>
          <p:cNvPr id="11" name="Picture 10" descr="cost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600200"/>
            <a:ext cx="4709160" cy="310982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20840" y="484632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1">
                <a:solidFill>
                  <a:srgbClr val="555555"/>
                </a:solidFill>
                <a:latin typeface="Times New Roman"/>
              </a:rPr>
              <a:t>Bill of materials: draft vs revised (₹)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8262B-B31D-3431-EE98-0202C843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75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B559-035A-0637-2E62-099ADE34D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D1D05DC-49BD-7984-32C8-6E6B4D3FA91F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59F47D-BA77-890D-E53F-D92F0184C9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D4F8F2-352B-0F4A-EACB-16952E96663B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PROGRESS &amp; RESULTS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7BC401-FECE-D0B1-BCE7-F0646D60D195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B54AF-F5F4-F83E-6AF2-0458B5323D28}"/>
              </a:ext>
            </a:extLst>
          </p:cNvPr>
          <p:cNvSpPr txBox="1"/>
          <p:nvPr/>
        </p:nvSpPr>
        <p:spPr>
          <a:xfrm>
            <a:off x="548640" y="1051560"/>
            <a:ext cx="5532120" cy="537634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SOFTWARE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latin typeface="Times New Roman"/>
              </a:rPr>
              <a:t>soma_brain</a:t>
            </a:r>
            <a:r>
              <a:rPr sz="1800" b="1" i="0" dirty="0">
                <a:latin typeface="Times New Roman"/>
              </a:rPr>
              <a:t>/ </a:t>
            </a:r>
            <a:r>
              <a:rPr sz="1800" b="0" i="0" dirty="0">
                <a:latin typeface="Times New Roman"/>
              </a:rPr>
              <a:t>production module (Bayesian grid, sensor model, NBV planner) — 12/12 </a:t>
            </a:r>
            <a:r>
              <a:rPr sz="1800" b="0" i="0" dirty="0" err="1">
                <a:latin typeface="Times New Roman"/>
              </a:rPr>
              <a:t>pytest</a:t>
            </a:r>
            <a:r>
              <a:rPr sz="1800" b="0" i="0" dirty="0">
                <a:latin typeface="Times New Roman"/>
              </a:rPr>
              <a:t> green (0.83 s) · SOMA-Link-V1.apk shipped · </a:t>
            </a:r>
            <a:r>
              <a:rPr sz="1800" b="0" i="0" dirty="0" err="1">
                <a:latin typeface="Times New Roman"/>
              </a:rPr>
              <a:t>WebSocket→ROS</a:t>
            </a:r>
            <a:r>
              <a:rPr sz="1800" b="0" i="0" dirty="0">
                <a:latin typeface="Times New Roman"/>
              </a:rPr>
              <a:t> 2 bridge · URDF loaded in </a:t>
            </a:r>
            <a:r>
              <a:rPr sz="1800" b="0" i="0" dirty="0" err="1">
                <a:latin typeface="Times New Roman"/>
              </a:rPr>
              <a:t>RViz</a:t>
            </a:r>
            <a:endParaRPr sz="1800" b="0" i="0" dirty="0">
              <a:latin typeface="Times New Roman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MECHANICAL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full CAD assembly </a:t>
            </a:r>
            <a:r>
              <a:rPr sz="1800" b="0" i="0" dirty="0">
                <a:latin typeface="Times New Roman"/>
              </a:rPr>
              <a:t>+ 6 renders + </a:t>
            </a:r>
            <a:r>
              <a:rPr sz="1800" b="0" i="0" dirty="0" err="1">
                <a:latin typeface="Times New Roman"/>
              </a:rPr>
              <a:t>assembled.glb</a:t>
            </a:r>
            <a:r>
              <a:rPr sz="1800" b="0" i="0" dirty="0">
                <a:latin typeface="Times New Roman"/>
              </a:rPr>
              <a:t> + PDF report · drive/servo sizing verified (1.27× / 6.9× margins)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PLANNING &amp; FEASIBILITY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BOM revised ₹43,000 → ₹4,600 + ₹2,790 </a:t>
            </a:r>
            <a:r>
              <a:rPr sz="1800" b="0" i="0" dirty="0">
                <a:latin typeface="Times New Roman"/>
              </a:rPr>
              <a:t>· roadmap + approach decision recorded · project journal (docs/archive/)</a:t>
            </a:r>
          </a:p>
        </p:txBody>
      </p:sp>
      <p:pic>
        <p:nvPicPr>
          <p:cNvPr id="11" name="Picture 10" descr="simulate_search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71600"/>
            <a:ext cx="5166360" cy="29522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4553712"/>
            <a:ext cx="5166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1">
                <a:solidFill>
                  <a:srgbClr val="555555"/>
                </a:solidFill>
                <a:latin typeface="Times New Roman"/>
              </a:rPr>
              <a:t>Bayesian search simulation — probability heatmap + entropy decay (soma_brain)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074920"/>
            <a:ext cx="5166360" cy="685800"/>
          </a:xfrm>
          <a:prstGeom prst="roundRect">
            <a:avLst/>
          </a:prstGeom>
          <a:solidFill>
            <a:srgbClr val="ECF7EC"/>
          </a:solidFill>
          <a:ln w="1587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7A1F"/>
                </a:solidFill>
                <a:latin typeface="Times New Roman"/>
              </a:rPr>
              <a:t>12 / 12 pytest invariants green — 0.83 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ED3B7B-C286-E1B9-8684-0CD9071C9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442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D4D1-9A1D-B9BD-853D-9B5A4266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F80A7FD-0571-7ECC-7AD9-8125C0899D53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85AB83-4ACA-CB93-2565-FBAD1D2CD0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22F69E-A8AA-E5C4-12DF-C66384238156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ROAD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310896"/>
            <a:ext cx="411480" cy="182880"/>
          </a:xfrm>
          <a:prstGeom prst="rect">
            <a:avLst/>
          </a:prstGeom>
          <a:solidFill>
            <a:srgbClr val="FF000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80" y="26974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latin typeface="Times New Roman"/>
              </a:rPr>
              <a:t>Not completed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603504"/>
            <a:ext cx="411480" cy="182880"/>
          </a:xfrm>
          <a:prstGeom prst="rect">
            <a:avLst/>
          </a:prstGeom>
          <a:solidFill>
            <a:srgbClr val="FFFF0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5623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latin typeface="Times New Roman"/>
              </a:rPr>
              <a:t>Partially completed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896112"/>
            <a:ext cx="411480" cy="182880"/>
          </a:xfrm>
          <a:prstGeom prst="rect">
            <a:avLst/>
          </a:prstGeom>
          <a:solidFill>
            <a:srgbClr val="92D05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85496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latin typeface="Times New Roman"/>
              </a:rPr>
              <a:t>Fully completed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1325880"/>
          <a:ext cx="10881360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1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2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3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4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5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6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7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8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9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10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11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WEEK 12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3E4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latin typeface="Times New Roman"/>
                        </a:rPr>
                        <a:t>M1 — Repo &amp; env lockdown</a:t>
                      </a:r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latin typeface="Times New Roman"/>
                        </a:rPr>
                        <a:t>M2 — Robot in sim + bench rig</a:t>
                      </a: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latin typeface="Times New Roman"/>
                        </a:rPr>
                        <a:t>M3 — Real phone pipeline</a:t>
                      </a: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latin typeface="Times New Roman"/>
                        </a:rPr>
                        <a:t>M4 — Perception benchmark</a:t>
                      </a: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latin typeface="Times New Roman"/>
                        </a:rPr>
                        <a:t>M5 — Intelligence (Bayesian + BT)</a:t>
                      </a: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latin typeface="Times New Roman"/>
                        </a:rPr>
                        <a:t>M6 — Dashboard</a:t>
                      </a: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latin typeface="Times New Roman"/>
                        </a:rPr>
                        <a:t>M7 — End-sem package</a:t>
                      </a:r>
                    </a:p>
                  </a:txBody>
                  <a:tcPr marL="64008" marR="64008" marT="27432" marB="27432" anchor="ctr"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27432" marB="27432" anchor="ctr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72200" y="5440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0000"/>
                </a:solidFill>
                <a:latin typeface="Times New Roman"/>
              </a:rPr>
              <a:t>▲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978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55555"/>
                </a:solidFill>
                <a:latin typeface="Times New Roman"/>
              </a:rPr>
              <a:t>Locked for End-Sem Review, November 2026 · hardware funds land Oct–Nov 2026 · M1 done, M2 in progress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3A7156-6AF3-8B88-D8F3-7F35799F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168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D49DC-0C32-9514-92A7-F91C8A56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8EAFD26-11DB-A1B9-7B26-9E3ADCD2F351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5E6009-30EF-049F-70EB-9F1DBACAB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8248B3-B24B-6111-12E9-B14C18BA5141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RESOURCE REQUIREMENTS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E857E3-469B-799F-81E1-C8596243F404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E6A7-37E5-BEED-157A-36BA25937FC0}"/>
              </a:ext>
            </a:extLst>
          </p:cNvPr>
          <p:cNvSpPr txBox="1"/>
          <p:nvPr/>
        </p:nvSpPr>
        <p:spPr>
          <a:xfrm>
            <a:off x="548640" y="1051560"/>
            <a:ext cx="10881360" cy="5303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SOFTWARE REQUIREMENTS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Ubuntu 22.04 + ROS 2 Humble (dev machine: RTX 4060 / Ryzen 7 dual-boot)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Gazebo + RViz2 — simulation, TF, bring-up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Python 3.10+ / </a:t>
            </a:r>
            <a:r>
              <a:rPr sz="1800" b="0" i="0" dirty="0" err="1">
                <a:latin typeface="Times New Roman"/>
              </a:rPr>
              <a:t>PyTorch</a:t>
            </a:r>
            <a:r>
              <a:rPr sz="1800" b="0" i="0" dirty="0">
                <a:latin typeface="Times New Roman"/>
              </a:rPr>
              <a:t> / ONNX — perception prototyping on the PC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YOLO-World · Florence-2 · Grounding-DINO — M4 benchmark candidates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BehaviorTree.CPP + Groot2 — task executive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</a:t>
            </a:r>
            <a:r>
              <a:rPr sz="1800" b="0" i="0" dirty="0" err="1">
                <a:latin typeface="Times New Roman"/>
              </a:rPr>
              <a:t>OctoMap</a:t>
            </a:r>
            <a:r>
              <a:rPr sz="1800" b="0" i="0" dirty="0">
                <a:latin typeface="Times New Roman"/>
              </a:rPr>
              <a:t> — 3D occupancy mapping (M3)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React + </a:t>
            </a:r>
            <a:r>
              <a:rPr sz="1800" b="0" i="0" dirty="0" err="1">
                <a:latin typeface="Times New Roman"/>
              </a:rPr>
              <a:t>roslibjs</a:t>
            </a:r>
            <a:r>
              <a:rPr sz="1800" b="0" i="0" dirty="0">
                <a:latin typeface="Times New Roman"/>
              </a:rPr>
              <a:t> / foxglove — dashboard (M6)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Android Studio + </a:t>
            </a:r>
            <a:r>
              <a:rPr sz="1800" b="0" i="0" dirty="0" err="1">
                <a:latin typeface="Times New Roman"/>
              </a:rPr>
              <a:t>ARCore</a:t>
            </a:r>
            <a:r>
              <a:rPr sz="1800" b="0" i="0" dirty="0">
                <a:latin typeface="Times New Roman"/>
              </a:rPr>
              <a:t> SDK — soma-app (sensing) + interaction app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micro-ROS (ESP-IDF) — ESP32 firmware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 dirty="0">
                <a:latin typeface="Times New Roman"/>
              </a:rPr>
              <a:t>• </a:t>
            </a:r>
            <a:r>
              <a:rPr sz="1800" b="0" i="0" dirty="0" err="1">
                <a:latin typeface="Times New Roman"/>
              </a:rPr>
              <a:t>pytest</a:t>
            </a:r>
            <a:r>
              <a:rPr sz="1800" b="0" i="0" dirty="0">
                <a:latin typeface="Times New Roman"/>
              </a:rPr>
              <a:t> — </a:t>
            </a:r>
            <a:r>
              <a:rPr sz="1800" b="0" i="0" dirty="0" err="1">
                <a:latin typeface="Times New Roman"/>
              </a:rPr>
              <a:t>soma_brain</a:t>
            </a:r>
            <a:r>
              <a:rPr sz="1800" b="0" i="0" dirty="0">
                <a:latin typeface="Times New Roman"/>
              </a:rPr>
              <a:t> invariant suite · Git/GitHub — version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AD3E5D-2865-56DE-7596-03E6F5DF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502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9EAB-D205-C334-D578-7D22C6D4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1CA7CCF-2DDB-19BD-8FF2-80CB3E6712A4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1C203A-8533-3859-C37C-1212A4ABA7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E552FD-6C66-82FD-957C-B86C5F8E3BEC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RESOURCE REQUIREMENTS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AC1465-4D23-A2D3-4723-9F8F6E244704}"/>
              </a:ext>
            </a:extLst>
          </p:cNvPr>
          <p:cNvSpPr txBox="1">
            <a:spLocks/>
          </p:cNvSpPr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5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DB9424-237A-4072-9C7D-501A9FDB73BE}"/>
              </a:ext>
            </a:extLst>
          </p:cNvPr>
          <p:cNvSpPr txBox="1"/>
          <p:nvPr/>
        </p:nvSpPr>
        <p:spPr>
          <a:xfrm>
            <a:off x="548640" y="1051560"/>
            <a:ext cx="6309360" cy="489518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800" b="1" i="0" dirty="0">
                <a:latin typeface="Times New Roman"/>
              </a:rPr>
              <a:t>HARDWARE REQUIREMENTS &amp; BUDGET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800" b="1" i="0" dirty="0">
                <a:latin typeface="Times New Roman"/>
              </a:rPr>
              <a:t>COMPUTE &amp; SENSING — </a:t>
            </a:r>
            <a:r>
              <a:rPr sz="1800" b="0" i="0" dirty="0">
                <a:latin typeface="Times New Roman"/>
              </a:rPr>
              <a:t>2× </a:t>
            </a:r>
            <a:r>
              <a:rPr sz="1800" b="0" i="0" dirty="0" err="1">
                <a:latin typeface="Times New Roman"/>
              </a:rPr>
              <a:t>ARCore</a:t>
            </a:r>
            <a:r>
              <a:rPr sz="1800" b="0" i="0" dirty="0">
                <a:latin typeface="Times New Roman"/>
              </a:rPr>
              <a:t> phones (student-owned, ₹0) · ESP32 </a:t>
            </a:r>
            <a:r>
              <a:rPr sz="1800" b="0" i="0" dirty="0" err="1">
                <a:latin typeface="Times New Roman"/>
              </a:rPr>
              <a:t>DevKit</a:t>
            </a:r>
            <a:r>
              <a:rPr sz="1800" b="0" i="0" dirty="0">
                <a:latin typeface="Times New Roman"/>
              </a:rPr>
              <a:t> ₹420 · VL53L0X </a:t>
            </a:r>
            <a:r>
              <a:rPr sz="1800" b="0" i="0" dirty="0" err="1">
                <a:latin typeface="Times New Roman"/>
              </a:rPr>
              <a:t>ToF</a:t>
            </a:r>
            <a:r>
              <a:rPr sz="1800" b="0" i="0" dirty="0">
                <a:latin typeface="Times New Roman"/>
              </a:rPr>
              <a:t> ₹290 · HC-SR04 ×3 ₹165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800" b="1" i="0" dirty="0">
                <a:latin typeface="Times New Roman"/>
              </a:rPr>
              <a:t>MOBILITY &amp; POWER — </a:t>
            </a:r>
            <a:r>
              <a:rPr sz="1800" b="0" i="0" dirty="0">
                <a:latin typeface="Times New Roman"/>
              </a:rPr>
              <a:t>geared DC motors ×2 (OPEN, ≈₹116–166) · 65 mm wheels + castor ₹119 · TB6612FNG ₹131 · MG995 tilt ₹400 · 3S 1000 </a:t>
            </a:r>
            <a:r>
              <a:rPr sz="1800" b="0" i="0" dirty="0" err="1">
                <a:latin typeface="Times New Roman"/>
              </a:rPr>
              <a:t>mAh</a:t>
            </a:r>
            <a:r>
              <a:rPr sz="1800" b="0" i="0" dirty="0">
                <a:latin typeface="Times New Roman"/>
              </a:rPr>
              <a:t> LiPo ₹995 + balance charger ₹333 · buck 5 V/5 A ₹114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800" b="1" i="0" dirty="0">
                <a:latin typeface="Times New Roman"/>
              </a:rPr>
              <a:t>STRUCTURE — </a:t>
            </a:r>
            <a:r>
              <a:rPr sz="1800" b="0" i="0" dirty="0">
                <a:latin typeface="Times New Roman"/>
              </a:rPr>
              <a:t>hexagonal two-level chassis per CAD (3D print / acrylic — TBD) · printed phone holder + MG995 horn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800" b="1" i="0" dirty="0">
                <a:latin typeface="Times New Roman"/>
              </a:rPr>
              <a:t>BUDGET — </a:t>
            </a:r>
            <a:r>
              <a:rPr sz="1800" b="0" i="0" dirty="0">
                <a:latin typeface="Times New Roman"/>
              </a:rPr>
              <a:t>Phase-1 bench rig ≈₹4,600 (orderable now) · Phase-2 mobile base ≈₹3,100 + chassis/wiring TBD → ≈₹40,000 cheaper than the draft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</a:pPr>
            <a:r>
              <a:rPr sz="1800" b="0" i="1" dirty="0">
                <a:latin typeface="Times New Roman"/>
              </a:rPr>
              <a:t>Optional adds: encoders +₹1,000 · RPLIDAR +₹9,000</a:t>
            </a:r>
          </a:p>
        </p:txBody>
      </p:sp>
      <p:pic>
        <p:nvPicPr>
          <p:cNvPr id="11" name="Picture 10" descr="base_with_platform_for_compon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737360"/>
            <a:ext cx="4434840" cy="32928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95160" y="512064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1">
                <a:solidFill>
                  <a:srgbClr val="555555"/>
                </a:solidFill>
                <a:latin typeface="Times New Roman"/>
              </a:rPr>
              <a:t>Component deck per CAD (render)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0CEA6B-AD6A-BFC3-A9AF-0A3E9E4C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607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DEC66-B28E-E7A9-9B19-9A127EF0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5591289-07B6-3A5A-43CF-10007BEF50B3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Times New Roman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19673F-0628-A6B6-4A75-D88A5E3614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BA2CDF-DD5E-2085-8FD0-B1AC0D7F73DD}"/>
              </a:ext>
            </a:extLst>
          </p:cNvPr>
          <p:cNvSpPr txBox="1"/>
          <p:nvPr/>
        </p:nvSpPr>
        <p:spPr>
          <a:xfrm>
            <a:off x="274320" y="137160"/>
            <a:ext cx="10881360" cy="777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0000"/>
                </a:solidFill>
                <a:latin typeface="Times New Roman"/>
              </a:rPr>
              <a:t>REFERENCES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928A90-5A93-663E-EED7-ADCB4ADFB1EE}"/>
              </a:ext>
            </a:extLst>
          </p:cNvPr>
          <p:cNvSpPr txBox="1">
            <a:spLocks/>
          </p:cNvSpPr>
          <p:nvPr/>
        </p:nvSpPr>
        <p:spPr>
          <a:xfrm>
            <a:off x="0" y="1293192"/>
            <a:ext cx="12192000" cy="5171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dirty="0"/>
              <a:t>	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2D6261-8FEF-C8A7-C9AA-EB89D04BD72B}"/>
              </a:ext>
            </a:extLst>
          </p:cNvPr>
          <p:cNvSpPr txBox="1"/>
          <p:nvPr/>
        </p:nvSpPr>
        <p:spPr>
          <a:xfrm>
            <a:off x="548640" y="1051560"/>
            <a:ext cx="10881360" cy="5226046"/>
          </a:xfrm>
          <a:prstGeom prst="rect">
            <a:avLst/>
          </a:prstGeom>
          <a:noFill/>
        </p:spPr>
        <p:txBody>
          <a:bodyPr wrap="square" lIns="45720" tIns="27432" rIns="45720" bIns="27432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latin typeface="Times New Roman"/>
              </a:rPr>
              <a:t>[1] C. Huang, O. Mees, A. Zeng, and W. </a:t>
            </a:r>
            <a:r>
              <a:rPr b="0" i="0" dirty="0" err="1">
                <a:latin typeface="Times New Roman"/>
              </a:rPr>
              <a:t>Burgard</a:t>
            </a:r>
            <a:r>
              <a:rPr b="0" i="0" dirty="0">
                <a:latin typeface="Times New Roman"/>
              </a:rPr>
              <a:t>, "Visual Language Maps for Robot Navigation," Proc. IEEE ICRA, London, UK, pp. 10608-10615, 2023.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latin typeface="Times New Roman"/>
              </a:rPr>
              <a:t>[2] K. </a:t>
            </a:r>
            <a:r>
              <a:rPr b="0" i="0" dirty="0" err="1">
                <a:latin typeface="Times New Roman"/>
              </a:rPr>
              <a:t>Jatavallabhula</a:t>
            </a:r>
            <a:r>
              <a:rPr b="0" i="0" dirty="0">
                <a:latin typeface="Times New Roman"/>
              </a:rPr>
              <a:t> et al., "CLIP-Fields: Weakly Supervised Semantic Fields for Robotic Memory," Proc. RSS, 2022.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latin typeface="Times New Roman"/>
              </a:rPr>
              <a:t>[3] K. </a:t>
            </a:r>
            <a:r>
              <a:rPr b="0" i="0" dirty="0" err="1">
                <a:latin typeface="Times New Roman"/>
              </a:rPr>
              <a:t>Jatavallabhula</a:t>
            </a:r>
            <a:r>
              <a:rPr b="0" i="0" dirty="0">
                <a:latin typeface="Times New Roman"/>
              </a:rPr>
              <a:t> et al., "</a:t>
            </a:r>
            <a:r>
              <a:rPr b="0" i="0" dirty="0" err="1">
                <a:latin typeface="Times New Roman"/>
              </a:rPr>
              <a:t>ConceptFusion</a:t>
            </a:r>
            <a:r>
              <a:rPr b="0" i="0" dirty="0">
                <a:latin typeface="Times New Roman"/>
              </a:rPr>
              <a:t>: Open-Set Multimodal 3D Mapping," Proc. RSS, 2023.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latin typeface="Times New Roman"/>
              </a:rPr>
              <a:t>[4] Q. Gu et al., "</a:t>
            </a:r>
            <a:r>
              <a:rPr b="0" i="0" dirty="0" err="1">
                <a:latin typeface="Times New Roman"/>
              </a:rPr>
              <a:t>ConceptGraphs</a:t>
            </a:r>
            <a:r>
              <a:rPr b="0" i="0" dirty="0">
                <a:latin typeface="Times New Roman"/>
              </a:rPr>
              <a:t>: Open-Vocabulary 3D Scene Graphs for Perception and Planning," Proc. IEEE ICRA, 2024.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latin typeface="Times New Roman"/>
              </a:rPr>
              <a:t>[5] Z. Yan et al., "Dynamic Open-Vocabulary 3D Scene Graphs for Long-Term Language-Guided Mobile Manipulation (</a:t>
            </a:r>
            <a:r>
              <a:rPr b="0" i="0" dirty="0" err="1">
                <a:latin typeface="Times New Roman"/>
              </a:rPr>
              <a:t>DovSG</a:t>
            </a:r>
            <a:r>
              <a:rPr b="0" i="0" dirty="0">
                <a:latin typeface="Times New Roman"/>
              </a:rPr>
              <a:t>)," IEEE RA-L, 2025.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latin typeface="Times New Roman"/>
              </a:rPr>
              <a:t>[6] J. Loo et al., "Open Scene Graphs for Open-World Object-Goal Navigation," 2024.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latin typeface="Times New Roman"/>
              </a:rPr>
              <a:t>[7] X. Li et al., "</a:t>
            </a:r>
            <a:r>
              <a:rPr b="0" i="0" dirty="0" err="1">
                <a:latin typeface="Times New Roman"/>
              </a:rPr>
              <a:t>OpenObject</a:t>
            </a:r>
            <a:r>
              <a:rPr b="0" i="0" dirty="0">
                <a:latin typeface="Times New Roman"/>
              </a:rPr>
              <a:t>-NAV: Open-Vocabulary Object-Oriented Navigation Using Dynamic Carrier-Relationship Scene Graphs," arXiv:2409.18743, 2024.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latin typeface="Times New Roman"/>
              </a:rPr>
              <a:t>[8] X. Li et al., "</a:t>
            </a:r>
            <a:r>
              <a:rPr b="0" i="0" dirty="0" err="1">
                <a:latin typeface="Times New Roman"/>
              </a:rPr>
              <a:t>OpenIN</a:t>
            </a:r>
            <a:r>
              <a:rPr b="0" i="0" dirty="0">
                <a:latin typeface="Times New Roman"/>
              </a:rPr>
              <a:t>: Open-Vocabulary Instance-Oriented Navigation in Dynamic Environments," arXiv:2501.04279, 2025.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latin typeface="Times New Roman"/>
              </a:rPr>
              <a:t>[9] M. </a:t>
            </a:r>
            <a:r>
              <a:rPr b="0" i="0" dirty="0" err="1">
                <a:latin typeface="Times New Roman"/>
              </a:rPr>
              <a:t>Karnan</a:t>
            </a:r>
            <a:r>
              <a:rPr b="0" i="0" dirty="0">
                <a:latin typeface="Times New Roman"/>
              </a:rPr>
              <a:t> et al., "ZAVIS: Zero-Shot Active Visual Search," arXiv:2209.08803, 2022.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latin typeface="Times New Roman"/>
              </a:rPr>
              <a:t>[10] M. Ginting et al., "SEEK: Semantic Reasoning for Object Goal Navigation in Real-World Inspection Tasks," Proc. RSS, 2024.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2C9A6-FACC-4A77-8A93-C385FF26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77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4E8C-CB82-8EED-8B5E-1C6FE73D2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3C239BF-CAD6-519B-F809-84AD8C9DFD24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222C93-C84A-2506-9F91-BEFF0A98F4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2BAD83-C3D6-8644-EBBA-2593D627991B}"/>
              </a:ext>
            </a:extLst>
          </p:cNvPr>
          <p:cNvSpPr txBox="1"/>
          <p:nvPr/>
        </p:nvSpPr>
        <p:spPr>
          <a:xfrm>
            <a:off x="3983275" y="3121223"/>
            <a:ext cx="4225452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dirty="0">
                <a:solidFill>
                  <a:srgbClr val="FF0000"/>
                </a:solidFill>
                <a:latin typeface="Times New Roman"/>
              </a:rPr>
              <a:t>THANK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9A6300-E744-ED79-7F8C-EECEC328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014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4912</TotalTime>
  <Words>2877</Words>
  <Application>Microsoft Office PowerPoint</Application>
  <PresentationFormat>Widescreen</PresentationFormat>
  <Paragraphs>261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Gill Sans MT</vt:lpstr>
      <vt:lpstr>Swis721 BlkCn BT</vt:lpstr>
      <vt:lpstr>Times New Roman</vt:lpstr>
      <vt:lpstr>Office Theme</vt:lpstr>
      <vt:lpstr>B.TECH PROJECT PHASE 1 FINAL INTERNAL REVIEW</vt:lpstr>
      <vt:lpstr>Embodied Semantic Asset Recall Robot Offline Industrial Object Search, Recall, and Verification via Edge-Optimized Vision-Language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 492-Project First Progress Assessment</dc:title>
  <dc:creator>Abraham</dc:creator>
  <cp:lastModifiedBy>Sidharth Sajith</cp:lastModifiedBy>
  <cp:revision>52</cp:revision>
  <cp:lastPrinted>2024-11-07T04:07:42Z</cp:lastPrinted>
  <dcterms:modified xsi:type="dcterms:W3CDTF">2026-10-06T07:55:00Z</dcterms:modified>
</cp:coreProperties>
</file>