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9" r:id="rId2"/>
    <p:sldId id="257" r:id="rId3"/>
    <p:sldId id="269" r:id="rId4"/>
    <p:sldId id="275" r:id="rId5"/>
    <p:sldId id="276" r:id="rId6"/>
    <p:sldId id="290" r:id="rId7"/>
    <p:sldId id="278" r:id="rId8"/>
    <p:sldId id="281" r:id="rId9"/>
    <p:sldId id="279" r:id="rId10"/>
    <p:sldId id="280" r:id="rId11"/>
    <p:sldId id="282" r:id="rId12"/>
    <p:sldId id="284" r:id="rId13"/>
    <p:sldId id="291" r:id="rId14"/>
    <p:sldId id="285" r:id="rId15"/>
    <p:sldId id="286" r:id="rId16"/>
    <p:sldId id="287" r:id="rId17"/>
    <p:sldId id="288" r:id="rId18"/>
    <p:sldId id="289" r:id="rId19"/>
    <p:sldId id="260" r:id="rId20"/>
    <p:sldId id="270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0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64CF3E-F592-495F-8D8A-64CA8FD6248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4D3DFC9-94C1-4AA6-AB23-DA7AD7B7F9EB}">
      <dgm:prSet phldrT="[Text]"/>
      <dgm:spPr/>
      <dgm:t>
        <a:bodyPr/>
        <a:lstStyle/>
        <a:p>
          <a:pPr>
            <a:buAutoNum type="arabicPeriod"/>
          </a:pPr>
          <a:r>
            <a:rPr lang="en-US" b="1" dirty="0">
              <a:latin typeface="Times New Roman"/>
              <a:ea typeface="Calibri"/>
              <a:cs typeface="Calibri"/>
            </a:rPr>
            <a:t>Plant Simulator</a:t>
          </a:r>
          <a:r>
            <a:rPr lang="en-US" dirty="0">
              <a:latin typeface="Times New Roman"/>
              <a:ea typeface="Calibri"/>
              <a:cs typeface="Calibri"/>
            </a:rPr>
            <a:t> : Creates plant data (temperature pressure, flow).</a:t>
          </a:r>
          <a:endParaRPr lang="en-IN" dirty="0"/>
        </a:p>
      </dgm:t>
    </dgm:pt>
    <dgm:pt modelId="{FE0F6D3B-C2F8-40EF-AB00-7402110580C1}" type="parTrans" cxnId="{E5BE1E69-E0D3-4B8A-96D8-8E1563A3EC21}">
      <dgm:prSet/>
      <dgm:spPr/>
      <dgm:t>
        <a:bodyPr/>
        <a:lstStyle/>
        <a:p>
          <a:endParaRPr lang="en-IN"/>
        </a:p>
      </dgm:t>
    </dgm:pt>
    <dgm:pt modelId="{021BE5F5-45A9-4A34-9442-1675CC83F640}" type="sibTrans" cxnId="{E5BE1E69-E0D3-4B8A-96D8-8E1563A3EC21}">
      <dgm:prSet/>
      <dgm:spPr/>
      <dgm:t>
        <a:bodyPr/>
        <a:lstStyle/>
        <a:p>
          <a:endParaRPr lang="en-IN"/>
        </a:p>
      </dgm:t>
    </dgm:pt>
    <dgm:pt modelId="{67E7FF47-02CF-4EB2-8D04-42E0658ADADB}">
      <dgm:prSet phldrT="[Text]"/>
      <dgm:spPr/>
      <dgm:t>
        <a:bodyPr/>
        <a:lstStyle/>
        <a:p>
          <a:pPr>
            <a:buAutoNum type="arabicPeriod"/>
          </a:pPr>
          <a:r>
            <a:rPr lang="en-US" b="1" dirty="0">
              <a:latin typeface="Times New Roman"/>
              <a:ea typeface="Calibri"/>
              <a:cs typeface="Calibri"/>
            </a:rPr>
            <a:t>3D Simulation Platform </a:t>
          </a:r>
          <a:r>
            <a:rPr lang="en-US" dirty="0">
              <a:latin typeface="Times New Roman"/>
              <a:ea typeface="Calibri"/>
              <a:cs typeface="Calibri"/>
            </a:rPr>
            <a:t>: Environments where robots navigate.</a:t>
          </a:r>
          <a:endParaRPr lang="en-IN" dirty="0"/>
        </a:p>
      </dgm:t>
    </dgm:pt>
    <dgm:pt modelId="{62212B57-6E1B-447B-B8A6-4304D550A085}" type="parTrans" cxnId="{6F9FEB5E-C21C-4472-BC6D-CDF9FAA9F38E}">
      <dgm:prSet/>
      <dgm:spPr/>
      <dgm:t>
        <a:bodyPr/>
        <a:lstStyle/>
        <a:p>
          <a:endParaRPr lang="en-IN"/>
        </a:p>
      </dgm:t>
    </dgm:pt>
    <dgm:pt modelId="{E43E4A46-B10B-4F95-B9BE-0E1E90418894}" type="sibTrans" cxnId="{6F9FEB5E-C21C-4472-BC6D-CDF9FAA9F38E}">
      <dgm:prSet/>
      <dgm:spPr/>
      <dgm:t>
        <a:bodyPr/>
        <a:lstStyle/>
        <a:p>
          <a:endParaRPr lang="en-IN"/>
        </a:p>
      </dgm:t>
    </dgm:pt>
    <dgm:pt modelId="{C40BE3E1-9089-4897-BEC6-4ECF0FEEB890}">
      <dgm:prSet phldrT="[Text]"/>
      <dgm:spPr/>
      <dgm:t>
        <a:bodyPr/>
        <a:lstStyle/>
        <a:p>
          <a:pPr>
            <a:buAutoNum type="arabicPeriod"/>
          </a:pPr>
          <a:r>
            <a:rPr lang="en-US" b="1">
              <a:latin typeface="Times New Roman"/>
              <a:ea typeface="Calibri"/>
              <a:cs typeface="Calibri"/>
            </a:rPr>
            <a:t>Middleware</a:t>
          </a:r>
          <a:r>
            <a:rPr lang="en-US">
              <a:latin typeface="Times New Roman"/>
              <a:ea typeface="Calibri"/>
              <a:cs typeface="Calibri"/>
            </a:rPr>
            <a:t> (eg, ROS) : Connects robots to plant data.</a:t>
          </a:r>
          <a:endParaRPr lang="en-IN" dirty="0"/>
        </a:p>
      </dgm:t>
    </dgm:pt>
    <dgm:pt modelId="{A7982FA8-1912-4274-832E-342C476E5D2B}" type="parTrans" cxnId="{76D69F05-8B1E-4F85-890C-65D2C6E51173}">
      <dgm:prSet/>
      <dgm:spPr/>
      <dgm:t>
        <a:bodyPr/>
        <a:lstStyle/>
        <a:p>
          <a:endParaRPr lang="en-IN"/>
        </a:p>
      </dgm:t>
    </dgm:pt>
    <dgm:pt modelId="{2AF72611-935C-470D-8E81-BDA670F0EBE4}" type="sibTrans" cxnId="{76D69F05-8B1E-4F85-890C-65D2C6E51173}">
      <dgm:prSet/>
      <dgm:spPr/>
      <dgm:t>
        <a:bodyPr/>
        <a:lstStyle/>
        <a:p>
          <a:endParaRPr lang="en-IN"/>
        </a:p>
      </dgm:t>
    </dgm:pt>
    <dgm:pt modelId="{9D3F7EB9-7811-4181-8ACF-547AA1D34110}" type="pres">
      <dgm:prSet presAssocID="{1164CF3E-F592-495F-8D8A-64CA8FD62486}" presName="Name0" presStyleCnt="0">
        <dgm:presLayoutVars>
          <dgm:dir/>
          <dgm:resizeHandles val="exact"/>
        </dgm:presLayoutVars>
      </dgm:prSet>
      <dgm:spPr/>
    </dgm:pt>
    <dgm:pt modelId="{C05153AD-50BC-4971-A076-05FCDE18C994}" type="pres">
      <dgm:prSet presAssocID="{44D3DFC9-94C1-4AA6-AB23-DA7AD7B7F9EB}" presName="node" presStyleLbl="node1" presStyleIdx="0" presStyleCnt="3">
        <dgm:presLayoutVars>
          <dgm:bulletEnabled val="1"/>
        </dgm:presLayoutVars>
      </dgm:prSet>
      <dgm:spPr/>
    </dgm:pt>
    <dgm:pt modelId="{FEF46061-6EED-4635-8781-1E7F23D0A45E}" type="pres">
      <dgm:prSet presAssocID="{021BE5F5-45A9-4A34-9442-1675CC83F640}" presName="sibTrans" presStyleLbl="sibTrans2D1" presStyleIdx="0" presStyleCnt="2"/>
      <dgm:spPr/>
    </dgm:pt>
    <dgm:pt modelId="{FD9CF991-1A68-4AAA-B68D-DBE12A3FE705}" type="pres">
      <dgm:prSet presAssocID="{021BE5F5-45A9-4A34-9442-1675CC83F640}" presName="connectorText" presStyleLbl="sibTrans2D1" presStyleIdx="0" presStyleCnt="2"/>
      <dgm:spPr/>
    </dgm:pt>
    <dgm:pt modelId="{E85F5199-F90E-4B7E-9198-DE97786107F7}" type="pres">
      <dgm:prSet presAssocID="{C40BE3E1-9089-4897-BEC6-4ECF0FEEB890}" presName="node" presStyleLbl="node1" presStyleIdx="1" presStyleCnt="3">
        <dgm:presLayoutVars>
          <dgm:bulletEnabled val="1"/>
        </dgm:presLayoutVars>
      </dgm:prSet>
      <dgm:spPr/>
    </dgm:pt>
    <dgm:pt modelId="{8A9001C5-E2AF-4FBD-9373-A42409250661}" type="pres">
      <dgm:prSet presAssocID="{2AF72611-935C-470D-8E81-BDA670F0EBE4}" presName="sibTrans" presStyleLbl="sibTrans2D1" presStyleIdx="1" presStyleCnt="2"/>
      <dgm:spPr/>
    </dgm:pt>
    <dgm:pt modelId="{04B86413-8D27-4CA7-9262-5E8DF5D4C36C}" type="pres">
      <dgm:prSet presAssocID="{2AF72611-935C-470D-8E81-BDA670F0EBE4}" presName="connectorText" presStyleLbl="sibTrans2D1" presStyleIdx="1" presStyleCnt="2"/>
      <dgm:spPr/>
    </dgm:pt>
    <dgm:pt modelId="{BCA1D876-C230-4770-8DA9-5BF096F198B6}" type="pres">
      <dgm:prSet presAssocID="{67E7FF47-02CF-4EB2-8D04-42E0658ADADB}" presName="node" presStyleLbl="node1" presStyleIdx="2" presStyleCnt="3">
        <dgm:presLayoutVars>
          <dgm:bulletEnabled val="1"/>
        </dgm:presLayoutVars>
      </dgm:prSet>
      <dgm:spPr/>
    </dgm:pt>
  </dgm:ptLst>
  <dgm:cxnLst>
    <dgm:cxn modelId="{76D69F05-8B1E-4F85-890C-65D2C6E51173}" srcId="{1164CF3E-F592-495F-8D8A-64CA8FD62486}" destId="{C40BE3E1-9089-4897-BEC6-4ECF0FEEB890}" srcOrd="1" destOrd="0" parTransId="{A7982FA8-1912-4274-832E-342C476E5D2B}" sibTransId="{2AF72611-935C-470D-8E81-BDA670F0EBE4}"/>
    <dgm:cxn modelId="{1E2A911B-7599-49AB-A9A5-4C13C7566D29}" type="presOf" srcId="{1164CF3E-F592-495F-8D8A-64CA8FD62486}" destId="{9D3F7EB9-7811-4181-8ACF-547AA1D34110}" srcOrd="0" destOrd="0" presId="urn:microsoft.com/office/officeart/2005/8/layout/process1"/>
    <dgm:cxn modelId="{6F9FEB5E-C21C-4472-BC6D-CDF9FAA9F38E}" srcId="{1164CF3E-F592-495F-8D8A-64CA8FD62486}" destId="{67E7FF47-02CF-4EB2-8D04-42E0658ADADB}" srcOrd="2" destOrd="0" parTransId="{62212B57-6E1B-447B-B8A6-4304D550A085}" sibTransId="{E43E4A46-B10B-4F95-B9BE-0E1E90418894}"/>
    <dgm:cxn modelId="{E5BE1E69-E0D3-4B8A-96D8-8E1563A3EC21}" srcId="{1164CF3E-F592-495F-8D8A-64CA8FD62486}" destId="{44D3DFC9-94C1-4AA6-AB23-DA7AD7B7F9EB}" srcOrd="0" destOrd="0" parTransId="{FE0F6D3B-C2F8-40EF-AB00-7402110580C1}" sibTransId="{021BE5F5-45A9-4A34-9442-1675CC83F640}"/>
    <dgm:cxn modelId="{6CE7BB6A-99E3-4ACF-9061-D101081379D4}" type="presOf" srcId="{67E7FF47-02CF-4EB2-8D04-42E0658ADADB}" destId="{BCA1D876-C230-4770-8DA9-5BF096F198B6}" srcOrd="0" destOrd="0" presId="urn:microsoft.com/office/officeart/2005/8/layout/process1"/>
    <dgm:cxn modelId="{03CF9988-0364-42C1-B5EC-BEE4B895FFA1}" type="presOf" srcId="{021BE5F5-45A9-4A34-9442-1675CC83F640}" destId="{FEF46061-6EED-4635-8781-1E7F23D0A45E}" srcOrd="0" destOrd="0" presId="urn:microsoft.com/office/officeart/2005/8/layout/process1"/>
    <dgm:cxn modelId="{16CC339D-48C6-4DC1-95B4-878DB41CA586}" type="presOf" srcId="{C40BE3E1-9089-4897-BEC6-4ECF0FEEB890}" destId="{E85F5199-F90E-4B7E-9198-DE97786107F7}" srcOrd="0" destOrd="0" presId="urn:microsoft.com/office/officeart/2005/8/layout/process1"/>
    <dgm:cxn modelId="{246FD7C2-29CC-48E2-BF13-8089D1EEAD5A}" type="presOf" srcId="{2AF72611-935C-470D-8E81-BDA670F0EBE4}" destId="{8A9001C5-E2AF-4FBD-9373-A42409250661}" srcOrd="0" destOrd="0" presId="urn:microsoft.com/office/officeart/2005/8/layout/process1"/>
    <dgm:cxn modelId="{B0B6F6D2-C0E4-418B-903A-B7E6C33AD531}" type="presOf" srcId="{021BE5F5-45A9-4A34-9442-1675CC83F640}" destId="{FD9CF991-1A68-4AAA-B68D-DBE12A3FE705}" srcOrd="1" destOrd="0" presId="urn:microsoft.com/office/officeart/2005/8/layout/process1"/>
    <dgm:cxn modelId="{D5D119E0-70B8-472C-8537-05C0DEC55727}" type="presOf" srcId="{2AF72611-935C-470D-8E81-BDA670F0EBE4}" destId="{04B86413-8D27-4CA7-9262-5E8DF5D4C36C}" srcOrd="1" destOrd="0" presId="urn:microsoft.com/office/officeart/2005/8/layout/process1"/>
    <dgm:cxn modelId="{BE5DA5FB-BA51-40C5-B9D0-E975FBC473B0}" type="presOf" srcId="{44D3DFC9-94C1-4AA6-AB23-DA7AD7B7F9EB}" destId="{C05153AD-50BC-4971-A076-05FCDE18C994}" srcOrd="0" destOrd="0" presId="urn:microsoft.com/office/officeart/2005/8/layout/process1"/>
    <dgm:cxn modelId="{CA3B4474-6CAC-4515-A50F-BAF7C904A39D}" type="presParOf" srcId="{9D3F7EB9-7811-4181-8ACF-547AA1D34110}" destId="{C05153AD-50BC-4971-A076-05FCDE18C994}" srcOrd="0" destOrd="0" presId="urn:microsoft.com/office/officeart/2005/8/layout/process1"/>
    <dgm:cxn modelId="{DD779278-84A7-4864-9FA4-D2780CB3E898}" type="presParOf" srcId="{9D3F7EB9-7811-4181-8ACF-547AA1D34110}" destId="{FEF46061-6EED-4635-8781-1E7F23D0A45E}" srcOrd="1" destOrd="0" presId="urn:microsoft.com/office/officeart/2005/8/layout/process1"/>
    <dgm:cxn modelId="{54A2ED44-CF7B-48A4-BCD4-DF45D928FA20}" type="presParOf" srcId="{FEF46061-6EED-4635-8781-1E7F23D0A45E}" destId="{FD9CF991-1A68-4AAA-B68D-DBE12A3FE705}" srcOrd="0" destOrd="0" presId="urn:microsoft.com/office/officeart/2005/8/layout/process1"/>
    <dgm:cxn modelId="{01F8E1FD-B705-487A-A8EB-C6BD920EED22}" type="presParOf" srcId="{9D3F7EB9-7811-4181-8ACF-547AA1D34110}" destId="{E85F5199-F90E-4B7E-9198-DE97786107F7}" srcOrd="2" destOrd="0" presId="urn:microsoft.com/office/officeart/2005/8/layout/process1"/>
    <dgm:cxn modelId="{2D800D67-6063-4689-AD69-C7F024938C44}" type="presParOf" srcId="{9D3F7EB9-7811-4181-8ACF-547AA1D34110}" destId="{8A9001C5-E2AF-4FBD-9373-A42409250661}" srcOrd="3" destOrd="0" presId="urn:microsoft.com/office/officeart/2005/8/layout/process1"/>
    <dgm:cxn modelId="{63473B58-3E48-49A0-93AE-393ECA33876D}" type="presParOf" srcId="{8A9001C5-E2AF-4FBD-9373-A42409250661}" destId="{04B86413-8D27-4CA7-9262-5E8DF5D4C36C}" srcOrd="0" destOrd="0" presId="urn:microsoft.com/office/officeart/2005/8/layout/process1"/>
    <dgm:cxn modelId="{4B779F25-3B34-4A4E-9FE9-4E754B07C928}" type="presParOf" srcId="{9D3F7EB9-7811-4181-8ACF-547AA1D34110}" destId="{BCA1D876-C230-4770-8DA9-5BF096F198B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AD159B-889B-4F31-AACA-0B7DA58F198A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E4150A-E69F-4A0A-A50D-598199D31657}">
      <dgm:prSet phldr="0"/>
      <dgm:spPr/>
      <dgm:t>
        <a:bodyPr/>
        <a:lstStyle/>
        <a:p>
          <a:pPr algn="l" rtl="0"/>
          <a:r>
            <a:rPr lang="en-US" sz="2000" b="1" dirty="0">
              <a:latin typeface="Times New Roman"/>
              <a:cs typeface="Times New Roman"/>
            </a:rPr>
            <a:t>Robot Controllers</a:t>
          </a:r>
          <a:r>
            <a:rPr lang="en-US" sz="2000" b="0" dirty="0">
              <a:latin typeface="Times New Roman"/>
              <a:cs typeface="Times New Roman"/>
            </a:rPr>
            <a:t>: Navigation, Inspection &amp; Planning</a:t>
          </a:r>
          <a:endParaRPr lang="en-US" dirty="0"/>
        </a:p>
      </dgm:t>
    </dgm:pt>
    <dgm:pt modelId="{9EAF1F0D-AC89-467E-ADB3-291B55F6B868}" type="parTrans" cxnId="{79F5E004-9821-486C-85B8-40BD4C2757B3}">
      <dgm:prSet/>
      <dgm:spPr/>
      <dgm:t>
        <a:bodyPr/>
        <a:lstStyle/>
        <a:p>
          <a:endParaRPr lang="en-IN"/>
        </a:p>
      </dgm:t>
    </dgm:pt>
    <dgm:pt modelId="{233C4F5E-84F6-4526-BEA1-2279E9232FEE}" type="sibTrans" cxnId="{79F5E004-9821-486C-85B8-40BD4C2757B3}">
      <dgm:prSet/>
      <dgm:spPr/>
      <dgm:t>
        <a:bodyPr/>
        <a:lstStyle/>
        <a:p>
          <a:endParaRPr lang="en-US"/>
        </a:p>
      </dgm:t>
    </dgm:pt>
    <dgm:pt modelId="{5EB50B44-DFD5-4AA3-A427-BA98592523D9}">
      <dgm:prSet phldr="0"/>
      <dgm:spPr/>
      <dgm:t>
        <a:bodyPr/>
        <a:lstStyle/>
        <a:p>
          <a:pPr algn="l" rtl="0"/>
          <a:r>
            <a:rPr lang="en-US" sz="2000" b="1" dirty="0">
              <a:latin typeface="Times New Roman"/>
              <a:cs typeface="Times New Roman"/>
            </a:rPr>
            <a:t>GPWR Simulator (Client</a:t>
          </a:r>
          <a:r>
            <a:rPr lang="en-US" sz="2000" b="0" dirty="0">
              <a:latin typeface="Times New Roman"/>
              <a:cs typeface="Times New Roman"/>
            </a:rPr>
            <a:t>): Runs in Win32 env;  GUI + DDE support</a:t>
          </a:r>
        </a:p>
      </dgm:t>
    </dgm:pt>
    <dgm:pt modelId="{9509D6E0-B763-4B05-A436-CF318B44AFB3}" type="parTrans" cxnId="{042967F9-D141-4ECF-BF67-DF684846D3BF}">
      <dgm:prSet/>
      <dgm:spPr/>
      <dgm:t>
        <a:bodyPr/>
        <a:lstStyle/>
        <a:p>
          <a:endParaRPr lang="en-IN"/>
        </a:p>
      </dgm:t>
    </dgm:pt>
    <dgm:pt modelId="{E777AB66-ADF5-4E4C-A7EF-05EBEBC1F2EE}" type="sibTrans" cxnId="{042967F9-D141-4ECF-BF67-DF684846D3BF}">
      <dgm:prSet/>
      <dgm:spPr/>
      <dgm:t>
        <a:bodyPr/>
        <a:lstStyle/>
        <a:p>
          <a:endParaRPr lang="en-IN"/>
        </a:p>
      </dgm:t>
    </dgm:pt>
    <dgm:pt modelId="{9F52FDA7-5BC1-4A36-81FA-A52B90B90271}">
      <dgm:prSet phldr="0"/>
      <dgm:spPr/>
      <dgm:t>
        <a:bodyPr/>
        <a:lstStyle/>
        <a:p>
          <a:pPr rtl="0"/>
          <a:r>
            <a:rPr lang="en-US" sz="2000" b="1" dirty="0">
              <a:latin typeface="Times New Roman"/>
              <a:ea typeface="Calibri"/>
              <a:cs typeface="Calibri"/>
            </a:rPr>
            <a:t>Sensor Data</a:t>
          </a:r>
          <a:r>
            <a:rPr lang="en-US" sz="2000" b="0" dirty="0">
              <a:latin typeface="Times New Roman"/>
              <a:ea typeface="Calibri"/>
              <a:cs typeface="Calibri"/>
            </a:rPr>
            <a:t>: key:value format</a:t>
          </a:r>
          <a:endParaRPr lang="en-US" dirty="0"/>
        </a:p>
      </dgm:t>
    </dgm:pt>
    <dgm:pt modelId="{D4CB4ABC-3CA9-4E53-9508-2BE2A602E890}" type="parTrans" cxnId="{938C6B53-5AE2-41DF-AFB3-644FFBCCF698}">
      <dgm:prSet/>
      <dgm:spPr/>
      <dgm:t>
        <a:bodyPr/>
        <a:lstStyle/>
        <a:p>
          <a:endParaRPr lang="en-IN"/>
        </a:p>
      </dgm:t>
    </dgm:pt>
    <dgm:pt modelId="{4C9F1FB8-F2D8-429D-8AEA-EA38391251D3}" type="sibTrans" cxnId="{938C6B53-5AE2-41DF-AFB3-644FFBCCF698}">
      <dgm:prSet/>
      <dgm:spPr/>
      <dgm:t>
        <a:bodyPr/>
        <a:lstStyle/>
        <a:p>
          <a:endParaRPr lang="en-IN"/>
        </a:p>
      </dgm:t>
    </dgm:pt>
    <dgm:pt modelId="{84DC69DB-8EC2-4624-9E68-1E542C4BB312}">
      <dgm:prSet phldr="0"/>
      <dgm:spPr/>
      <dgm:t>
        <a:bodyPr/>
        <a:lstStyle/>
        <a:p>
          <a:pPr algn="l" rtl="0"/>
          <a:r>
            <a:rPr lang="en-US" sz="2000" b="1" dirty="0">
              <a:latin typeface="Times New Roman"/>
              <a:cs typeface="Times New Roman"/>
            </a:rPr>
            <a:t>3D Simulation (Server</a:t>
          </a:r>
          <a:r>
            <a:rPr lang="en-US" sz="2000" b="0" dirty="0">
              <a:latin typeface="Times New Roman"/>
              <a:cs typeface="Times New Roman"/>
            </a:rPr>
            <a:t>): Omniverse Isaac Sim </a:t>
          </a:r>
          <a:endParaRPr lang="en-US" dirty="0"/>
        </a:p>
      </dgm:t>
    </dgm:pt>
    <dgm:pt modelId="{E21102C6-8966-434C-869C-34E650B89FA5}" type="parTrans" cxnId="{1ECEBC58-ABA9-4519-8E94-E8FE4CFB189D}">
      <dgm:prSet/>
      <dgm:spPr/>
      <dgm:t>
        <a:bodyPr/>
        <a:lstStyle/>
        <a:p>
          <a:endParaRPr lang="en-IN"/>
        </a:p>
      </dgm:t>
    </dgm:pt>
    <dgm:pt modelId="{91F1EA04-71E1-49CF-9F74-1FD2EEE8C948}" type="sibTrans" cxnId="{1ECEBC58-ABA9-4519-8E94-E8FE4CFB189D}">
      <dgm:prSet/>
      <dgm:spPr/>
      <dgm:t>
        <a:bodyPr/>
        <a:lstStyle/>
        <a:p>
          <a:endParaRPr lang="en-IN"/>
        </a:p>
      </dgm:t>
    </dgm:pt>
    <dgm:pt modelId="{222090E5-DE09-44B8-84B1-105AA7144088}" type="pres">
      <dgm:prSet presAssocID="{E8AD159B-889B-4F31-AACA-0B7DA58F198A}" presName="cycle" presStyleCnt="0">
        <dgm:presLayoutVars>
          <dgm:dir/>
          <dgm:resizeHandles val="exact"/>
        </dgm:presLayoutVars>
      </dgm:prSet>
      <dgm:spPr/>
    </dgm:pt>
    <dgm:pt modelId="{EB8BD01C-0BB1-4A32-A839-838B0DDE8C38}" type="pres">
      <dgm:prSet presAssocID="{5EB50B44-DFD5-4AA3-A427-BA98592523D9}" presName="dummy" presStyleCnt="0"/>
      <dgm:spPr/>
    </dgm:pt>
    <dgm:pt modelId="{84B60B21-B8EF-425A-9E62-948A0CEF8724}" type="pres">
      <dgm:prSet presAssocID="{5EB50B44-DFD5-4AA3-A427-BA98592523D9}" presName="node" presStyleLbl="revTx" presStyleIdx="0" presStyleCnt="4">
        <dgm:presLayoutVars>
          <dgm:bulletEnabled val="1"/>
        </dgm:presLayoutVars>
      </dgm:prSet>
      <dgm:spPr/>
    </dgm:pt>
    <dgm:pt modelId="{E58B1740-AA3C-4C42-94DD-FE72C6D187B5}" type="pres">
      <dgm:prSet presAssocID="{E777AB66-ADF5-4E4C-A7EF-05EBEBC1F2EE}" presName="sibTrans" presStyleLbl="node1" presStyleIdx="0" presStyleCnt="4"/>
      <dgm:spPr/>
    </dgm:pt>
    <dgm:pt modelId="{711FCE38-592C-4A96-A53D-49E2A2757429}" type="pres">
      <dgm:prSet presAssocID="{9F52FDA7-5BC1-4A36-81FA-A52B90B90271}" presName="dummy" presStyleCnt="0"/>
      <dgm:spPr/>
    </dgm:pt>
    <dgm:pt modelId="{88590DB5-6556-4A52-A03E-C0418CAD8301}" type="pres">
      <dgm:prSet presAssocID="{9F52FDA7-5BC1-4A36-81FA-A52B90B90271}" presName="node" presStyleLbl="revTx" presStyleIdx="1" presStyleCnt="4">
        <dgm:presLayoutVars>
          <dgm:bulletEnabled val="1"/>
        </dgm:presLayoutVars>
      </dgm:prSet>
      <dgm:spPr/>
    </dgm:pt>
    <dgm:pt modelId="{6432AD9D-4B7C-4D70-9BD9-D10B069EEEFD}" type="pres">
      <dgm:prSet presAssocID="{4C9F1FB8-F2D8-429D-8AEA-EA38391251D3}" presName="sibTrans" presStyleLbl="node1" presStyleIdx="1" presStyleCnt="4"/>
      <dgm:spPr/>
    </dgm:pt>
    <dgm:pt modelId="{2B44BFE9-884A-442A-B2F5-3B4938FC6308}" type="pres">
      <dgm:prSet presAssocID="{84DC69DB-8EC2-4624-9E68-1E542C4BB312}" presName="dummy" presStyleCnt="0"/>
      <dgm:spPr/>
    </dgm:pt>
    <dgm:pt modelId="{63F78399-37B9-4317-B073-69DB81EDF981}" type="pres">
      <dgm:prSet presAssocID="{84DC69DB-8EC2-4624-9E68-1E542C4BB312}" presName="node" presStyleLbl="revTx" presStyleIdx="2" presStyleCnt="4">
        <dgm:presLayoutVars>
          <dgm:bulletEnabled val="1"/>
        </dgm:presLayoutVars>
      </dgm:prSet>
      <dgm:spPr/>
    </dgm:pt>
    <dgm:pt modelId="{F565EAB6-69C6-4758-B508-AC9C797AB822}" type="pres">
      <dgm:prSet presAssocID="{91F1EA04-71E1-49CF-9F74-1FD2EEE8C948}" presName="sibTrans" presStyleLbl="node1" presStyleIdx="2" presStyleCnt="4"/>
      <dgm:spPr/>
    </dgm:pt>
    <dgm:pt modelId="{06DF3687-5FE4-4D97-BB6B-E79C67C6C154}" type="pres">
      <dgm:prSet presAssocID="{0BE4150A-E69F-4A0A-A50D-598199D31657}" presName="dummy" presStyleCnt="0"/>
      <dgm:spPr/>
    </dgm:pt>
    <dgm:pt modelId="{9A624ED0-E5AA-4A32-96D5-A5EC6F4F1CD1}" type="pres">
      <dgm:prSet presAssocID="{0BE4150A-E69F-4A0A-A50D-598199D31657}" presName="node" presStyleLbl="revTx" presStyleIdx="3" presStyleCnt="4">
        <dgm:presLayoutVars>
          <dgm:bulletEnabled val="1"/>
        </dgm:presLayoutVars>
      </dgm:prSet>
      <dgm:spPr/>
    </dgm:pt>
    <dgm:pt modelId="{6B43DD75-20EB-4BF8-9B12-8873844DD5AD}" type="pres">
      <dgm:prSet presAssocID="{233C4F5E-84F6-4526-BEA1-2279E9232FEE}" presName="sibTrans" presStyleLbl="node1" presStyleIdx="3" presStyleCnt="4"/>
      <dgm:spPr/>
    </dgm:pt>
  </dgm:ptLst>
  <dgm:cxnLst>
    <dgm:cxn modelId="{79F5E004-9821-486C-85B8-40BD4C2757B3}" srcId="{E8AD159B-889B-4F31-AACA-0B7DA58F198A}" destId="{0BE4150A-E69F-4A0A-A50D-598199D31657}" srcOrd="3" destOrd="0" parTransId="{9EAF1F0D-AC89-467E-ADB3-291B55F6B868}" sibTransId="{233C4F5E-84F6-4526-BEA1-2279E9232FEE}"/>
    <dgm:cxn modelId="{D2D4A807-460C-4941-B21D-8EDEE977BD59}" type="presOf" srcId="{233C4F5E-84F6-4526-BEA1-2279E9232FEE}" destId="{6B43DD75-20EB-4BF8-9B12-8873844DD5AD}" srcOrd="0" destOrd="0" presId="urn:microsoft.com/office/officeart/2005/8/layout/cycle1"/>
    <dgm:cxn modelId="{5E6DAD13-9190-4BEA-9CF1-B1799177DD4D}" type="presOf" srcId="{E8AD159B-889B-4F31-AACA-0B7DA58F198A}" destId="{222090E5-DE09-44B8-84B1-105AA7144088}" srcOrd="0" destOrd="0" presId="urn:microsoft.com/office/officeart/2005/8/layout/cycle1"/>
    <dgm:cxn modelId="{AC0C8F2B-112B-4EE2-ADEB-81D6B38E5524}" type="presOf" srcId="{4C9F1FB8-F2D8-429D-8AEA-EA38391251D3}" destId="{6432AD9D-4B7C-4D70-9BD9-D10B069EEEFD}" srcOrd="0" destOrd="0" presId="urn:microsoft.com/office/officeart/2005/8/layout/cycle1"/>
    <dgm:cxn modelId="{8A01923E-0700-46EE-B15C-30C803B17745}" type="presOf" srcId="{91F1EA04-71E1-49CF-9F74-1FD2EEE8C948}" destId="{F565EAB6-69C6-4758-B508-AC9C797AB822}" srcOrd="0" destOrd="0" presId="urn:microsoft.com/office/officeart/2005/8/layout/cycle1"/>
    <dgm:cxn modelId="{7CE20565-92E7-45FB-9BA0-512687362614}" type="presOf" srcId="{5EB50B44-DFD5-4AA3-A427-BA98592523D9}" destId="{84B60B21-B8EF-425A-9E62-948A0CEF8724}" srcOrd="0" destOrd="0" presId="urn:microsoft.com/office/officeart/2005/8/layout/cycle1"/>
    <dgm:cxn modelId="{938C6B53-5AE2-41DF-AFB3-644FFBCCF698}" srcId="{E8AD159B-889B-4F31-AACA-0B7DA58F198A}" destId="{9F52FDA7-5BC1-4A36-81FA-A52B90B90271}" srcOrd="1" destOrd="0" parTransId="{D4CB4ABC-3CA9-4E53-9508-2BE2A602E890}" sibTransId="{4C9F1FB8-F2D8-429D-8AEA-EA38391251D3}"/>
    <dgm:cxn modelId="{1ECEBC58-ABA9-4519-8E94-E8FE4CFB189D}" srcId="{E8AD159B-889B-4F31-AACA-0B7DA58F198A}" destId="{84DC69DB-8EC2-4624-9E68-1E542C4BB312}" srcOrd="2" destOrd="0" parTransId="{E21102C6-8966-434C-869C-34E650B89FA5}" sibTransId="{91F1EA04-71E1-49CF-9F74-1FD2EEE8C948}"/>
    <dgm:cxn modelId="{A949265A-7E2A-4D35-84D3-788F8BD214FE}" type="presOf" srcId="{0BE4150A-E69F-4A0A-A50D-598199D31657}" destId="{9A624ED0-E5AA-4A32-96D5-A5EC6F4F1CD1}" srcOrd="0" destOrd="0" presId="urn:microsoft.com/office/officeart/2005/8/layout/cycle1"/>
    <dgm:cxn modelId="{D3CCC4CC-032B-44AC-AB7F-3B78CA010A42}" type="presOf" srcId="{84DC69DB-8EC2-4624-9E68-1E542C4BB312}" destId="{63F78399-37B9-4317-B073-69DB81EDF981}" srcOrd="0" destOrd="0" presId="urn:microsoft.com/office/officeart/2005/8/layout/cycle1"/>
    <dgm:cxn modelId="{667B7AEB-529E-4349-9408-0EADC2951222}" type="presOf" srcId="{9F52FDA7-5BC1-4A36-81FA-A52B90B90271}" destId="{88590DB5-6556-4A52-A03E-C0418CAD8301}" srcOrd="0" destOrd="0" presId="urn:microsoft.com/office/officeart/2005/8/layout/cycle1"/>
    <dgm:cxn modelId="{1B7398EE-7CBD-46D8-81E7-887EA71D1FB7}" type="presOf" srcId="{E777AB66-ADF5-4E4C-A7EF-05EBEBC1F2EE}" destId="{E58B1740-AA3C-4C42-94DD-FE72C6D187B5}" srcOrd="0" destOrd="0" presId="urn:microsoft.com/office/officeart/2005/8/layout/cycle1"/>
    <dgm:cxn modelId="{042967F9-D141-4ECF-BF67-DF684846D3BF}" srcId="{E8AD159B-889B-4F31-AACA-0B7DA58F198A}" destId="{5EB50B44-DFD5-4AA3-A427-BA98592523D9}" srcOrd="0" destOrd="0" parTransId="{9509D6E0-B763-4B05-A436-CF318B44AFB3}" sibTransId="{E777AB66-ADF5-4E4C-A7EF-05EBEBC1F2EE}"/>
    <dgm:cxn modelId="{51D24E0D-BBEA-44A7-8915-22EA1981D22A}" type="presParOf" srcId="{222090E5-DE09-44B8-84B1-105AA7144088}" destId="{EB8BD01C-0BB1-4A32-A839-838B0DDE8C38}" srcOrd="0" destOrd="0" presId="urn:microsoft.com/office/officeart/2005/8/layout/cycle1"/>
    <dgm:cxn modelId="{B0DC8B45-D8C5-4C8B-B1D3-FD73671BA713}" type="presParOf" srcId="{222090E5-DE09-44B8-84B1-105AA7144088}" destId="{84B60B21-B8EF-425A-9E62-948A0CEF8724}" srcOrd="1" destOrd="0" presId="urn:microsoft.com/office/officeart/2005/8/layout/cycle1"/>
    <dgm:cxn modelId="{0A3CE572-CDC3-4E83-850C-DE5FB4449BBF}" type="presParOf" srcId="{222090E5-DE09-44B8-84B1-105AA7144088}" destId="{E58B1740-AA3C-4C42-94DD-FE72C6D187B5}" srcOrd="2" destOrd="0" presId="urn:microsoft.com/office/officeart/2005/8/layout/cycle1"/>
    <dgm:cxn modelId="{48D63E04-DC66-4462-B253-789138A44FB7}" type="presParOf" srcId="{222090E5-DE09-44B8-84B1-105AA7144088}" destId="{711FCE38-592C-4A96-A53D-49E2A2757429}" srcOrd="3" destOrd="0" presId="urn:microsoft.com/office/officeart/2005/8/layout/cycle1"/>
    <dgm:cxn modelId="{3D03372A-C1D2-4C4F-93ED-CB94B7F0EE3A}" type="presParOf" srcId="{222090E5-DE09-44B8-84B1-105AA7144088}" destId="{88590DB5-6556-4A52-A03E-C0418CAD8301}" srcOrd="4" destOrd="0" presId="urn:microsoft.com/office/officeart/2005/8/layout/cycle1"/>
    <dgm:cxn modelId="{2CEDE2FB-DBED-4A9D-A840-9AD95E79CC9F}" type="presParOf" srcId="{222090E5-DE09-44B8-84B1-105AA7144088}" destId="{6432AD9D-4B7C-4D70-9BD9-D10B069EEEFD}" srcOrd="5" destOrd="0" presId="urn:microsoft.com/office/officeart/2005/8/layout/cycle1"/>
    <dgm:cxn modelId="{BAF347B4-F398-42BC-8BF1-B20DBDD35781}" type="presParOf" srcId="{222090E5-DE09-44B8-84B1-105AA7144088}" destId="{2B44BFE9-884A-442A-B2F5-3B4938FC6308}" srcOrd="6" destOrd="0" presId="urn:microsoft.com/office/officeart/2005/8/layout/cycle1"/>
    <dgm:cxn modelId="{55125B8E-A9B5-4CB0-A707-16F8B641AAD6}" type="presParOf" srcId="{222090E5-DE09-44B8-84B1-105AA7144088}" destId="{63F78399-37B9-4317-B073-69DB81EDF981}" srcOrd="7" destOrd="0" presId="urn:microsoft.com/office/officeart/2005/8/layout/cycle1"/>
    <dgm:cxn modelId="{7D943A00-753A-4E42-BB4E-F1F725ECE215}" type="presParOf" srcId="{222090E5-DE09-44B8-84B1-105AA7144088}" destId="{F565EAB6-69C6-4758-B508-AC9C797AB822}" srcOrd="8" destOrd="0" presId="urn:microsoft.com/office/officeart/2005/8/layout/cycle1"/>
    <dgm:cxn modelId="{B1451F50-B5FD-41BA-AF48-8964B2377F19}" type="presParOf" srcId="{222090E5-DE09-44B8-84B1-105AA7144088}" destId="{06DF3687-5FE4-4D97-BB6B-E79C67C6C154}" srcOrd="9" destOrd="0" presId="urn:microsoft.com/office/officeart/2005/8/layout/cycle1"/>
    <dgm:cxn modelId="{5F3817AA-A54D-4848-8F19-CDCBC6C2012B}" type="presParOf" srcId="{222090E5-DE09-44B8-84B1-105AA7144088}" destId="{9A624ED0-E5AA-4A32-96D5-A5EC6F4F1CD1}" srcOrd="10" destOrd="0" presId="urn:microsoft.com/office/officeart/2005/8/layout/cycle1"/>
    <dgm:cxn modelId="{21CFDA07-D64E-4913-A4CF-CF028DE4D3A3}" type="presParOf" srcId="{222090E5-DE09-44B8-84B1-105AA7144088}" destId="{6B43DD75-20EB-4BF8-9B12-8873844DD5AD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153AD-50BC-4971-A076-05FCDE18C994}">
      <dsp:nvSpPr>
        <dsp:cNvPr id="0" name=""/>
        <dsp:cNvSpPr/>
      </dsp:nvSpPr>
      <dsp:spPr>
        <a:xfrm>
          <a:off x="7143" y="498210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/>
              <a:ea typeface="Calibri"/>
              <a:cs typeface="Calibri"/>
            </a:rPr>
            <a:t>Plant Simulator</a:t>
          </a:r>
          <a:r>
            <a:rPr lang="en-US" sz="1800" kern="1200" dirty="0">
              <a:latin typeface="Times New Roman"/>
              <a:ea typeface="Calibri"/>
              <a:cs typeface="Calibri"/>
            </a:rPr>
            <a:t> : Creates plant data (temperature pressure, flow).</a:t>
          </a:r>
          <a:endParaRPr lang="en-IN" sz="1800" kern="1200" dirty="0"/>
        </a:p>
      </dsp:txBody>
      <dsp:txXfrm>
        <a:off x="44665" y="535732"/>
        <a:ext cx="2060143" cy="1206068"/>
      </dsp:txXfrm>
    </dsp:sp>
    <dsp:sp modelId="{FEF46061-6EED-4635-8781-1E7F23D0A45E}">
      <dsp:nvSpPr>
        <dsp:cNvPr id="0" name=""/>
        <dsp:cNvSpPr/>
      </dsp:nvSpPr>
      <dsp:spPr>
        <a:xfrm>
          <a:off x="2355850" y="87400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2355850" y="979908"/>
        <a:ext cx="316861" cy="317716"/>
      </dsp:txXfrm>
    </dsp:sp>
    <dsp:sp modelId="{E85F5199-F90E-4B7E-9198-DE97786107F7}">
      <dsp:nvSpPr>
        <dsp:cNvPr id="0" name=""/>
        <dsp:cNvSpPr/>
      </dsp:nvSpPr>
      <dsp:spPr>
        <a:xfrm>
          <a:off x="2996406" y="498210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/>
              <a:ea typeface="Calibri"/>
              <a:cs typeface="Calibri"/>
            </a:rPr>
            <a:t>Middleware</a:t>
          </a:r>
          <a:r>
            <a:rPr lang="en-US" sz="1800" kern="1200">
              <a:latin typeface="Times New Roman"/>
              <a:ea typeface="Calibri"/>
              <a:cs typeface="Calibri"/>
            </a:rPr>
            <a:t> (eg, ROS) : Connects robots to plant data.</a:t>
          </a:r>
          <a:endParaRPr lang="en-IN" sz="1800" kern="1200" dirty="0"/>
        </a:p>
      </dsp:txBody>
      <dsp:txXfrm>
        <a:off x="3033928" y="535732"/>
        <a:ext cx="2060143" cy="1206068"/>
      </dsp:txXfrm>
    </dsp:sp>
    <dsp:sp modelId="{8A9001C5-E2AF-4FBD-9373-A42409250661}">
      <dsp:nvSpPr>
        <dsp:cNvPr id="0" name=""/>
        <dsp:cNvSpPr/>
      </dsp:nvSpPr>
      <dsp:spPr>
        <a:xfrm>
          <a:off x="5345112" y="87400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345112" y="979908"/>
        <a:ext cx="316861" cy="317716"/>
      </dsp:txXfrm>
    </dsp:sp>
    <dsp:sp modelId="{BCA1D876-C230-4770-8DA9-5BF096F198B6}">
      <dsp:nvSpPr>
        <dsp:cNvPr id="0" name=""/>
        <dsp:cNvSpPr/>
      </dsp:nvSpPr>
      <dsp:spPr>
        <a:xfrm>
          <a:off x="5985668" y="498210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/>
              <a:ea typeface="Calibri"/>
              <a:cs typeface="Calibri"/>
            </a:rPr>
            <a:t>3D Simulation Platform </a:t>
          </a:r>
          <a:r>
            <a:rPr lang="en-US" sz="1800" kern="1200" dirty="0">
              <a:latin typeface="Times New Roman"/>
              <a:ea typeface="Calibri"/>
              <a:cs typeface="Calibri"/>
            </a:rPr>
            <a:t>: Environments where robots navigate.</a:t>
          </a:r>
          <a:endParaRPr lang="en-IN" sz="1800" kern="1200" dirty="0"/>
        </a:p>
      </dsp:txBody>
      <dsp:txXfrm>
        <a:off x="6023190" y="535732"/>
        <a:ext cx="2060143" cy="120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60B21-B8EF-425A-9E62-948A0CEF8724}">
      <dsp:nvSpPr>
        <dsp:cNvPr id="0" name=""/>
        <dsp:cNvSpPr/>
      </dsp:nvSpPr>
      <dsp:spPr>
        <a:xfrm>
          <a:off x="8640271" y="106954"/>
          <a:ext cx="1689863" cy="1689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/>
              <a:cs typeface="Times New Roman"/>
            </a:rPr>
            <a:t>GPWR Simulator (Client</a:t>
          </a:r>
          <a:r>
            <a:rPr lang="en-US" sz="2000" b="0" kern="1200" dirty="0">
              <a:latin typeface="Times New Roman"/>
              <a:cs typeface="Times New Roman"/>
            </a:rPr>
            <a:t>): Runs in Win32 env;  GUI + DDE support</a:t>
          </a:r>
        </a:p>
      </dsp:txBody>
      <dsp:txXfrm>
        <a:off x="8640271" y="106954"/>
        <a:ext cx="1689863" cy="1689863"/>
      </dsp:txXfrm>
    </dsp:sp>
    <dsp:sp modelId="{E58B1740-AA3C-4C42-94DD-FE72C6D187B5}">
      <dsp:nvSpPr>
        <dsp:cNvPr id="0" name=""/>
        <dsp:cNvSpPr/>
      </dsp:nvSpPr>
      <dsp:spPr>
        <a:xfrm>
          <a:off x="5659634" y="-212"/>
          <a:ext cx="4777668" cy="4777668"/>
        </a:xfrm>
        <a:prstGeom prst="circularArrow">
          <a:avLst>
            <a:gd name="adj1" fmla="val 6897"/>
            <a:gd name="adj2" fmla="val 464963"/>
            <a:gd name="adj3" fmla="val 551053"/>
            <a:gd name="adj4" fmla="val 20583984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90DB5-6556-4A52-A03E-C0418CAD8301}">
      <dsp:nvSpPr>
        <dsp:cNvPr id="0" name=""/>
        <dsp:cNvSpPr/>
      </dsp:nvSpPr>
      <dsp:spPr>
        <a:xfrm>
          <a:off x="8640271" y="2980425"/>
          <a:ext cx="1689863" cy="1689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/>
              <a:ea typeface="Calibri"/>
              <a:cs typeface="Calibri"/>
            </a:rPr>
            <a:t>Sensor Data</a:t>
          </a:r>
          <a:r>
            <a:rPr lang="en-US" sz="2000" b="0" kern="1200" dirty="0">
              <a:latin typeface="Times New Roman"/>
              <a:ea typeface="Calibri"/>
              <a:cs typeface="Calibri"/>
            </a:rPr>
            <a:t>: key:value format</a:t>
          </a:r>
          <a:endParaRPr lang="en-US" sz="2000" kern="1200" dirty="0"/>
        </a:p>
      </dsp:txBody>
      <dsp:txXfrm>
        <a:off x="8640271" y="2980425"/>
        <a:ext cx="1689863" cy="1689863"/>
      </dsp:txXfrm>
    </dsp:sp>
    <dsp:sp modelId="{6432AD9D-4B7C-4D70-9BD9-D10B069EEEFD}">
      <dsp:nvSpPr>
        <dsp:cNvPr id="0" name=""/>
        <dsp:cNvSpPr/>
      </dsp:nvSpPr>
      <dsp:spPr>
        <a:xfrm>
          <a:off x="5659634" y="-212"/>
          <a:ext cx="4777668" cy="4777668"/>
        </a:xfrm>
        <a:prstGeom prst="circularArrow">
          <a:avLst>
            <a:gd name="adj1" fmla="val 6897"/>
            <a:gd name="adj2" fmla="val 464963"/>
            <a:gd name="adj3" fmla="val 5951053"/>
            <a:gd name="adj4" fmla="val 4383984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78399-37B9-4317-B073-69DB81EDF981}">
      <dsp:nvSpPr>
        <dsp:cNvPr id="0" name=""/>
        <dsp:cNvSpPr/>
      </dsp:nvSpPr>
      <dsp:spPr>
        <a:xfrm>
          <a:off x="5766801" y="2980425"/>
          <a:ext cx="1689863" cy="1689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/>
              <a:cs typeface="Times New Roman"/>
            </a:rPr>
            <a:t>3D Simulation (Server</a:t>
          </a:r>
          <a:r>
            <a:rPr lang="en-US" sz="2000" b="0" kern="1200" dirty="0">
              <a:latin typeface="Times New Roman"/>
              <a:cs typeface="Times New Roman"/>
            </a:rPr>
            <a:t>): Omniverse Isaac Sim </a:t>
          </a:r>
          <a:endParaRPr lang="en-US" sz="2000" kern="1200" dirty="0"/>
        </a:p>
      </dsp:txBody>
      <dsp:txXfrm>
        <a:off x="5766801" y="2980425"/>
        <a:ext cx="1689863" cy="1689863"/>
      </dsp:txXfrm>
    </dsp:sp>
    <dsp:sp modelId="{F565EAB6-69C6-4758-B508-AC9C797AB822}">
      <dsp:nvSpPr>
        <dsp:cNvPr id="0" name=""/>
        <dsp:cNvSpPr/>
      </dsp:nvSpPr>
      <dsp:spPr>
        <a:xfrm>
          <a:off x="5659634" y="-212"/>
          <a:ext cx="4777668" cy="4777668"/>
        </a:xfrm>
        <a:prstGeom prst="circularArrow">
          <a:avLst>
            <a:gd name="adj1" fmla="val 6897"/>
            <a:gd name="adj2" fmla="val 464963"/>
            <a:gd name="adj3" fmla="val 11351053"/>
            <a:gd name="adj4" fmla="val 9783984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24ED0-E5AA-4A32-96D5-A5EC6F4F1CD1}">
      <dsp:nvSpPr>
        <dsp:cNvPr id="0" name=""/>
        <dsp:cNvSpPr/>
      </dsp:nvSpPr>
      <dsp:spPr>
        <a:xfrm>
          <a:off x="5766801" y="106954"/>
          <a:ext cx="1689863" cy="1689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/>
              <a:cs typeface="Times New Roman"/>
            </a:rPr>
            <a:t>Robot Controllers</a:t>
          </a:r>
          <a:r>
            <a:rPr lang="en-US" sz="2000" b="0" kern="1200" dirty="0">
              <a:latin typeface="Times New Roman"/>
              <a:cs typeface="Times New Roman"/>
            </a:rPr>
            <a:t>: Navigation, Inspection &amp; Planning</a:t>
          </a:r>
          <a:endParaRPr lang="en-US" sz="2000" kern="1200" dirty="0"/>
        </a:p>
      </dsp:txBody>
      <dsp:txXfrm>
        <a:off x="5766801" y="106954"/>
        <a:ext cx="1689863" cy="1689863"/>
      </dsp:txXfrm>
    </dsp:sp>
    <dsp:sp modelId="{6B43DD75-20EB-4BF8-9B12-8873844DD5AD}">
      <dsp:nvSpPr>
        <dsp:cNvPr id="0" name=""/>
        <dsp:cNvSpPr/>
      </dsp:nvSpPr>
      <dsp:spPr>
        <a:xfrm>
          <a:off x="5659634" y="-212"/>
          <a:ext cx="4777668" cy="4777668"/>
        </a:xfrm>
        <a:prstGeom prst="circularArrow">
          <a:avLst>
            <a:gd name="adj1" fmla="val 6897"/>
            <a:gd name="adj2" fmla="val 464963"/>
            <a:gd name="adj3" fmla="val 16751053"/>
            <a:gd name="adj4" fmla="val 15183984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298D-2FFE-4517-8E10-E9394894EEA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C1D7D-EFEA-4841-959A-F45461074D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7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39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5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3A3A-4A10-15D8-95CD-0570EBFF4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E60DD-EBAD-B044-4FF5-305C9808A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89CF7-035A-460A-3377-DED05AC0E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BD29C-A3D7-E958-39F8-9A3DCE0808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5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9F61-4F64-38E6-6F86-ADB50837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B463D-8345-C02B-843B-B0BB2FA8A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52725-C959-16D9-1CD2-4282391E7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7E62A-2D0A-1E9D-429A-EFE653715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40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1D76-8C54-BBB9-0C34-C364BA9C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5C7B8-38DF-E2AC-D2D9-7D16161D5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EAE7F-75F5-AB52-745B-8504497F7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7E2EA-3649-DE26-CD7F-A2B155BE4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92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E7F1-999C-340F-58A1-DB4ACE38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5AADE-E0CD-7AB1-01C2-ABD7C0569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98886-B49D-3D1C-D338-F7FE3370F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F6215-620A-7E7E-5A94-A2A6931B7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97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B324-2592-C6EB-7D99-FBAEA5A8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54E4C-443B-94BE-A3AB-3E4727666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C904D-06D8-5EEA-FC85-7E1A26CBA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91D99-60FB-E70B-F6F4-87DC8B598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05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916D3-2C5F-AFB0-674C-21256E1E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8A7C9-8AAD-97DE-2EA9-ED2119FCC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79F90-43AE-CAFD-6602-F36A2E0FC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DF4CB-D53F-EB07-BCEB-9FC6829EA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53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D6C8-B124-FD27-8406-417B3968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66B13-7A41-541A-A56E-98755AFC7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32F5C-B786-F7B6-6954-C1EF493B8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B9CC2-D044-0641-4AA6-221E4449A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28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DB59-A6A2-E2AE-91CB-B6DEC225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7AACB-5DE3-806A-9BF4-44CC32D18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83557-1898-2629-EA1D-7D0F670BE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46B06-9333-94C4-8CC3-C2DA5C2012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88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3CA2-7C1B-DDCE-5E14-5D8100ED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9B0B4-9D70-A7EC-648D-782F4FE5C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99BFA-FFA9-2B26-2B23-6A6652948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4C1BC-D082-AFCD-743A-ADD8CD8818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15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38493-193C-753E-CDF8-D87B61792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9FE20-8690-CC8C-F5AF-38158A8E7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86101-E9AE-4140-BC9B-2680FF017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238FE-A327-0F08-BFCF-953DB2DD7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41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ECE2B-721A-AB66-0404-0595A3D1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08C7A-02DF-83D4-2A67-5591A17F8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60C53-4DAE-422A-47F6-717FE8C54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79139-53D4-38A3-55E9-ABC8FE85D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8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A8083-ECE5-36B0-9D32-FFBE80C6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A10AE-CF8C-06B6-AFD1-DC39EE731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CAA31-E91F-9A02-4A2A-33ABAB22C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F6ACA-1EDA-D981-296F-6DE06F82F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37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E0A6-95C6-81CD-B56A-DFDF99B16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0DAC3-AB29-4F20-D922-F9B5895E5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C8A09-6894-FECA-B20C-566EE5EFC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489F7-A081-1125-DA76-68622D168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1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E3F7-84DE-3AA8-53C1-FB722274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0CD5E-3A47-F592-6143-8B185A622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D1B6E-05CE-CD9A-0DC2-BBB77BBAA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F3374-0E14-661D-B1A4-D9414EE33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09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F19F3-C9B4-B9F4-F71D-9BC3150B9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975D5-A3DA-68DE-8438-6397B6FDA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6E6B5-2A74-9F6F-7AD3-5D7F22017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BE24C-B3F0-44F1-9E09-74C6D30D0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81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66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7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9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9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0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9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47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01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6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6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6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49E14-0A04-42CB-BA3A-A312434E8E04}" type="datetimeFigureOut">
              <a:rPr lang="en-IN" smtClean="0"/>
              <a:pPr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2248" y="265725"/>
            <a:ext cx="7870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Swis721 BlkCn BT" panose="020B0806030502040204" pitchFamily="34" charset="0"/>
              </a:rPr>
              <a:t>SAINTGITS</a:t>
            </a:r>
            <a:endParaRPr lang="en-IN" sz="2400" b="1" dirty="0">
              <a:latin typeface="Swis721 BlkCn BT" panose="020B0806030502040204" pitchFamily="34" charset="0"/>
            </a:endParaRPr>
          </a:p>
          <a:p>
            <a:r>
              <a:rPr lang="en-IN" sz="2400" b="1" dirty="0">
                <a:latin typeface="Swis721 BlkCn BT" panose="020B0806030502040204" pitchFamily="34" charset="0"/>
              </a:rPr>
              <a:t>COLLEGE OF ENGINEERING</a:t>
            </a:r>
          </a:p>
          <a:p>
            <a:r>
              <a:rPr lang="en-IN" dirty="0">
                <a:latin typeface="Gill Sans MT" panose="020B0502020104020203" pitchFamily="34" charset="0"/>
              </a:rPr>
              <a:t>(AUTONOMOUS)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7689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CCA86-A0F1-413C-953F-0BCAE399FDF3}"/>
              </a:ext>
            </a:extLst>
          </p:cNvPr>
          <p:cNvSpPr/>
          <p:nvPr/>
        </p:nvSpPr>
        <p:spPr>
          <a:xfrm>
            <a:off x="571500" y="0"/>
            <a:ext cx="1152525" cy="1266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4" y="88460"/>
            <a:ext cx="956075" cy="10900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E692721-AE3E-44C5-B417-6778C528E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20250"/>
            <a:ext cx="12192000" cy="1569659"/>
          </a:xfrm>
        </p:spPr>
        <p:txBody>
          <a:bodyPr>
            <a:noAutofit/>
          </a:bodyPr>
          <a:lstStyle/>
          <a:p>
            <a:r>
              <a:rPr lang="en-US" sz="4500" b="1" dirty="0">
                <a:solidFill>
                  <a:srgbClr val="FF0000"/>
                </a:solidFill>
                <a:latin typeface="Times New Roman"/>
                <a:cs typeface="Times New Roman"/>
              </a:rPr>
              <a:t>BRIDGING ROBOTICS AND NUCLEAR SAFETY WITH DIGITAL TWINS</a:t>
            </a:r>
            <a:endParaRPr lang="en-IN" sz="4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0DC3281-071C-4D6C-BF6B-7C8E8A86C1BF}"/>
              </a:ext>
            </a:extLst>
          </p:cNvPr>
          <p:cNvSpPr txBox="1"/>
          <p:nvPr/>
        </p:nvSpPr>
        <p:spPr>
          <a:xfrm>
            <a:off x="176696" y="3830292"/>
            <a:ext cx="5380383" cy="17507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  Seminar Guide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 </a:t>
            </a:r>
            <a:r>
              <a:rPr lang="en-US" dirty="0">
                <a:latin typeface="Times New Roman"/>
                <a:cs typeface="Times New Roman"/>
              </a:rPr>
              <a:t> Dr. Binson V A</a:t>
            </a:r>
            <a:endParaRPr lang="en-US" sz="2000" b="1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cs typeface="Times New Roman"/>
              </a:rPr>
              <a:t>  Associate Professor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506B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E8320377-CF11-4C8B-B89B-491D1E6CA1B5}"/>
              </a:ext>
            </a:extLst>
          </p:cNvPr>
          <p:cNvSpPr txBox="1"/>
          <p:nvPr/>
        </p:nvSpPr>
        <p:spPr>
          <a:xfrm>
            <a:off x="8153400" y="3825334"/>
            <a:ext cx="4038600" cy="17507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Presented by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US" err="1">
                <a:latin typeface="Times New Roman"/>
                <a:cs typeface="Times New Roman"/>
              </a:rPr>
              <a:t>Febina</a:t>
            </a:r>
            <a:r>
              <a:rPr lang="en-US" dirty="0">
                <a:latin typeface="Times New Roman"/>
                <a:cs typeface="Times New Roman"/>
              </a:rPr>
              <a:t> Sara Sam (MGP22URB041)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cs typeface="Times New Roman"/>
              </a:rPr>
              <a:t>Department of Electronics Engineering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cs typeface="Times New Roman"/>
              </a:rPr>
              <a:t>SAINTGITS College of Engineering</a:t>
            </a:r>
            <a:endParaRPr lang="en-IN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105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0DE998-F151-461D-BE38-7D1C24A28A8D}"/>
              </a:ext>
            </a:extLst>
          </p:cNvPr>
          <p:cNvSpPr txBox="1"/>
          <p:nvPr/>
        </p:nvSpPr>
        <p:spPr>
          <a:xfrm>
            <a:off x="0" y="104892"/>
            <a:ext cx="12192000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Contents</a:t>
            </a:r>
            <a:endParaRPr lang="en-US"/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A4836F-BB08-4E96-BA68-FF0FC9981F8F}"/>
              </a:ext>
            </a:extLst>
          </p:cNvPr>
          <p:cNvSpPr txBox="1">
            <a:spLocks/>
          </p:cNvSpPr>
          <p:nvPr/>
        </p:nvSpPr>
        <p:spPr>
          <a:xfrm>
            <a:off x="282274" y="977086"/>
            <a:ext cx="11909726" cy="570193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5000"/>
              </a:lnSpc>
            </a:pPr>
            <a:r>
              <a:rPr lang="en-US" sz="1800" dirty="0">
                <a:latin typeface="Times New Roman"/>
                <a:cs typeface="Times New Roman"/>
              </a:rPr>
              <a:t>Introduction</a:t>
            </a:r>
          </a:p>
          <a:p>
            <a:pPr marL="285750" indent="-285750">
              <a:lnSpc>
                <a:spcPct val="125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Why Robotics in NPP?</a:t>
            </a:r>
            <a:endParaRPr lang="en-US" sz="1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25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Digital Twin Concept</a:t>
            </a:r>
            <a:endParaRPr lang="en-US" sz="1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25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System Architecture</a:t>
            </a:r>
          </a:p>
          <a:p>
            <a:pPr marL="285750" indent="-285750">
              <a:lnSpc>
                <a:spcPct val="125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Methodology</a:t>
            </a:r>
          </a:p>
          <a:p>
            <a:pPr marL="285750" indent="-285750">
              <a:lnSpc>
                <a:spcPct val="12500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Process 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Flow Diagram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25000"/>
              </a:lnSpc>
            </a:pPr>
            <a:r>
              <a:rPr lang="en-US" sz="1800" dirty="0">
                <a:latin typeface="Times New Roman"/>
                <a:cs typeface="Times New Roman"/>
              </a:rPr>
              <a:t>Future Scope</a:t>
            </a:r>
          </a:p>
          <a:p>
            <a:pPr>
              <a:lnSpc>
                <a:spcPct val="125000"/>
              </a:lnSpc>
            </a:pPr>
            <a:r>
              <a:rPr lang="en-US" sz="1800" dirty="0">
                <a:latin typeface="Times New Roman"/>
                <a:cs typeface="Times New Roman"/>
              </a:rPr>
              <a:t>Conclusion</a:t>
            </a:r>
          </a:p>
          <a:p>
            <a:pPr>
              <a:lnSpc>
                <a:spcPct val="125000"/>
              </a:lnSpc>
            </a:pPr>
            <a:r>
              <a:rPr lang="en-US" sz="1800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pPr marL="285750" indent="-285750">
              <a:lnSpc>
                <a:spcPct val="125000"/>
              </a:lnSpc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</a:pPr>
            <a:endParaRPr 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IN" sz="2900" dirty="0">
              <a:solidFill>
                <a:srgbClr val="3506B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8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3FEA35-EF67-4DBB-8EFE-9C05F18FD1B8}"/>
              </a:ext>
            </a:extLst>
          </p:cNvPr>
          <p:cNvSpPr txBox="1"/>
          <p:nvPr/>
        </p:nvSpPr>
        <p:spPr>
          <a:xfrm>
            <a:off x="0" y="100554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Introduction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4F5302-2D94-DC36-CDC2-4AE36B9DD565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B7B0B-C387-61E9-D9C4-B848A3CE7C5C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1CAC6-CB8E-E135-D018-9A7159FE8680}"/>
              </a:ext>
            </a:extLst>
          </p:cNvPr>
          <p:cNvSpPr txBox="1"/>
          <p:nvPr/>
        </p:nvSpPr>
        <p:spPr>
          <a:xfrm>
            <a:off x="185351" y="1027868"/>
            <a:ext cx="1156495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Nuclear power plants (NPPs) operate in environments that are often unsafe for prolonged human presence due to extreme temperatures and harmful radiation.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An effective approach is provided by robotics, however, testing new robotic systems directly in operating NPPs is extremely difficult due to safety and regulatory restrictions.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A digital twin, a virtual replica of the plant provides a realistic, risk-free environment for developing, testing, and optimizing robotic operations. This seminar explores the integration of the GPWR simulator with the Omniverse-ROS platform to create an advanced NPP digital twin for navigation and interaction research.</a:t>
            </a:r>
            <a:endParaRPr lang="en-US">
              <a:latin typeface="Times New Roman"/>
              <a:ea typeface="Calibri"/>
              <a:cs typeface="Calibri"/>
            </a:endParaRPr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A4180684-C16F-AB40-6793-F1349BE0E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14" y="3729423"/>
            <a:ext cx="3912976" cy="1225981"/>
          </a:xfrm>
          <a:prstGeom prst="rect">
            <a:avLst/>
          </a:prstGeom>
        </p:spPr>
      </p:pic>
      <p:pic>
        <p:nvPicPr>
          <p:cNvPr id="12" name="Picture 11" descr="A yellow sign with black and red text&#10;&#10;AI-generated content may be incorrect.">
            <a:extLst>
              <a:ext uri="{FF2B5EF4-FFF2-40B4-BE49-F238E27FC236}">
                <a16:creationId xmlns:a16="http://schemas.microsoft.com/office/drawing/2014/main" id="{D6218F04-6A06-456A-0991-743D117B67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" r="-106" b="10060"/>
          <a:stretch>
            <a:fillRect/>
          </a:stretch>
        </p:blipFill>
        <p:spPr>
          <a:xfrm>
            <a:off x="6459618" y="3428762"/>
            <a:ext cx="3523096" cy="224798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F3451-0279-D98D-0631-16DEC10C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/>
              <a:t>1</a:t>
            </a:r>
            <a:endParaRPr lang="en-IN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8471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6FAE4-2722-6986-C011-0266FC29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D877EA1-1151-B096-9019-DEB4A1E730F7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1077C5-ABBA-002B-DE8A-2BC41F5F15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BF4BD5-DC03-F9F5-0D91-541E7BF9808A}"/>
              </a:ext>
            </a:extLst>
          </p:cNvPr>
          <p:cNvSpPr txBox="1"/>
          <p:nvPr/>
        </p:nvSpPr>
        <p:spPr>
          <a:xfrm>
            <a:off x="0" y="100554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Why Robotics in NPP?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48E5D2-2DEA-828F-7C4D-921C8896D74B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F2279-F44C-0AB3-BC43-A2CD07CA3185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29F5E-4090-267F-ACBC-A7659247682E}"/>
              </a:ext>
            </a:extLst>
          </p:cNvPr>
          <p:cNvSpPr txBox="1"/>
          <p:nvPr/>
        </p:nvSpPr>
        <p:spPr>
          <a:xfrm>
            <a:off x="242216" y="1198465"/>
            <a:ext cx="11712803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/>
                <a:ea typeface="+mn-lt"/>
                <a:cs typeface="+mn-lt"/>
              </a:rPr>
              <a:t>Robotics in Nuclear Power Plants offer:</a:t>
            </a:r>
          </a:p>
          <a:p>
            <a:pPr marL="285750" indent="-285750" algn="just">
              <a:buFont typeface="Arial"/>
              <a:buChar char="•"/>
            </a:pPr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Avoids exceeding NRC’s annual radiation exposure limit of 50 mSv.</a:t>
            </a:r>
            <a:endParaRPr lang="en-US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Reduces manpower needs in hazardous plant areas.</a:t>
            </a:r>
            <a:endParaRPr lang="en-US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Minimizes human exposure to heat, radiation, and contamination.</a:t>
            </a:r>
            <a:endParaRPr lang="en-US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Allows maintenance without shutting down the plant.</a:t>
            </a:r>
            <a:endParaRPr lang="en-US"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Delivers precise and reliable operation without fatigue.</a:t>
            </a:r>
            <a:endParaRPr lang="en-US"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Enables inspection and recovery after accidents.</a:t>
            </a:r>
            <a:endParaRPr lang="en-US"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Calibri"/>
              <a:cs typeface="Calibri"/>
            </a:endParaRPr>
          </a:p>
        </p:txBody>
      </p:sp>
      <p:pic>
        <p:nvPicPr>
          <p:cNvPr id="7" name="Picture 6" descr="A yellow robot with black legs&#10;&#10;AI-generated content may be incorrect.">
            <a:extLst>
              <a:ext uri="{FF2B5EF4-FFF2-40B4-BE49-F238E27FC236}">
                <a16:creationId xmlns:a16="http://schemas.microsoft.com/office/drawing/2014/main" id="{F5BEEEDD-810E-BC0D-6894-0CCBFA31E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496" y="1194947"/>
            <a:ext cx="4678994" cy="39026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0C77E7-18A6-BB91-B044-801CE80BD4A3}"/>
              </a:ext>
            </a:extLst>
          </p:cNvPr>
          <p:cNvSpPr txBox="1"/>
          <p:nvPr/>
        </p:nvSpPr>
        <p:spPr>
          <a:xfrm>
            <a:off x="7117069" y="5097256"/>
            <a:ext cx="41679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>
                <a:ea typeface="Calibri"/>
                <a:cs typeface="Calibri"/>
              </a:rPr>
              <a:t>Boston Dynamics Spot</a:t>
            </a:r>
            <a:endParaRPr lang="en-US" i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E96FB4-54EA-C8D5-DA76-C55B565F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/>
              <a:t>2</a:t>
            </a:r>
            <a:endParaRPr lang="en-IN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745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D35B-D5FF-DB66-44D3-9C6223CC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0FF463B-30F0-A409-7C9E-21419AD2C73C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EB484-9660-2821-6B07-7469D11823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AC69CE-7595-09A8-CA4D-01D7056240A2}"/>
              </a:ext>
            </a:extLst>
          </p:cNvPr>
          <p:cNvSpPr txBox="1"/>
          <p:nvPr/>
        </p:nvSpPr>
        <p:spPr>
          <a:xfrm>
            <a:off x="11373" y="100554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Digital Twin Concept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3E848-66A1-01F9-AF3F-56C69C7B64E4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FADB3-8477-5A23-2E6A-A6712108A4F4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8243-0CFF-90FE-73BF-241712A5FA1C}"/>
              </a:ext>
            </a:extLst>
          </p:cNvPr>
          <p:cNvSpPr txBox="1"/>
          <p:nvPr/>
        </p:nvSpPr>
        <p:spPr>
          <a:xfrm>
            <a:off x="276336" y="1027868"/>
            <a:ext cx="11496714" cy="56436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/>
                <a:ea typeface="+mn-lt"/>
                <a:cs typeface="+mn-lt"/>
              </a:rPr>
              <a:t>A Digital Twin is a virtual representation of a physical system that mirrors its state and behavior in real time. It can be implemented in different forms depending on the application.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Calibri"/>
              <a:cs typeface="Calibri"/>
            </a:endParaRPr>
          </a:p>
          <a:p>
            <a:pPr algn="just"/>
            <a:r>
              <a:rPr lang="en-US" b="1" dirty="0">
                <a:latin typeface="Times New Roman"/>
                <a:ea typeface="Calibri"/>
                <a:cs typeface="Calibri"/>
              </a:rPr>
              <a:t>Types of Digital Twins : </a:t>
            </a:r>
          </a:p>
          <a:p>
            <a:pPr algn="just"/>
            <a:endParaRPr lang="en-US" b="1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Physics-driven</a:t>
            </a:r>
            <a:r>
              <a:rPr lang="en-US" dirty="0">
                <a:latin typeface="Times New Roman"/>
                <a:ea typeface="+mn-lt"/>
                <a:cs typeface="+mn-lt"/>
              </a:rPr>
              <a:t> - Based on fundamental physical laws and system equations.</a:t>
            </a:r>
          </a:p>
          <a:p>
            <a:pPr marL="285750" indent="-285750" algn="just"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Data-driven</a:t>
            </a:r>
            <a:r>
              <a:rPr lang="en-US" dirty="0">
                <a:latin typeface="Times New Roman"/>
                <a:ea typeface="+mn-lt"/>
                <a:cs typeface="+mn-lt"/>
              </a:rPr>
              <a:t> - Based on real-time or simulated sensor data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algn="just"/>
            <a:endParaRPr lang="en-US" b="1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22FDD4AA-9406-9824-19A1-7A251D3FEFFC}"/>
              </a:ext>
            </a:extLst>
          </p:cNvPr>
          <p:cNvSpPr txBox="1"/>
          <p:nvPr/>
        </p:nvSpPr>
        <p:spPr>
          <a:xfrm>
            <a:off x="1804721" y="4359450"/>
            <a:ext cx="1242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/>
                <a:cs typeface="Calibri"/>
              </a:rPr>
              <a:t>System</a:t>
            </a:r>
          </a:p>
        </p:txBody>
      </p:sp>
      <p:pic>
        <p:nvPicPr>
          <p:cNvPr id="744" name="Picture 743" descr="A diagram of a robot control&#10;&#10;AI-generated content may be incorrect.">
            <a:extLst>
              <a:ext uri="{FF2B5EF4-FFF2-40B4-BE49-F238E27FC236}">
                <a16:creationId xmlns:a16="http://schemas.microsoft.com/office/drawing/2014/main" id="{AA56BAF2-A28B-BCED-D887-3CA8E7BF47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" t="15903" r="1299" b="20755"/>
          <a:stretch>
            <a:fillRect/>
          </a:stretch>
        </p:blipFill>
        <p:spPr>
          <a:xfrm>
            <a:off x="3365295" y="3339707"/>
            <a:ext cx="5457522" cy="242164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B805F-6802-8188-FC2B-F4724C8F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/>
              <a:t>3</a:t>
            </a: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349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7B60-D7FE-3048-8119-6C2A44432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869640A-F1E1-60FE-237E-949FAE319ECE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E1965-AE0D-11DE-A844-C02EA063A5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DD9517-5C40-3031-29FA-3DF5F17022B6}"/>
              </a:ext>
            </a:extLst>
          </p:cNvPr>
          <p:cNvSpPr txBox="1"/>
          <p:nvPr/>
        </p:nvSpPr>
        <p:spPr>
          <a:xfrm>
            <a:off x="11373" y="100554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System Architecture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96F5F-C791-209A-F763-C95EBD0D4CC5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F5A24D-1672-13A4-1D20-06BFBDEC2594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7B8C2-64E2-DAEB-C106-3D9C027908DA}"/>
              </a:ext>
            </a:extLst>
          </p:cNvPr>
          <p:cNvSpPr txBox="1"/>
          <p:nvPr/>
        </p:nvSpPr>
        <p:spPr>
          <a:xfrm>
            <a:off x="276336" y="1027868"/>
            <a:ext cx="1149671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/>
                <a:ea typeface="+mn-lt"/>
                <a:cs typeface="+mn-lt"/>
              </a:rPr>
              <a:t>Digital twin in NPPs have 3 parts :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Calibri"/>
              <a:ea typeface="+mn-lt"/>
              <a:cs typeface="+mn-lt"/>
            </a:endParaRPr>
          </a:p>
          <a:p>
            <a:pPr algn="just"/>
            <a:r>
              <a:rPr lang="en-US" dirty="0">
                <a:latin typeface="Times New Roman"/>
                <a:ea typeface="Calibri"/>
                <a:cs typeface="Calibri"/>
              </a:rPr>
              <a:t>Example: Georgia Tech research linking GPWR simulator + Omniverse + ROS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pPr algn="just"/>
            <a:endParaRPr lang="en-US" b="1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1AA1F59E-6801-2126-2545-0E82CE3AB285}"/>
              </a:ext>
            </a:extLst>
          </p:cNvPr>
          <p:cNvSpPr txBox="1"/>
          <p:nvPr/>
        </p:nvSpPr>
        <p:spPr>
          <a:xfrm>
            <a:off x="1804721" y="4359450"/>
            <a:ext cx="1242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/>
                <a:cs typeface="Calibri"/>
              </a:rPr>
              <a:t>System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DAA90-271B-21DE-4C6E-023CCB46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/>
              <a:t>3</a:t>
            </a:r>
            <a:endParaRPr lang="en-US" sz="1400" dirty="0">
              <a:ea typeface="Calibri"/>
              <a:cs typeface="Calibri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9CB1B38-8B08-C5B0-4180-02B9D0C41B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094269"/>
              </p:ext>
            </p:extLst>
          </p:nvPr>
        </p:nvGraphicFramePr>
        <p:xfrm>
          <a:off x="2043373" y="1464435"/>
          <a:ext cx="8128000" cy="2277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5866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6B13-AF75-2941-803A-B7C4D113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4AB1D9-18CA-1231-1F6A-6D978566FB10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CAB06-30C6-DA49-483A-C4C624E138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23A6DB-0A70-1590-F921-77AE07FCD70C}"/>
              </a:ext>
            </a:extLst>
          </p:cNvPr>
          <p:cNvSpPr txBox="1"/>
          <p:nvPr/>
        </p:nvSpPr>
        <p:spPr>
          <a:xfrm>
            <a:off x="0" y="100554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Methodology 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CF393-13BE-89F1-E762-B9B003835296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0D346-D1CB-9212-D5FA-83193F8D2658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397AF-F0DE-31D4-26D0-C863DCCA662A}"/>
              </a:ext>
            </a:extLst>
          </p:cNvPr>
          <p:cNvSpPr txBox="1"/>
          <p:nvPr/>
        </p:nvSpPr>
        <p:spPr>
          <a:xfrm>
            <a:off x="287709" y="1027868"/>
            <a:ext cx="11473968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 dirty="0">
                <a:latin typeface="Times New Roman"/>
                <a:ea typeface="+mn-lt"/>
                <a:cs typeface="Times New Roman"/>
              </a:rPr>
              <a:t>(</a:t>
            </a:r>
            <a:r>
              <a:rPr lang="en-US" sz="2200" b="1" dirty="0" err="1">
                <a:latin typeface="Times New Roman"/>
                <a:ea typeface="+mn-lt"/>
                <a:cs typeface="Times New Roman"/>
              </a:rPr>
              <a:t>i</a:t>
            </a:r>
            <a:r>
              <a:rPr lang="en-US" sz="2200" b="1" dirty="0">
                <a:latin typeface="Times New Roman"/>
                <a:ea typeface="+mn-lt"/>
                <a:cs typeface="Times New Roman"/>
              </a:rPr>
              <a:t>) Data Projection :</a:t>
            </a:r>
            <a:endParaRPr lang="en-US" dirty="0">
              <a:latin typeface="Calibri"/>
              <a:ea typeface="+mn-lt"/>
              <a:cs typeface="Calibri"/>
            </a:endParaRPr>
          </a:p>
          <a:p>
            <a:pPr algn="just"/>
            <a:endParaRPr lang="en-US" sz="2200" b="1" dirty="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dirty="0">
                <a:latin typeface="Times New Roman"/>
                <a:ea typeface="+mn-lt"/>
                <a:cs typeface="Calibri"/>
              </a:rPr>
              <a:t>A s</a:t>
            </a:r>
            <a:r>
              <a:rPr lang="en-US" dirty="0">
                <a:latin typeface="Times New Roman"/>
                <a:ea typeface="+mn-lt"/>
                <a:cs typeface="+mn-lt"/>
              </a:rPr>
              <a:t>imulator can be used as a substitute for real NPP data due to access restrictions.</a:t>
            </a:r>
          </a:p>
          <a:p>
            <a:pPr algn="just"/>
            <a:r>
              <a:rPr lang="en-US" b="1" dirty="0">
                <a:latin typeface="Times New Roman"/>
                <a:ea typeface="+mn-lt"/>
                <a:cs typeface="+mn-lt"/>
              </a:rPr>
              <a:t>Process flow will be as follows:</a:t>
            </a:r>
            <a:endParaRPr lang="en-US" b="1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b="1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GUI-based simulator generates plant operation data.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Real-time sensor readings extracted using interface tools like DDE.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Target sensors listed in a configuration file for selective data capture.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Data transmitted via protocols like TCP/IP to the 3D simulation.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Sent in </a:t>
            </a:r>
            <a:r>
              <a:rPr lang="en-US" dirty="0" err="1">
                <a:latin typeface="Times New Roman"/>
                <a:ea typeface="+mn-lt"/>
                <a:cs typeface="+mn-lt"/>
              </a:rPr>
              <a:t>key:value</a:t>
            </a:r>
            <a:r>
              <a:rPr lang="en-US" dirty="0">
                <a:latin typeface="Times New Roman"/>
                <a:ea typeface="+mn-lt"/>
                <a:cs typeface="+mn-lt"/>
              </a:rPr>
              <a:t> pair format with timestamps for efficiency.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Published as custom ROS messages for robot integration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7189E-F3CA-B27F-4F68-672F61AB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40291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F41F-CA22-9CE0-C108-AB561997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A814EDC-CE28-19DA-5AFC-3AEC386E1B19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66157A-BE8C-D49A-94E5-9C3239457A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1A349E-2F03-96C9-3540-DC0AD6CC3889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33B7F-014D-ACF7-AEEC-FCC16F88945B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EF9B2707-D6FD-4081-C249-415537B9A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7" y="846317"/>
            <a:ext cx="9674088" cy="497659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A3E8A-9F6F-6B9E-F86B-AFCCA05F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/>
              <a:t>4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A7FEF-4E4A-F88D-3AD3-B755CF507E69}"/>
              </a:ext>
            </a:extLst>
          </p:cNvPr>
          <p:cNvSpPr txBox="1"/>
          <p:nvPr/>
        </p:nvSpPr>
        <p:spPr>
          <a:xfrm>
            <a:off x="948267" y="416467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</p:txBody>
      </p:sp>
    </p:spTree>
    <p:extLst>
      <p:ext uri="{BB962C8B-B14F-4D97-AF65-F5344CB8AC3E}">
        <p14:creationId xmlns:p14="http://schemas.microsoft.com/office/powerpoint/2010/main" val="327498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97219-BB3B-B032-25AD-8780DDF5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DFE892F-0444-D053-35AD-CC89CE4EB68F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5C695-00DB-A439-E078-281F28B737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79AAF4-EEBD-B21F-D7B3-69F8CB2139AF}"/>
              </a:ext>
            </a:extLst>
          </p:cNvPr>
          <p:cNvSpPr txBox="1"/>
          <p:nvPr/>
        </p:nvSpPr>
        <p:spPr>
          <a:xfrm>
            <a:off x="-125104" y="83136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Process </a:t>
            </a:r>
            <a:r>
              <a:rPr lang="en-US" sz="4200" b="1" dirty="0">
                <a:latin typeface="Times New Roman"/>
                <a:cs typeface="Times New Roman"/>
              </a:rPr>
              <a:t>Flow</a:t>
            </a:r>
            <a:r>
              <a:rPr lang="en-US" sz="4400" b="1" dirty="0">
                <a:latin typeface="Times New Roman"/>
                <a:cs typeface="Times New Roman"/>
              </a:rPr>
              <a:t> Diagram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3FE2B4-8784-5691-912C-490574795C9E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E8DFC-BB4A-226E-9505-8A25342B76F0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63" name="Diagram 62">
            <a:extLst>
              <a:ext uri="{FF2B5EF4-FFF2-40B4-BE49-F238E27FC236}">
                <a16:creationId xmlns:a16="http://schemas.microsoft.com/office/drawing/2014/main" id="{84F5B718-A14F-FE2A-458A-C54A9A606C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0275270"/>
              </p:ext>
            </p:extLst>
          </p:nvPr>
        </p:nvGraphicFramePr>
        <p:xfrm>
          <a:off x="-2359183" y="1135551"/>
          <a:ext cx="16096937" cy="4777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682" name="Picture 4681">
            <a:extLst>
              <a:ext uri="{FF2B5EF4-FFF2-40B4-BE49-F238E27FC236}">
                <a16:creationId xmlns:a16="http://schemas.microsoft.com/office/drawing/2014/main" id="{A6C7041A-BF73-3A79-4DA5-DABA914862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0224" y="5387630"/>
            <a:ext cx="5503379" cy="378652"/>
          </a:xfrm>
          <a:prstGeom prst="rect">
            <a:avLst/>
          </a:prstGeom>
        </p:spPr>
      </p:pic>
      <p:sp>
        <p:nvSpPr>
          <p:cNvPr id="5876" name="TextBox 5875">
            <a:extLst>
              <a:ext uri="{FF2B5EF4-FFF2-40B4-BE49-F238E27FC236}">
                <a16:creationId xmlns:a16="http://schemas.microsoft.com/office/drawing/2014/main" id="{7974FD77-4B63-64DB-4C3E-60EBA1B7FF5B}"/>
              </a:ext>
            </a:extLst>
          </p:cNvPr>
          <p:cNvSpPr txBox="1"/>
          <p:nvPr/>
        </p:nvSpPr>
        <p:spPr>
          <a:xfrm>
            <a:off x="7947484" y="3312307"/>
            <a:ext cx="28568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ea typeface="Calibri"/>
                <a:cs typeface="Calibri"/>
              </a:rPr>
              <a:t>DDE Protocol</a:t>
            </a:r>
          </a:p>
        </p:txBody>
      </p:sp>
      <p:sp>
        <p:nvSpPr>
          <p:cNvPr id="5886" name="TextBox 5885">
            <a:extLst>
              <a:ext uri="{FF2B5EF4-FFF2-40B4-BE49-F238E27FC236}">
                <a16:creationId xmlns:a16="http://schemas.microsoft.com/office/drawing/2014/main" id="{4B93D645-4F0C-ECC6-72E8-939213DCF7F2}"/>
              </a:ext>
            </a:extLst>
          </p:cNvPr>
          <p:cNvSpPr txBox="1"/>
          <p:nvPr/>
        </p:nvSpPr>
        <p:spPr>
          <a:xfrm>
            <a:off x="3727029" y="5880120"/>
            <a:ext cx="470120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ea typeface="+mn-lt"/>
                <a:cs typeface="+mn-lt"/>
              </a:rPr>
              <a:t>TCP/IP Transmission (byte stream) Separator: ":" between key &amp; value "|" between pairs</a:t>
            </a:r>
            <a:endParaRPr lang="en-US" sz="1400" i="1" dirty="0">
              <a:ea typeface="Calibri"/>
              <a:cs typeface="Calibri"/>
            </a:endParaRPr>
          </a:p>
          <a:p>
            <a:pPr algn="l"/>
            <a:endParaRPr lang="en-US" i="1" dirty="0">
              <a:ea typeface="Calibri"/>
              <a:cs typeface="Calibri"/>
            </a:endParaRPr>
          </a:p>
        </p:txBody>
      </p:sp>
      <p:sp>
        <p:nvSpPr>
          <p:cNvPr id="5923" name="TextBox 5922">
            <a:extLst>
              <a:ext uri="{FF2B5EF4-FFF2-40B4-BE49-F238E27FC236}">
                <a16:creationId xmlns:a16="http://schemas.microsoft.com/office/drawing/2014/main" id="{572D1E62-6432-751A-8C31-62D00C9E1D88}"/>
              </a:ext>
            </a:extLst>
          </p:cNvPr>
          <p:cNvSpPr txBox="1"/>
          <p:nvPr/>
        </p:nvSpPr>
        <p:spPr>
          <a:xfrm>
            <a:off x="2048307" y="3465335"/>
            <a:ext cx="15674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ea typeface="+mn-lt"/>
                <a:cs typeface="+mn-lt"/>
              </a:rPr>
              <a:t>ROS Integration </a:t>
            </a:r>
          </a:p>
          <a:p>
            <a:r>
              <a:rPr lang="en-US" sz="1400" i="1" dirty="0">
                <a:ea typeface="+mn-lt"/>
                <a:cs typeface="+mn-lt"/>
              </a:rPr>
              <a:t>(Isaac ROS Bridge)</a:t>
            </a:r>
            <a:endParaRPr lang="en-US" sz="1400" i="1" dirty="0">
              <a:ea typeface="Calibri"/>
              <a:cs typeface="Calibri"/>
            </a:endParaRPr>
          </a:p>
        </p:txBody>
      </p:sp>
      <p:sp>
        <p:nvSpPr>
          <p:cNvPr id="5933" name="TextBox 5932">
            <a:extLst>
              <a:ext uri="{FF2B5EF4-FFF2-40B4-BE49-F238E27FC236}">
                <a16:creationId xmlns:a16="http://schemas.microsoft.com/office/drawing/2014/main" id="{D741F581-726E-09BF-0894-BA9004B92746}"/>
              </a:ext>
            </a:extLst>
          </p:cNvPr>
          <p:cNvSpPr txBox="1"/>
          <p:nvPr/>
        </p:nvSpPr>
        <p:spPr>
          <a:xfrm>
            <a:off x="4638274" y="987406"/>
            <a:ext cx="29120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ea typeface="Calibri"/>
                <a:cs typeface="Calibri"/>
              </a:rPr>
              <a:t>Commands &amp; Status</a:t>
            </a:r>
          </a:p>
        </p:txBody>
      </p:sp>
      <p:sp>
        <p:nvSpPr>
          <p:cNvPr id="5849" name="Slide Number Placeholder 5848">
            <a:extLst>
              <a:ext uri="{FF2B5EF4-FFF2-40B4-BE49-F238E27FC236}">
                <a16:creationId xmlns:a16="http://schemas.microsoft.com/office/drawing/2014/main" id="{9B3933B8-9C8B-3571-C62A-D73AADDA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90065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ED96C-7466-1D09-24FE-B7DF699A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D167E66-F5A7-EE68-3658-A7B64E1AF66D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89F3FF-D65D-E3D2-C236-F7F3808680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B4EF46-6A2B-6B8C-C334-D391296894A3}"/>
              </a:ext>
            </a:extLst>
          </p:cNvPr>
          <p:cNvSpPr txBox="1"/>
          <p:nvPr/>
        </p:nvSpPr>
        <p:spPr>
          <a:xfrm>
            <a:off x="284328" y="169123"/>
            <a:ext cx="11862180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latin typeface="Times New Roman"/>
                <a:cs typeface="Times New Roman"/>
              </a:rPr>
              <a:t>(ii)Sensor Model</a:t>
            </a:r>
          </a:p>
          <a:p>
            <a:endParaRPr lang="en-US" sz="4400" b="1" dirty="0">
              <a:solidFill>
                <a:srgbClr val="3506B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A83B9D-EB54-6B76-EC07-CDDCDD6461F0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F52D3-A05C-4CCC-AC02-0ED7C89EF37A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C6288-7CAC-8404-3336-C4B686774DF5}"/>
              </a:ext>
            </a:extLst>
          </p:cNvPr>
          <p:cNvSpPr txBox="1"/>
          <p:nvPr/>
        </p:nvSpPr>
        <p:spPr>
          <a:xfrm>
            <a:off x="185351" y="1027868"/>
            <a:ext cx="11712803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b="1" dirty="0">
                <a:solidFill>
                  <a:srgbClr val="3506BA"/>
                </a:solidFill>
                <a:latin typeface="Times New Roman"/>
                <a:ea typeface="+mn-lt"/>
                <a:cs typeface="+mn-lt"/>
              </a:rPr>
              <a:t>                            </a:t>
            </a:r>
            <a:endParaRPr lang="en-US" dirty="0">
              <a:solidFill>
                <a:srgbClr val="3506BA"/>
              </a:solidFill>
              <a:latin typeface="Times New Roman"/>
              <a:ea typeface="Calibri"/>
              <a:cs typeface="Calibri"/>
            </a:endParaRPr>
          </a:p>
          <a:p>
            <a:pPr algn="just"/>
            <a:r>
              <a:rPr lang="en-US" dirty="0">
                <a:latin typeface="Times New Roman"/>
                <a:ea typeface="+mn-lt"/>
                <a:cs typeface="+mn-lt"/>
              </a:rPr>
              <a:t> There are four operating conditions as per NRC guidelines: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Green: Healthy, within expected performance.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White: Healthy, outside expected range.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Yellow: Healthy, reduced safety margin.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Red: Unhealthy</a:t>
            </a:r>
            <a:endParaRPr lang="en-US" dirty="0">
              <a:latin typeface="Times New Roman"/>
            </a:endParaRPr>
          </a:p>
          <a:p>
            <a:pPr algn="just"/>
            <a:endParaRPr lang="en-US" dirty="0">
              <a:solidFill>
                <a:srgbClr val="3506BA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 descr="A row of lights on a wall&#10;&#10;AI-generated content may be incorrect.">
            <a:extLst>
              <a:ext uri="{FF2B5EF4-FFF2-40B4-BE49-F238E27FC236}">
                <a16:creationId xmlns:a16="http://schemas.microsoft.com/office/drawing/2014/main" id="{6E66E8EC-5C9D-4DFD-2C11-34148D105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798" y="717826"/>
            <a:ext cx="7243709" cy="364434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440030-9198-1527-B59C-34CEFD8C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/>
              <a:t>7</a:t>
            </a:r>
            <a:endParaRPr lang="en-IN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82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60E0-3F24-A7C9-FFEC-5D51CE71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54CB227-A164-F74B-FB18-F38616B0DF44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C122E1-0ADB-FB3B-0D37-7664EAA338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D5644-D0C0-AD34-8D35-932E84B166D0}"/>
              </a:ext>
            </a:extLst>
          </p:cNvPr>
          <p:cNvSpPr txBox="1"/>
          <p:nvPr/>
        </p:nvSpPr>
        <p:spPr>
          <a:xfrm>
            <a:off x="272954" y="237032"/>
            <a:ext cx="1202140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latin typeface="Times New Roman"/>
                <a:ea typeface="+mn-lt"/>
                <a:cs typeface="Times New Roman"/>
              </a:rPr>
              <a:t>(iii)Improved Collaboration</a:t>
            </a:r>
            <a:endParaRPr 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0721AB-6202-95A5-05DA-A46D6664CCBD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A326C-D6A3-43E3-92F1-80371F66FE75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07A20D5-3719-FCBF-18B1-4C59B21C3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673" y="472233"/>
            <a:ext cx="3928698" cy="59390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FAAC94-61D8-20B7-9AA9-0250CF52BB3D}"/>
              </a:ext>
            </a:extLst>
          </p:cNvPr>
          <p:cNvSpPr txBox="1"/>
          <p:nvPr/>
        </p:nvSpPr>
        <p:spPr>
          <a:xfrm>
            <a:off x="260687" y="1020521"/>
            <a:ext cx="654331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/>
                <a:ea typeface="+mn-lt"/>
                <a:cs typeface="+mn-lt"/>
              </a:rPr>
              <a:t>The developed DT components can be packaged as a ready-to-use simulation extension.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dirty="0">
                <a:latin typeface="Times New Roman"/>
                <a:ea typeface="+mn-lt"/>
                <a:cs typeface="+mn-lt"/>
              </a:rPr>
              <a:t>The developed extension provides two benefits: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First, it lowers huddles for the new collaborators to get started with. 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Secondly, it allows the developers to deploy the application easily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 dirty="0">
              <a:solidFill>
                <a:srgbClr val="3506BA"/>
              </a:solidFill>
              <a:ea typeface="Calibri"/>
              <a:cs typeface="Calibri"/>
            </a:endParaRPr>
          </a:p>
          <a:p>
            <a:pPr algn="just"/>
            <a:endParaRPr lang="en-US" dirty="0">
              <a:solidFill>
                <a:srgbClr val="3506BA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F20CE-7647-9C25-8EA1-4C5BD666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/>
              <a:t>8</a:t>
            </a: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552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5638-8EED-2A04-7ADB-23C4288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DCDFD3A-75AD-ADAD-05EF-295BDBAA7F6A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9DA64-C2C2-33D2-45A5-6ACC59AF2D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E695FA-099E-1DD8-5A11-20B6654CD82A}"/>
              </a:ext>
            </a:extLst>
          </p:cNvPr>
          <p:cNvSpPr txBox="1"/>
          <p:nvPr/>
        </p:nvSpPr>
        <p:spPr>
          <a:xfrm>
            <a:off x="225311" y="249481"/>
            <a:ext cx="12171405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latin typeface="Times New Roman"/>
                <a:cs typeface="Times New Roman"/>
              </a:rPr>
              <a:t>(iv) LTL Planning 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808EF0-71F8-EE91-39D4-86113360037A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A503F-28EA-3EAB-EB46-1CE130FA7313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8810A-2170-4721-3DC2-017BB452A4AA}"/>
              </a:ext>
            </a:extLst>
          </p:cNvPr>
          <p:cNvSpPr txBox="1"/>
          <p:nvPr/>
        </p:nvSpPr>
        <p:spPr>
          <a:xfrm>
            <a:off x="225311" y="772586"/>
            <a:ext cx="1133676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Tasks are written as LTL formulas, which describe constraints on robot behavior.  LTL uses temporal operators such as 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 (Globally): something must always be true.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 (Eventually): something must happen at least once.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X (Next): something must be true in the next step.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 (Until): one condition must hold until another becomes true.</a:t>
            </a:r>
          </a:p>
          <a:p>
            <a:pPr algn="just"/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Example:  “Eventually visit all sensors” → F(sensor1 ∧ sensor2 ∧ sensor3)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 “Always avoid radiation zone” → G(¬</a:t>
            </a:r>
            <a:r>
              <a:rPr lang="en-US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zoneZ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  <a:endParaRPr lang="en-US" i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F07E4-ADD3-5F0C-E352-D1FAC7A1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93367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15B8F-AC2D-E4A8-1E9D-F97DD4CA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5BCBC64-0527-10AF-1CE6-426F23430FD7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C848C9-F3D9-E1BA-73D5-E7CDB5EAA7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998870-84D1-77E7-87CF-A7107AA70B15}"/>
              </a:ext>
            </a:extLst>
          </p:cNvPr>
          <p:cNvSpPr txBox="1"/>
          <p:nvPr/>
        </p:nvSpPr>
        <p:spPr>
          <a:xfrm>
            <a:off x="225311" y="257781"/>
            <a:ext cx="1217140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Example : Demo of LTL Planning using Multi Robots in 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F8555-4367-6E5D-876B-4CF4B8C6592F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1D986-AF2B-BA7D-BEE0-FACD7784FDF9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8" name="Picture 7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D9965DD5-4F55-63E4-942F-3E6ADCC79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08" y="964632"/>
            <a:ext cx="11254946" cy="42304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A602D2-291F-D4F0-5220-469A54F0573C}"/>
              </a:ext>
            </a:extLst>
          </p:cNvPr>
          <p:cNvSpPr txBox="1"/>
          <p:nvPr/>
        </p:nvSpPr>
        <p:spPr>
          <a:xfrm>
            <a:off x="3843338" y="5221700"/>
            <a:ext cx="83911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 </a:t>
            </a:r>
            <a:r>
              <a:rPr lang="en-US" i="1" dirty="0">
                <a:ea typeface="Calibri"/>
                <a:cs typeface="Calibri"/>
              </a:rPr>
              <a:t>(Left) Issac Sim and (Right) RVIZ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63AB6-9659-2605-BEAE-D60EC518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1271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AF2E-1EDD-E21C-545E-98D349E9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EA053A8-55F9-0B82-1430-6CC6C8CC55EC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B1B7B4-2E27-A13C-9FC6-D1DEB2727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E38211-FAA5-A950-2F50-D6FB4F906EED}"/>
              </a:ext>
            </a:extLst>
          </p:cNvPr>
          <p:cNvSpPr txBox="1"/>
          <p:nvPr/>
        </p:nvSpPr>
        <p:spPr>
          <a:xfrm>
            <a:off x="193343" y="237032"/>
            <a:ext cx="12192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latin typeface="Times New Roman"/>
                <a:cs typeface="Times New Roman"/>
              </a:rPr>
              <a:t>(v) Seamless Robot Integration</a:t>
            </a:r>
            <a:endParaRPr 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4DA7CE-A327-ACB0-96C3-B539F5CCD476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2FA37-8743-D35B-7E03-AFC0DE55F235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A219A9-16FD-142D-8786-C3482F7EC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130" y="578339"/>
            <a:ext cx="4509129" cy="5838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F491CB-3564-9514-E29B-352CED6EB74E}"/>
              </a:ext>
            </a:extLst>
          </p:cNvPr>
          <p:cNvSpPr txBox="1"/>
          <p:nvPr/>
        </p:nvSpPr>
        <p:spPr>
          <a:xfrm>
            <a:off x="193217" y="1025379"/>
            <a:ext cx="592954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Homogeneous team: Same robot type (e.g., Carter v1).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Heterogeneous team: Mixed robots (Carter v2, STR, Unitree A1).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Tests adaptability to different robot capabilities.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BB352-23DF-E646-EDF8-426345E1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42176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99DD-D34A-7A3A-99F2-212D2A96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A5C2C25-881A-9929-F2B9-33FD1B6BBD8F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04D686-AF7A-A10F-86F5-FDB1F6B9C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1DCE02-5B69-170B-29A6-12A238294133}"/>
              </a:ext>
            </a:extLst>
          </p:cNvPr>
          <p:cNvSpPr txBox="1"/>
          <p:nvPr/>
        </p:nvSpPr>
        <p:spPr>
          <a:xfrm>
            <a:off x="0" y="100554"/>
            <a:ext cx="1218062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latin typeface="Times New Roman"/>
                <a:ea typeface="+mn-lt"/>
                <a:cs typeface="+mn-lt"/>
              </a:rPr>
              <a:t>(vi) Custom Robot Import</a:t>
            </a:r>
            <a:endParaRPr lang="en-US" sz="2200" b="1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4A3FBC-4898-C3B7-438B-442399AB26F5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27BA9-5FF3-2D72-8815-ED4B4BA3A43A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8" name="Picture 7" descr="A computer screen shot of a white object&#10;&#10;AI-generated content may be incorrect.">
            <a:extLst>
              <a:ext uri="{FF2B5EF4-FFF2-40B4-BE49-F238E27FC236}">
                <a16:creationId xmlns:a16="http://schemas.microsoft.com/office/drawing/2014/main" id="{24F48EB1-F1FF-FD1B-F30D-36A092C96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283" y="868826"/>
            <a:ext cx="8240606" cy="45799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6461AD-2DB9-497C-E435-9A9F6D5193D4}"/>
              </a:ext>
            </a:extLst>
          </p:cNvPr>
          <p:cNvSpPr txBox="1"/>
          <p:nvPr/>
        </p:nvSpPr>
        <p:spPr>
          <a:xfrm>
            <a:off x="317428" y="5473586"/>
            <a:ext cx="833593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Demonstrates importing custom robots into simulation.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Supports adding new robot designs easily.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DFCE8-09B6-28F6-A643-3ED885FF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26735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C862-2E55-37B1-56FD-3DFBEE12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32332AC-E24E-F5E8-76CA-65EC9ED0A931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A7DB2-D7EF-1099-4C65-757C7AE06B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84545-9D7E-E5E6-F656-14F4F5C0F194}"/>
              </a:ext>
            </a:extLst>
          </p:cNvPr>
          <p:cNvSpPr txBox="1"/>
          <p:nvPr/>
        </p:nvSpPr>
        <p:spPr>
          <a:xfrm>
            <a:off x="11373" y="100554"/>
            <a:ext cx="12192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latin typeface="Times New Roman"/>
                <a:ea typeface="+mn-lt"/>
                <a:cs typeface="+mn-lt"/>
              </a:rPr>
              <a:t>(vii) AI-Generated Plant Models</a:t>
            </a:r>
            <a:endParaRPr lang="en-US" sz="220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3BA3BC-A4E5-8A12-1989-330FE8C22021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75073-93BE-E63F-AC38-5F7FE03C23E1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B551D2-C5FE-F7F6-9D55-06B7386F5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931" y="1031439"/>
            <a:ext cx="9669164" cy="516336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14CB4-E4FC-1269-79B8-2213571C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77648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FE4C-99FB-8090-F240-DB61AC70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88FBC75-C81B-87FB-77A1-7EECC4820E18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59335-17BF-8BD2-6D9A-BCEB9D98A1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DD3833-E152-92B6-31A9-29F10066AFCA}"/>
              </a:ext>
            </a:extLst>
          </p:cNvPr>
          <p:cNvSpPr txBox="1"/>
          <p:nvPr/>
        </p:nvSpPr>
        <p:spPr>
          <a:xfrm>
            <a:off x="0" y="100554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Future Scope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432FD-AA7E-8156-880C-DAAB8E7D5B54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064B3-B9D9-702B-371A-DAE41E6B8036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1A5E2-FC97-C2D4-3EA0-FA6DD9008FE7}"/>
              </a:ext>
            </a:extLst>
          </p:cNvPr>
          <p:cNvSpPr txBox="1"/>
          <p:nvPr/>
        </p:nvSpPr>
        <p:spPr>
          <a:xfrm>
            <a:off x="185351" y="1027868"/>
            <a:ext cx="117128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solidFill>
                  <a:srgbClr val="3506BA"/>
                </a:solidFill>
                <a:latin typeface="Times New Roman"/>
                <a:ea typeface="+mn-lt"/>
                <a:cs typeface="+mn-lt"/>
              </a:rPr>
              <a:t> </a:t>
            </a:r>
            <a:endParaRPr lang="en-US">
              <a:solidFill>
                <a:srgbClr val="3506BA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 descr="A diagram of a future scope&#10;&#10;AI-generated content may be incorrect.">
            <a:extLst>
              <a:ext uri="{FF2B5EF4-FFF2-40B4-BE49-F238E27FC236}">
                <a16:creationId xmlns:a16="http://schemas.microsoft.com/office/drawing/2014/main" id="{B42BBEB6-E1F3-4D2A-EAC8-6FE760E0C7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128" r="106" b="-65"/>
          <a:stretch>
            <a:fillRect/>
          </a:stretch>
        </p:blipFill>
        <p:spPr>
          <a:xfrm>
            <a:off x="911311" y="1027790"/>
            <a:ext cx="10358345" cy="475333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C7D5EF-9B62-3011-5863-D02CE1FA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54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B3B4-5B7C-37F2-933F-154BCDD11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7196F66-81DA-43AD-70E1-C01C153F49F3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C40A7-8C7E-CA0F-DF49-0E386EE533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96595D-97B2-EAF4-C8E7-C3CA99E6B771}"/>
              </a:ext>
            </a:extLst>
          </p:cNvPr>
          <p:cNvSpPr txBox="1"/>
          <p:nvPr/>
        </p:nvSpPr>
        <p:spPr>
          <a:xfrm>
            <a:off x="0" y="100554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Conclusion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C7BB24-5010-84C7-C537-3BD49C1C9BF6}"/>
              </a:ext>
            </a:extLst>
          </p:cNvPr>
          <p:cNvSpPr txBox="1"/>
          <p:nvPr/>
        </p:nvSpPr>
        <p:spPr>
          <a:xfrm>
            <a:off x="13801" y="1076494"/>
            <a:ext cx="12131273" cy="529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4E487-283D-AF14-21A0-A3A4B637400C}"/>
              </a:ext>
            </a:extLst>
          </p:cNvPr>
          <p:cNvSpPr txBox="1"/>
          <p:nvPr/>
        </p:nvSpPr>
        <p:spPr>
          <a:xfrm>
            <a:off x="0" y="1035091"/>
            <a:ext cx="12186478" cy="5382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10A47-B107-D1FF-9860-03BC52667995}"/>
              </a:ext>
            </a:extLst>
          </p:cNvPr>
          <p:cNvSpPr txBox="1"/>
          <p:nvPr/>
        </p:nvSpPr>
        <p:spPr>
          <a:xfrm>
            <a:off x="242216" y="1027868"/>
            <a:ext cx="1164456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/>
                <a:ea typeface="+mn-lt"/>
                <a:cs typeface="+mn-lt"/>
              </a:rPr>
              <a:t>Robotics and digital twin integration enables safe, efficient, and realistic testing of nuclear plant operations without risking human safety.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endParaRPr lang="en-US" dirty="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b="1" dirty="0">
                <a:latin typeface="Times New Roman"/>
                <a:ea typeface="+mn-lt"/>
                <a:cs typeface="+mn-lt"/>
              </a:rPr>
              <a:t>Key Takeaways: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endParaRPr lang="en-US" b="1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Reduces human exposure while improving precision and operational efficiency.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Supports research, training, and planning for safer, smarter, and more sustainable NPPs.</a:t>
            </a:r>
            <a:endParaRPr lang="en-US" dirty="0">
              <a:latin typeface="Times New Roman"/>
            </a:endParaRPr>
          </a:p>
          <a:p>
            <a:pPr algn="just"/>
            <a:endParaRPr lang="en-US" dirty="0">
              <a:ea typeface="+mn-lt"/>
              <a:cs typeface="+mn-lt"/>
            </a:endParaRPr>
          </a:p>
          <a:p>
            <a:pPr algn="just"/>
            <a:endParaRPr lang="en-US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8AE15-822A-306A-D738-198F10AF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7235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1CE158-2853-4DF0-A35B-FAED0D897CC5}"/>
              </a:ext>
            </a:extLst>
          </p:cNvPr>
          <p:cNvSpPr txBox="1"/>
          <p:nvPr/>
        </p:nvSpPr>
        <p:spPr>
          <a:xfrm>
            <a:off x="0" y="113731"/>
            <a:ext cx="12192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latin typeface="Times New Roman"/>
                <a:cs typeface="Times New Roman"/>
              </a:rPr>
              <a:t>References</a:t>
            </a:r>
            <a:endParaRPr lang="en-IN" b="1" dirty="0"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8C506-8AFE-4AD3-B989-E03F1DBCD6CB}"/>
              </a:ext>
            </a:extLst>
          </p:cNvPr>
          <p:cNvSpPr/>
          <p:nvPr/>
        </p:nvSpPr>
        <p:spPr>
          <a:xfrm>
            <a:off x="272954" y="1084282"/>
            <a:ext cx="11566479" cy="69095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[1]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cs typeface="Arial"/>
              </a:rPr>
              <a:t>Vairagade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+mn-lt"/>
                <a:cs typeface="Arial"/>
              </a:rPr>
              <a:t>, H., Kim, S., Son, H., &amp; Zhang, F.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+mn-lt"/>
                <a:cs typeface="Arial"/>
              </a:rPr>
              <a:t> (2024). A nuclear power plant digital twin for developing robot navigation and interaction.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+mn-lt"/>
                <a:cs typeface="Arial"/>
              </a:rPr>
              <a:t>Frontiers in Energy Research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+mn-lt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+mn-lt"/>
                <a:cs typeface="Arial"/>
              </a:rPr>
              <a:t>12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+mn-lt"/>
                <a:cs typeface="Arial"/>
              </a:rPr>
              <a:t>, 1356624.</a:t>
            </a:r>
            <a:endParaRPr lang="en-US" sz="1700" dirty="0">
              <a:solidFill>
                <a:srgbClr val="222222"/>
              </a:solidFill>
              <a:latin typeface="Times New Roman"/>
              <a:ea typeface="Calibri"/>
              <a:cs typeface="Arial"/>
            </a:endParaRP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[2]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Kochunas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 B., &amp; Huan, X.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 (2021). Digital twin concepts with uncertainty for nuclear power applications.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Energies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14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(14), 4235.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[3]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Bowman, D., Dwyer, L., Levers, A., Patterson, E. A., Purdie, S., &amp;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Vikhorev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 K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. (2022). A unified approach to digital twin architecture—proof-of-concept activity in the nuclear sector. </a:t>
            </a:r>
            <a:r>
              <a:rPr lang="en-US" sz="1700" i="1" err="1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Ieee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 Access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10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 44691-44709.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[4]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Ritter, C., Hays, R., Browning, J., Stewart, R., Bays, S., Reyes, G., ... &amp; Zohner, P. 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(2022). Digital twin to detect nuclear proliferation: A case study.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Journal of Energy Resources Technology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144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(10), 102108.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[5]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Mondal, K., Martinez, O., &amp; Jain, P. 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(2024). Advanced manufacturing and digital twin technology for nuclear energy.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Frontiers in Energy Research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12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 1339836.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[6]</a:t>
            </a:r>
            <a:r>
              <a:rPr lang="en-US" sz="17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Mazumder, A., Sahed, M. F., Tasneem, Z., Das, P., Badal, F. R., Ali, M. F., ... &amp; Islam, M. R.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(2023). Towards next generation digital twin in robotics: Trends, scopes, challenges, and future.</a:t>
            </a:r>
            <a:r>
              <a:rPr lang="en-US" sz="1700" i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1700" i="1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Heliyon</a:t>
            </a:r>
            <a:r>
              <a:rPr lang="en-US" sz="1700" i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 9(2).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[7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]Kang, R., Dong, Z., &amp; He, J.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 (2024, July). Digital twin for mobile robot modeling and simulation. In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Journal of Physics: Conference Series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 (Vol. 2803, No. 1, p. 012060). IOP Publishing.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[8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]Baniqued, P. D. E., Bremner, P., Sandison, M., Harper, S., Agrawal, S., Bolarinwa, J., ... &amp; Watson, S.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 (2024). Multimodal immersive digital twin platform for cyber–physical robot fleets in nuclear environments.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Journal of field robotics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41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(5), 1521-1540.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[9]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Sharma, U.,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Medasetti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 U. S.,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Deemyad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 T., Mashal, M., &amp; Yadav, V.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 (2024). Mobile robot for security applications in remotely operated advanced reactors.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Applied Sciences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14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(6), 2552.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[10]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Nambiar, S., Jonsson, M., &amp;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Tarkian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 M. 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(2024). Automation in unstructured production environments using </a:t>
            </a:r>
            <a:r>
              <a:rPr lang="en-US" sz="1700" err="1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isaac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 sim: A flexible framework for dynamic robot adaptability.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Procedia CIRP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130</a:t>
            </a:r>
            <a:r>
              <a:rPr lang="en-US" sz="1700" dirty="0">
                <a:solidFill>
                  <a:srgbClr val="222222"/>
                </a:solidFill>
                <a:latin typeface="Times New Roman"/>
                <a:ea typeface="Calibri"/>
                <a:cs typeface="Arial"/>
              </a:rPr>
              <a:t>, 837-846.</a:t>
            </a:r>
          </a:p>
          <a:p>
            <a:pPr algn="just"/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US" sz="1700" dirty="0">
              <a:solidFill>
                <a:srgbClr val="3506BA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US" sz="1700" dirty="0">
              <a:solidFill>
                <a:srgbClr val="3506BA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algn="just"/>
            <a:endParaRPr lang="en-IN" dirty="0"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240D6E-C5F3-5013-A9FD-8104EBAE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242425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58D04B-EA72-4E53-8F1B-A8CF27D63121}"/>
              </a:ext>
            </a:extLst>
          </p:cNvPr>
          <p:cNvSpPr/>
          <p:nvPr/>
        </p:nvSpPr>
        <p:spPr>
          <a:xfrm>
            <a:off x="0" y="356064"/>
            <a:ext cx="184731" cy="3693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endParaRPr lang="en-IN" dirty="0">
              <a:solidFill>
                <a:srgbClr val="3506B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11B61-468E-4E94-A583-E136DE0BEF1B}"/>
              </a:ext>
            </a:extLst>
          </p:cNvPr>
          <p:cNvSpPr/>
          <p:nvPr/>
        </p:nvSpPr>
        <p:spPr>
          <a:xfrm>
            <a:off x="0" y="1107702"/>
            <a:ext cx="12192000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n-IN" dirty="0">
              <a:solidFill>
                <a:srgbClr val="3506BA"/>
              </a:solidFill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08EFD1-3B58-4012-A3AD-B8B0D193EA8B}"/>
              </a:ext>
            </a:extLst>
          </p:cNvPr>
          <p:cNvSpPr/>
          <p:nvPr/>
        </p:nvSpPr>
        <p:spPr>
          <a:xfrm>
            <a:off x="295701" y="544264"/>
            <a:ext cx="11532360" cy="77713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[11]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cs typeface="Times New Roman"/>
              </a:rPr>
              <a:t>Heluany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Times New Roman"/>
              </a:rPr>
              <a:t>, J. B., &amp; 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cs typeface="Times New Roman"/>
              </a:rPr>
              <a:t>Gkioulos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Times New Roman"/>
              </a:rPr>
              <a:t>, V. 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(2024). A review on digital twins for power generation and distribution.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Times New Roman"/>
              </a:rPr>
              <a:t>International </a:t>
            </a:r>
            <a:r>
              <a:rPr lang="en-US" sz="1700" i="1" err="1">
                <a:solidFill>
                  <a:srgbClr val="222222"/>
                </a:solidFill>
                <a:latin typeface="Times New Roman"/>
                <a:cs typeface="Times New Roman"/>
              </a:rPr>
              <a:t>Journalof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Times New Roman"/>
              </a:rPr>
              <a:t> Information Security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Times New Roman"/>
              </a:rPr>
              <a:t>23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(2), 1171-1195.</a:t>
            </a:r>
            <a:endParaRPr lang="en-IN" sz="17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Times New Roman"/>
              </a:rPr>
              <a:t>[12]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Jang, K. B., Baek, C. H., &amp; Woo, T. H.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 (2022). Risk analysis of nuclear power plant (NPP) operations by artificial intelligence (AI) in robot.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Journal of Robotics and Control (JRC)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3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(2), 153-159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[13]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Zeb, A., Kokkonen, P.,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cs typeface="Arial"/>
              </a:rPr>
              <a:t>Tahkola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, M., Brace, W., &amp;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cs typeface="Arial"/>
              </a:rPr>
              <a:t>Milella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, F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. (2025). Advancing remote handling </a:t>
            </a:r>
            <a:r>
              <a:rPr lang="en-US" sz="1700" err="1">
                <a:solidFill>
                  <a:srgbClr val="222222"/>
                </a:solidFill>
                <a:latin typeface="Times New Roman"/>
                <a:cs typeface="Arial"/>
              </a:rPr>
              <a:t>capabilSingh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 M., Srivastava, R., Fuenmayor, E., Kuts, V., Qiao, Y., Murray, N., &amp; Devine, D. (2022). Applications of digital twin across industries: A review.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Applied Sciences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12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(11), 5727.ities in the nuclear industry with AI-based surrogate models for robotic technologies.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Fusion Engineering and Design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219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 115286.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[14]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Do, Y.,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cs typeface="Arial"/>
              </a:rPr>
              <a:t>Zebrowitz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, M., Stahl, J., &amp; Zhang, F. 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(2024). </a:t>
            </a:r>
            <a:r>
              <a:rPr lang="en-US" sz="1700" err="1">
                <a:solidFill>
                  <a:srgbClr val="222222"/>
                </a:solidFill>
                <a:latin typeface="Times New Roman"/>
                <a:cs typeface="Arial"/>
              </a:rPr>
              <a:t>iFANnpp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: Nuclear Power Plant Digital Twin for Robots and Autonomous Intelligence. </a:t>
            </a:r>
            <a:r>
              <a:rPr lang="en-US" sz="1700" i="1" err="1">
                <a:solidFill>
                  <a:srgbClr val="222222"/>
                </a:solidFill>
                <a:latin typeface="Times New Roman"/>
                <a:cs typeface="Arial"/>
              </a:rPr>
              <a:t>arXiv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 preprint arXiv:2410.09213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[15]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Singh, M., Srivastava, R., Fuenmayor, E., Kuts, V., Qiao, Y., Murray, N., &amp; Devine, D.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 (2022). Applications of digital twin across industries: A review.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Applied Sciences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12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(11), 5727.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[16]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Javaid, M., Haleem, A., &amp; Suman, R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. (2023). Digital twin applications toward industry 4.0: A review.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Cognitive Robotics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3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 71-92.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[17]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Bhatia, N., Costa, R., Pamela, S. J., Davis, A., Gonzalez Beltran, A. N.,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cs typeface="Arial"/>
              </a:rPr>
              <a:t>Gopakumar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, V., ... &amp; Akers, R. 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(2025). Visualizing digital twins of fusion power plants using NVIDIA Omniverse.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AIP Advances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15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(4).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[18]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Battye, M. I., &amp; Perinpanayagam, S. 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(2025). Digital Twins in Fusion Energy Research: Current State and Future Directions.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IEEE Access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[19]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Park, S. Y., Lee, C., Jeong, S., Lee, J., Kim, D., Jang, Y., ... &amp; Ahn, S. H.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 (2024). Digital twin and deep reinforcement learning-driven robotic automation system for confined workspaces: A nozzle dam replacement case study in nuclear power plants.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International Journal of Precision Engineering and Manufacturing-Green Technology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11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(3), 939-962.</a:t>
            </a:r>
          </a:p>
          <a:p>
            <a:pPr algn="just"/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[20]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Guo, J., &amp; </a:t>
            </a:r>
            <a:r>
              <a:rPr lang="en-US" sz="1700" b="1" err="1">
                <a:solidFill>
                  <a:srgbClr val="222222"/>
                </a:solidFill>
                <a:latin typeface="Times New Roman"/>
                <a:cs typeface="Arial"/>
              </a:rPr>
              <a:t>Lv</a:t>
            </a:r>
            <a:r>
              <a:rPr lang="en-US" sz="1700" b="1" dirty="0">
                <a:solidFill>
                  <a:srgbClr val="222222"/>
                </a:solidFill>
                <a:latin typeface="Times New Roman"/>
                <a:cs typeface="Arial"/>
              </a:rPr>
              <a:t>, Z. 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(2022). Application of Digital Twins in multiple fields.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Multimedia tools and applications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, </a:t>
            </a:r>
            <a:r>
              <a:rPr lang="en-US" sz="1700" i="1" dirty="0">
                <a:solidFill>
                  <a:srgbClr val="222222"/>
                </a:solidFill>
                <a:latin typeface="Times New Roman"/>
                <a:cs typeface="Arial"/>
              </a:rPr>
              <a:t>81</a:t>
            </a:r>
            <a:r>
              <a:rPr lang="en-US" sz="1700" dirty="0">
                <a:solidFill>
                  <a:srgbClr val="222222"/>
                </a:solidFill>
                <a:latin typeface="Times New Roman"/>
                <a:cs typeface="Arial"/>
              </a:rPr>
              <a:t>(19), 26941-26967.</a:t>
            </a:r>
          </a:p>
          <a:p>
            <a:pPr algn="just"/>
            <a:endParaRPr 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solidFill>
                <a:srgbClr val="3506B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solidFill>
                <a:srgbClr val="3506B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503386-094B-33B8-CAAC-F5853079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dirty="0"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939233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2011</Words>
  <Application>Microsoft Office PowerPoint</Application>
  <PresentationFormat>Widescreen</PresentationFormat>
  <Paragraphs>239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Gill Sans MT</vt:lpstr>
      <vt:lpstr>Swis721 BlkCn BT</vt:lpstr>
      <vt:lpstr>Times New Roman</vt:lpstr>
      <vt:lpstr>Office Theme</vt:lpstr>
      <vt:lpstr>BRIDGING ROBOTICS AND NUCLEAR SAFETY WITH DIGITAL TWINS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 492-Project First Progress Assessment</dc:title>
  <dc:creator>Gauri Priya Aji</dc:creator>
  <cp:lastModifiedBy>Gauri Priya Aji</cp:lastModifiedBy>
  <cp:revision>1430</cp:revision>
  <dcterms:modified xsi:type="dcterms:W3CDTF">2025-08-27T03:16:44Z</dcterms:modified>
</cp:coreProperties>
</file>