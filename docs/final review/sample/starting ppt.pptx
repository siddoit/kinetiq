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59" r:id="rId3"/>
    <p:sldId id="290" r:id="rId4"/>
    <p:sldId id="291" r:id="rId5"/>
    <p:sldId id="257" r:id="rId6"/>
    <p:sldId id="300" r:id="rId7"/>
    <p:sldId id="293" r:id="rId8"/>
    <p:sldId id="301" r:id="rId9"/>
    <p:sldId id="295" r:id="rId10"/>
    <p:sldId id="302" r:id="rId11"/>
    <p:sldId id="281" r:id="rId12"/>
    <p:sldId id="289" r:id="rId13"/>
    <p:sldId id="296" r:id="rId14"/>
    <p:sldId id="288" r:id="rId15"/>
    <p:sldId id="298" r:id="rId16"/>
    <p:sldId id="303" r:id="rId17"/>
    <p:sldId id="304" r:id="rId18"/>
    <p:sldId id="299" r:id="rId19"/>
    <p:sldId id="305" r:id="rId20"/>
    <p:sldId id="306" r:id="rId21"/>
    <p:sldId id="285" r:id="rId22"/>
    <p:sldId id="275" r:id="rId2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45" d="100"/>
          <a:sy n="45" d="100"/>
        </p:scale>
        <p:origin x="84" y="12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3300-F7C1-77D3-CE4F-17E9B92E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8A73A-8540-EF55-5032-8CC40158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8AADD-787C-DED2-CBC5-38FECFFB4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8BA7-1D3D-3F68-71DB-5D1B73642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7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9B91-2500-C704-6A23-BCFE2E41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535CA-1F61-C692-0927-86FD570BD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BFE9C-D16F-6576-A6E3-BBBBC4718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876-0C36-4275-1D81-477A09742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0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1CA1-FB9F-E524-B869-8D51EFF9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94ED7-BA34-DBB4-F29C-90B788CE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BF0DF-AA59-FB56-74EC-3997470AA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43D35-C107-EBC0-049A-6FD9C77C0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95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9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7A26-A748-8FD5-F0F8-C4416E69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CE284-DA41-17D0-F5C0-0BCCF040D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68DA2-7105-2C4C-6E09-2D438F92B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2FC48-615D-208D-B3E4-4BEF66D58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50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CE0CD-1327-B26A-73AA-D8F71D5D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86116-0DB8-D680-809D-4F35B75DC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B25AB-9973-94A1-4FA3-BF74EA2D2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28C4-EB59-3241-0C1C-A675DFD2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45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4E8A-3225-3F35-9033-928C0B33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C2202-7FC6-DE36-E152-8F4D2270E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8D8CF-D748-51A5-97B1-A105BD08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982AA-C73C-7132-BB5D-9763A24E7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75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0184-1DA4-FE2A-A3DF-7AD20B8B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D1524-9D05-37AD-8D4A-5060F5A9D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19B7F-8D2D-D36A-D981-DB58E8A11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7FEC-0090-BEA7-74A1-6A657F981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23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9186-6477-4323-88CD-C85C8D7A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24197-4DDE-C91E-93EE-4DC1C9D32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7040B-78D0-F1F7-950F-9CB30E76F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C48F-5D6F-5FE7-D795-EB18BC281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6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D66F5-D6AC-0D96-51A2-A2F64565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FA07B-8F30-2F2E-4083-FED2DB2DB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6230F-62AF-19F8-C7FD-C46B8243C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01A2-D9D1-2C1D-B9C2-1C9F3DC1D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4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300A-2BAD-E220-CDA4-381C0BC6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029ED-B8EF-F263-AC44-F6C48EB2E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1007-7B14-F8C1-7DA3-CEAA9020A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9ECB-6189-A5EF-D7AA-B1EE0C7DE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28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CE98-A34D-9228-2AA8-4A692985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CDBB6-CF7A-2597-66F8-D7506E24B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D35D8-3123-4E55-8411-3E2F8546B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C9E0-FB7A-4AD0-E96C-4FA3C5DB0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58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3915-4C10-CAF4-3733-FE3A3143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A3CAB-D03A-E098-F669-42DF5A9B2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9AFE8-A67C-D6C6-BF57-9E746D3D3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084D0-C6D7-AC92-4E89-A1286984F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62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4819-6F9B-CE70-AA8E-B37F980E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09A7D-86CD-4B61-FE6C-BE5D1DB3B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02553-183A-9F61-976E-4A957478E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C935C-02EA-5F63-F317-1CC816D54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9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9A73-4F94-A45B-D48D-F7CDD032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EA300-8C9E-02A2-BAA5-5D0C9AD72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64840-E1F7-6B61-A501-AED1B110B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220BB-352C-7350-6711-AD67F5FB8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52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9FF-8DED-3E74-77BB-1127D8FE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8DF80-19B8-EF28-D55F-E536504E4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7B7B-4501-1581-3D5F-E36EC37CF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2342-3388-54A5-BA0F-D19B7798E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80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DC8A-BA30-F9AF-AC3C-8DB9B2A8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E80B4-8412-2A88-A8B6-1717C0E40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F0A5D-D97D-6014-BF2C-A624D8840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1C44F-B0C3-4CE8-5E84-B5C03B955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95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28915-CCD5-3602-967C-1F0297FE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4F916-4251-B15C-A9CF-02205C6F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15278-D032-EB97-A669-1E5958BE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12E48-8AFB-FAA0-B58D-5ECE4F4E5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19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01E5-8EBE-A44B-94AD-EDA54C8C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AABD8-BA06-C138-4A57-FBDC0818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61E54-6529-AFE0-F41A-DD4F1723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7352-7A18-104B-8A03-03BA5F2BB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4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49C1-4CDC-F30E-1CC1-F1365EC1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41BB6-C799-3EBE-942A-68D074EBB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53D0-26B0-42FE-93D7-6F33B96F5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6A03-DD9A-CCA3-EEE5-6CE130744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49E14-0A04-42CB-BA3A-A312434E8E04}" type="datetimeFigureOut">
              <a:rPr lang="en-IN" smtClean="0"/>
              <a:pPr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8CFA0-CC8E-1BA5-784B-FAE41EE3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166AC-0AB5-B888-0318-C3CFACC546EF}"/>
              </a:ext>
            </a:extLst>
          </p:cNvPr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563E1-7D96-F5A2-6ACA-C37C233872DC}"/>
              </a:ext>
            </a:extLst>
          </p:cNvPr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0ABD3-75FA-9C16-C33C-3D90B75C71BE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FF886-5C7F-145E-7210-AACC6FB78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87D997-2295-17D9-FC47-20F1B4E89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11" y="1980411"/>
            <a:ext cx="12192000" cy="156965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B.TECH PROJECT PHASE 1</a:t>
            </a:r>
            <a:br>
              <a:rPr lang="en-US" sz="4800" dirty="0"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FIRST REVIEW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4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CA86-A0F1-413C-953F-0BCAE399FDF3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E692721-AE3E-44C5-B417-6778C528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18740"/>
            <a:ext cx="12192000" cy="1266998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Embodied Semantic Asset Recall Robot </a:t>
            </a:r>
            <a:br>
              <a:rPr lang="en-US" sz="4500" b="1" dirty="0">
                <a:cs typeface="Times New Roman" panose="02020603050405020304" pitchFamily="18" charset="0"/>
              </a:rPr>
            </a:b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Offline Industrial Object Search, Recall, and Verification via Edge-Optimized Vision-Language Models</a:t>
            </a:r>
            <a:endParaRPr lang="en-IN" sz="22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0DC3281-071C-4D6C-BF6B-7C8E8A86C1BF}"/>
              </a:ext>
            </a:extLst>
          </p:cNvPr>
          <p:cNvSpPr txBox="1"/>
          <p:nvPr/>
        </p:nvSpPr>
        <p:spPr>
          <a:xfrm>
            <a:off x="265176" y="4220269"/>
            <a:ext cx="5380383" cy="2273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Sidharth Sajith</a:t>
            </a:r>
          </a:p>
          <a:p>
            <a:pPr algn="just"/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Nidhi N</a:t>
            </a:r>
          </a:p>
          <a:p>
            <a:pPr algn="just"/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Tharun Oommen Jacob</a:t>
            </a:r>
          </a:p>
          <a:p>
            <a:pPr algn="just"/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Jibin C Basil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8320377-CF11-4C8B-B89B-491D1E6CA1B5}"/>
              </a:ext>
            </a:extLst>
          </p:cNvPr>
          <p:cNvSpPr txBox="1"/>
          <p:nvPr/>
        </p:nvSpPr>
        <p:spPr>
          <a:xfrm>
            <a:off x="6609016" y="4220269"/>
            <a:ext cx="42367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SUPERVISOR: </a:t>
            </a:r>
          </a:p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	Chinn Mohanan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Assistant Professor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Department of Electronics 	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D77E5-28F5-62F6-3A8D-E9B660C3320B}"/>
              </a:ext>
            </a:extLst>
          </p:cNvPr>
          <p:cNvSpPr txBox="1"/>
          <p:nvPr/>
        </p:nvSpPr>
        <p:spPr>
          <a:xfrm>
            <a:off x="201168" y="3429000"/>
            <a:ext cx="11567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AREA : Edge AI, Embedded Systems, Mobile Robotics</a:t>
            </a:r>
          </a:p>
        </p:txBody>
      </p:sp>
    </p:spTree>
    <p:extLst>
      <p:ext uri="{BB962C8B-B14F-4D97-AF65-F5344CB8AC3E}">
        <p14:creationId xmlns:p14="http://schemas.microsoft.com/office/powerpoint/2010/main" val="110105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F755-E080-9452-7B61-3DB6673E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B4E224-818F-3EAF-6BCF-2D5D08847DA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D2C9F-6F55-4FA9-DD41-CD39EB511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BC0A6-06A9-B620-43EA-9C5ECDD5116B}"/>
              </a:ext>
            </a:extLst>
          </p:cNvPr>
          <p:cNvSpPr txBox="1"/>
          <p:nvPr/>
        </p:nvSpPr>
        <p:spPr>
          <a:xfrm>
            <a:off x="0" y="13907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62E89A-98BB-3426-66BF-492DAD3A315C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9A22F-306D-FF93-8663-3163D61A5B38}"/>
              </a:ext>
            </a:extLst>
          </p:cNvPr>
          <p:cNvSpPr txBox="1"/>
          <p:nvPr/>
        </p:nvSpPr>
        <p:spPr>
          <a:xfrm>
            <a:off x="622958" y="903254"/>
            <a:ext cx="10515311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shared laboratory and workshop environments, tools, components, and safety equipment are used by multiple people and frequently misplaced. A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borrowed from the electronics bench appears days later on a mechanical shelf; safety goggles vanish before an inspection; a soldering iron moves between workstations without a trace.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solutions fall short: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CCTV systems record video but cannot answer spatial queries such as "Where is the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 now?"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RFID/Barcode systems require tagging every individual item and maintaining reader infrastructure — discipline that rarely survives a busy academic semester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inventory checks are infrequent, labour-intensive, and error-prone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Commercial inspection robots (e.g., Boston Dynamics Spot) cost upwards of $75,000, depend on cloud connectivity, and are designed for fixed-infrastructure inspection rather than movable asset recall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gap by developing an autonomous mobile robot that operates fully offline on low-cost edge hardware, builds a persistent semantic memory of objects in a laboratory or workshop, recalls where assets were last seen, navigates to verify their presence, and when an object has been moved, performs probabilistic active search to locate it efficiently.</a:t>
            </a:r>
          </a:p>
        </p:txBody>
      </p:sp>
    </p:spTree>
    <p:extLst>
      <p:ext uri="{BB962C8B-B14F-4D97-AF65-F5344CB8AC3E}">
        <p14:creationId xmlns:p14="http://schemas.microsoft.com/office/powerpoint/2010/main" val="330896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12FD-D1AE-5D16-AB19-E9CA8FF5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DB9F30D-2C8A-EFA4-878B-68CBC5D078B6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93B39-065F-87DF-6631-6991D4AE2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B4BEA-5E97-FACB-727D-10650A23839E}"/>
              </a:ext>
            </a:extLst>
          </p:cNvPr>
          <p:cNvSpPr txBox="1"/>
          <p:nvPr/>
        </p:nvSpPr>
        <p:spPr>
          <a:xfrm>
            <a:off x="123753" y="105155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IDENTIFICATION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3CAE59-35E5-695B-FB5F-DEA8C95653C1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B48BC-8FB0-DAAC-6659-E95826983779}"/>
              </a:ext>
            </a:extLst>
          </p:cNvPr>
          <p:cNvSpPr txBox="1"/>
          <p:nvPr/>
        </p:nvSpPr>
        <p:spPr>
          <a:xfrm>
            <a:off x="547758" y="1075736"/>
            <a:ext cx="8423563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Combines Edge AI, Embedded Systems, and Mobile Robotics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Relevant to industrial automation, lab/workshop management, and safety compliance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scope for simulation (Gazebo/Isaac Sim) as well as real-world hardware deployment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Persistent semantic memory enables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spatial knowledge across reboots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Probabilistic active search for moved objects using Bayesian belief over discrete zones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Natural-language interaction (voice/text) for intuitive asset recall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NVIDIA Jetson Orin Nano 8 GB provides suitable edge compute for offline VLM inference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Smartphone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replaces expensive LiDAR for visual-inertial odometry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Multi-modal HRI: display for visual feedback, speaker for TTS, microphone array for STT, ultrasonic sensors for close-range obstacle avoidance</a:t>
            </a:r>
          </a:p>
        </p:txBody>
      </p:sp>
    </p:spTree>
    <p:extLst>
      <p:ext uri="{BB962C8B-B14F-4D97-AF65-F5344CB8AC3E}">
        <p14:creationId xmlns:p14="http://schemas.microsoft.com/office/powerpoint/2010/main" val="239144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DE998-F151-461D-BE38-7D1C24A28A8D}"/>
              </a:ext>
            </a:extLst>
          </p:cNvPr>
          <p:cNvSpPr txBox="1"/>
          <p:nvPr/>
        </p:nvSpPr>
        <p:spPr>
          <a:xfrm>
            <a:off x="0" y="105155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A4836F-BB08-4E96-BA68-FF0FC9981F8F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5A41D-8F9D-1DCB-9B8E-6C370B97AA97}"/>
              </a:ext>
            </a:extLst>
          </p:cNvPr>
          <p:cNvSpPr txBox="1"/>
          <p:nvPr/>
        </p:nvSpPr>
        <p:spPr>
          <a:xfrm>
            <a:off x="533689" y="1028343"/>
            <a:ext cx="9467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Build a reliable mobile base with fused localisation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 + wheel odometry + EKF) achieving ≤0.1 m pose accuracy in a 5 m × 5 m room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Develop a two-stage perception pipeline: fast open-vocabulary detection (YOLO-World) running continuously at 5-10 Hz, with event-triggered VLM verification (Florence-2/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keyframes — all on Jetson Orin Nano 8 GB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Implement a persistent semantic scene graph (JSON-backed) storing for each asset: unique ID, class, 3D position, timestamp, confidence, spatial relationships (on/inside/near), and carrier associations — surviving power cycles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Enable natural-language asset recall: voice/text query → parse intent → navigate to last-known location → visually verify → report with bounding box on display + TTS confirmation</a:t>
            </a:r>
          </a:p>
        </p:txBody>
      </p:sp>
    </p:spTree>
    <p:extLst>
      <p:ext uri="{BB962C8B-B14F-4D97-AF65-F5344CB8AC3E}">
        <p14:creationId xmlns:p14="http://schemas.microsoft.com/office/powerpoint/2010/main" val="327828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C74E-6832-0042-6335-F211D0C2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E2418A-C937-8723-C401-7353D2CCBBD6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FAC97-28DA-7727-C37B-0EC0E36249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31589C-7753-AEAC-0A05-6291BF3783A2}"/>
              </a:ext>
            </a:extLst>
          </p:cNvPr>
          <p:cNvSpPr txBox="1"/>
          <p:nvPr/>
        </p:nvSpPr>
        <p:spPr>
          <a:xfrm>
            <a:off x="0" y="13907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(Contd.)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7EDD6C-6E37-3CB1-4AAA-AA47488C1D4A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7CAAC-E49A-3266-3A4F-8480532AE4AB}"/>
              </a:ext>
            </a:extLst>
          </p:cNvPr>
          <p:cNvSpPr txBox="1"/>
          <p:nvPr/>
        </p:nvSpPr>
        <p:spPr>
          <a:xfrm>
            <a:off x="400339" y="534360"/>
            <a:ext cx="986761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Implement Bayesian active search for moved/missing objects: maintain probability over discrete candidate zones; update beliefs using history priors, semantic priors, carrier relationships, and detection-failure-aware updates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Demonstrate three scenarios in a real lab/workshop (internet disabled):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Stationary tool recall ("Find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Moved-object search (object secretly relocated → robot reasons, searches, finds)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Safety compliance inspection ("Check safety items" → patrols → reports present/missing with last-seen locations)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Quantify performance against four baselines (random, nearest-zone, last-known-only, semantic-prior) using: success rate, time-to-find, path length, viewpoints visited, edge runtime metrics (RAM, FPS, latency)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Multi-modal HRI: 7" touchscreen for object memory cards &amp; heatmap, speaker for TTS responses, 4-mic array for far-field STT, 4× ultrasonic sensors for close-proximity obstacle avoidance supplementing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D713-4B47-9A9A-5314-6773337B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77C4B75-3028-782D-E965-BA7553E415D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33C15-FD1C-6AAE-6D13-C640DAC32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841E44-E848-4794-2172-0B7C2A892BB8}"/>
              </a:ext>
            </a:extLst>
          </p:cNvPr>
          <p:cNvSpPr txBox="1"/>
          <p:nvPr/>
        </p:nvSpPr>
        <p:spPr>
          <a:xfrm>
            <a:off x="102417" y="105155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ABF678-AAAC-61DF-67A4-2EF3B094F96E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781E4-706D-C97E-570F-F94FEF89BA6C}"/>
              </a:ext>
            </a:extLst>
          </p:cNvPr>
          <p:cNvSpPr txBox="1"/>
          <p:nvPr/>
        </p:nvSpPr>
        <p:spPr>
          <a:xfrm>
            <a:off x="563526" y="997217"/>
            <a:ext cx="113419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&amp; Problem Formulation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existing semantic mapping, scene graph, probabilistic search, and edge AI methods. Define the offline asset recall problem with constraints (8 GB Jetson, no LiDAR, no cloud).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Platform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 4WD chassis with ESP32 motor control. Set up Jetson Orin Nano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6, ROS 2 Humble. Develop Android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 for VIO + RGB streaming via USB. Integrate micro-ROS on ESP32 for wheel odometry. Additional hardware: 4× ultrasonic sensors (I2C/GPIO) for &lt;0.3m obstacle detection, 7" HDMI touchscreen (800×480), USB speaker,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ReSpeaker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4-mic array — all interfaced via Jetson USB/GPIO.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Stack Implementation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pipeline: (1) YOLO-World for continuous open-vocabulary detection at 5-10 Hz; (2) Florence-2/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verification at keyframes only. Quantize models (AWQ 4-bit) for 8 GB memory budget. Benchmark on curated lab/workshop object dataset.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25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0624-18B0-A854-D45C-1970F550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22A4467-BC06-68BC-E5F3-3B6142490415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C995E-0101-B2FA-900D-2FD5954081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C0687D-C636-0D6C-F794-143F665F7FF1}"/>
              </a:ext>
            </a:extLst>
          </p:cNvPr>
          <p:cNvSpPr txBox="1"/>
          <p:nvPr/>
        </p:nvSpPr>
        <p:spPr>
          <a:xfrm>
            <a:off x="102417" y="105155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BF0C02-0CDD-D4CA-182B-45DDDDD32C0F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1C9B7-244B-81BC-BC89-07085A360EEA}"/>
              </a:ext>
            </a:extLst>
          </p:cNvPr>
          <p:cNvSpPr txBox="1"/>
          <p:nvPr/>
        </p:nvSpPr>
        <p:spPr>
          <a:xfrm>
            <a:off x="563526" y="997217"/>
            <a:ext cx="1134196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Scene Graph &amp; Persistent Memory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object schema (ID, class,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position_map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confidence,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last_seen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relationships). Implement carrier ontology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on_top_of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inside, beside, near,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supported_by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JSON persistence with atomic writes. Query API for recall and search.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Search Engine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zone belief representation. Priors: history (last-seen), gravity, semantic (object class → likely zones), carrier relationships. Updates: detection-failure-aware (reduce, not zero). Priority map generation for next viewpoint selection.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&amp;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Executive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Nav2 MPPI controller for Phase 2-3. BehaviorTree.CPP trees for: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WaitForCommand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ParseIntent →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LastKnown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Verify →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BayesianSearch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loop). Failure handling: nav fail, object not found, multiple matches, VLM unavailable, tracking lost. Ultrasonic fallback: emergency stop / local replanning when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latency &gt;100ms.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Interface &amp; Dashboard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Whisper.cpp (tiny/base) for offline STT. Piper/Coqui TTS for offline speech synthesis. Intent parser → target class + attributes. React web dashboard + onboard touchscreen: live camera feed, object memory cards, probability heatmap, search reasoning log, replay mode.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Sim-to-Real Validation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trained/tuned pipeline to physical robot in 5m×5m lab. Evaluate with 10-15 objects, repeated trials. Metrics: SR, time-to-find, path length, viewpoints, edge runtime. Offline demo with Wi-Fi/Bluetooth disabled.</a:t>
            </a:r>
          </a:p>
        </p:txBody>
      </p:sp>
    </p:spTree>
    <p:extLst>
      <p:ext uri="{BB962C8B-B14F-4D97-AF65-F5344CB8AC3E}">
        <p14:creationId xmlns:p14="http://schemas.microsoft.com/office/powerpoint/2010/main" val="211152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08A9-45BE-B8BC-A37B-4FD46302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B2C1E28-39AE-6BBC-EB11-744F9D9C614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7B652-696C-55B5-05D8-233BD4AF1E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C6CCBC-6E93-6A6F-2C98-F934EE29697D}"/>
              </a:ext>
            </a:extLst>
          </p:cNvPr>
          <p:cNvSpPr txBox="1"/>
          <p:nvPr/>
        </p:nvSpPr>
        <p:spPr>
          <a:xfrm>
            <a:off x="662432" y="-518337"/>
            <a:ext cx="12192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9E529A-10DE-4630-99C3-5506DCE58183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0C1AF-6F38-80B4-4DA8-0078921E849B}"/>
              </a:ext>
            </a:extLst>
          </p:cNvPr>
          <p:cNvSpPr txBox="1"/>
          <p:nvPr/>
        </p:nvSpPr>
        <p:spPr>
          <a:xfrm>
            <a:off x="378690" y="1336751"/>
            <a:ext cx="1138091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(From Literature Survey):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Semantic mapping extensively studied for robot navigation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VLMaps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ConceptFusion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3D scene graphs with open-vocabulary objects demonstrated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DovSG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HOV-SG)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object tracking via carrier relationships proposed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OpenObject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-NAV,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DovSG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Probabilistic/active search with semantic priors validated (ZAVIS, SEEK, L3MVN)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Simulation-based training widely used to reduce cost/risk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Industrial inspection robots prove commercial value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AutoInspect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Spot,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Simbe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Tally)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Edge-optimized models enable on-device VLM inference (YOLO-World, Florence-2,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839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BFEB-4ECF-B93C-B547-721C6625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208E89-7BD0-3DF5-A2F5-3E486B438C0C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87C8E-314D-3FF2-F9B0-DEE2C5617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2EC56-DF74-366E-0CC6-4EBB00948A28}"/>
              </a:ext>
            </a:extLst>
          </p:cNvPr>
          <p:cNvSpPr txBox="1"/>
          <p:nvPr/>
        </p:nvSpPr>
        <p:spPr>
          <a:xfrm>
            <a:off x="662432" y="-518337"/>
            <a:ext cx="12192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8BC053-97BE-F614-6423-ACFE1B92AE08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14D83-C60D-A519-1250-355FA3305B14}"/>
              </a:ext>
            </a:extLst>
          </p:cNvPr>
          <p:cNvSpPr txBox="1"/>
          <p:nvPr/>
        </p:nvSpPr>
        <p:spPr>
          <a:xfrm>
            <a:off x="378690" y="1336751"/>
            <a:ext cx="113809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integrates ALL FIVE of the following: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1. Persistent object-level semantic memory (survives       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   power cycles,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sessions)                 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2. Bayesian active search for moved/missing objects        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   (belief updates with semantic priors + carrier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   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3. Fully offline operation on sub-₹40k robot               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4. Without LiDAR or depth cameras (smartphone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only) 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 5. In a real shared lab/workshop environment (not sim)     │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gap: No work demonstrates a low-cost, fully offline, mobile semantic asset-recall system for small shared workspaces where objects are movable, untagged, and visually identified without cloud AI, RFID, or LiDAR.</a:t>
            </a:r>
          </a:p>
        </p:txBody>
      </p:sp>
    </p:spTree>
    <p:extLst>
      <p:ext uri="{BB962C8B-B14F-4D97-AF65-F5344CB8AC3E}">
        <p14:creationId xmlns:p14="http://schemas.microsoft.com/office/powerpoint/2010/main" val="164112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66BF-FF08-55FE-0C84-3A2CAA62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3EA8EB-FB27-C55A-5EE9-B7B0E56DA991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EEC25-7834-365D-8828-337E048184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0EBF3F-4424-BEC4-9922-C799E5E3094C}"/>
              </a:ext>
            </a:extLst>
          </p:cNvPr>
          <p:cNvSpPr txBox="1"/>
          <p:nvPr/>
        </p:nvSpPr>
        <p:spPr>
          <a:xfrm>
            <a:off x="102417" y="20271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C04F0D-A794-553D-077E-0619D9C9F058}"/>
              </a:ext>
            </a:extLst>
          </p:cNvPr>
          <p:cNvGraphicFramePr>
            <a:graphicFrameLocks noGrp="1"/>
          </p:cNvGraphicFramePr>
          <p:nvPr/>
        </p:nvGraphicFramePr>
        <p:xfrm>
          <a:off x="220980" y="726217"/>
          <a:ext cx="11730229" cy="575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350">
                  <a:extLst>
                    <a:ext uri="{9D8B030D-6E8A-4147-A177-3AD203B41FA5}">
                      <a16:colId xmlns:a16="http://schemas.microsoft.com/office/drawing/2014/main" val="3056517239"/>
                    </a:ext>
                  </a:extLst>
                </a:gridCol>
                <a:gridCol w="4688434">
                  <a:extLst>
                    <a:ext uri="{9D8B030D-6E8A-4147-A177-3AD203B41FA5}">
                      <a16:colId xmlns:a16="http://schemas.microsoft.com/office/drawing/2014/main" val="4009051075"/>
                    </a:ext>
                  </a:extLst>
                </a:gridCol>
                <a:gridCol w="3887445">
                  <a:extLst>
                    <a:ext uri="{9D8B030D-6E8A-4147-A177-3AD203B41FA5}">
                      <a16:colId xmlns:a16="http://schemas.microsoft.com/office/drawing/2014/main" val="887513086"/>
                    </a:ext>
                  </a:extLst>
                </a:gridCol>
              </a:tblGrid>
              <a:tr h="4684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ABOUT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9464"/>
                  </a:ext>
                </a:extLst>
              </a:tr>
              <a:tr h="174259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+mn-lt"/>
                        </a:rPr>
                        <a:t>VLMaps</a:t>
                      </a:r>
                      <a:endParaRPr lang="en-US" sz="16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</a:rPr>
                        <a:t>Constructs 3D semantic maps by fusing VLM features into a volumetric or point-based map representation. Enables open-vocabulary navigation by querying the map with natural language without predefined object categories. Uses pre-trained VLMs to embed multi-scale image patches into 3D, supporting zero-shot spatial reasoning and language-guided exploration.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+mn-lt"/>
                        </a:rPr>
                        <a:t>Huang et al., ICRA 2023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423722"/>
                  </a:ext>
                </a:extLst>
              </a:tr>
              <a:tr h="1742591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latin typeface="+mn-lt"/>
                        </a:rPr>
                        <a:t>ConceptGraphs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</a:rPr>
                        <a:t>Builds open-vocabulary 3D scene graphs where nodes are object instances with CLIP embeddings and edges encode spatial/semantic relationships. Leverages foundation models to detect, segment, and classify objects without closed-set labels. Supports hierarchical scene understanding and enables downstream tasks like language-guided manipulation and task planning through graph queries.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a-DK" sz="1600" dirty="0">
                          <a:latin typeface="+mn-lt"/>
                        </a:rPr>
                        <a:t>Gu et al., ICRA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842468"/>
                  </a:ext>
                </a:extLst>
              </a:tr>
              <a:tr h="174259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+mn-lt"/>
                        </a:rPr>
                        <a:t>DovSG</a:t>
                      </a:r>
                      <a:endParaRPr lang="en-US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</a:rPr>
                        <a:t>Addresses long-term robotic operation by maintaining a dynamic 3D scene graph that incrementally updates as the environment changes. Handles object addition/removal, state changes (open/closed), and spatial relocation over weeks/months. Uses change detection on VLM embeddings and geometric consistency checks to fuse new observations while preserving persistent object identities—critical for lifelong learning and continual navigation.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a-DK" sz="1600" dirty="0">
                          <a:latin typeface="+mn-lt"/>
                        </a:rPr>
                        <a:t>Zhu et al., RA-L 2025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20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95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A1415-5EE8-44DA-3522-D0D4FAA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BD8AFB0-446A-86F2-5B33-05CD00EA7F5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1A5D2-2222-8ED7-88BB-813F6B7B3D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B1D6EC-F3E1-FEFC-FDB1-2A4D1D8B81BE}"/>
              </a:ext>
            </a:extLst>
          </p:cNvPr>
          <p:cNvSpPr txBox="1"/>
          <p:nvPr/>
        </p:nvSpPr>
        <p:spPr>
          <a:xfrm>
            <a:off x="102417" y="20271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SURVEY(</a:t>
            </a:r>
            <a:r>
              <a:rPr lang="en-US" sz="4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Contd</a:t>
            </a:r>
            <a:r>
              <a:rPr lang="en-US" sz="4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…)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99461D-5806-651B-A34F-C747D76A3470}"/>
              </a:ext>
            </a:extLst>
          </p:cNvPr>
          <p:cNvGraphicFramePr>
            <a:graphicFrameLocks noGrp="1"/>
          </p:cNvGraphicFramePr>
          <p:nvPr/>
        </p:nvGraphicFramePr>
        <p:xfrm>
          <a:off x="230124" y="725800"/>
          <a:ext cx="11731752" cy="5623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760">
                  <a:extLst>
                    <a:ext uri="{9D8B030D-6E8A-4147-A177-3AD203B41FA5}">
                      <a16:colId xmlns:a16="http://schemas.microsoft.com/office/drawing/2014/main" val="3056517239"/>
                    </a:ext>
                  </a:extLst>
                </a:gridCol>
                <a:gridCol w="4689043">
                  <a:extLst>
                    <a:ext uri="{9D8B030D-6E8A-4147-A177-3AD203B41FA5}">
                      <a16:colId xmlns:a16="http://schemas.microsoft.com/office/drawing/2014/main" val="4009051075"/>
                    </a:ext>
                  </a:extLst>
                </a:gridCol>
                <a:gridCol w="3887949">
                  <a:extLst>
                    <a:ext uri="{9D8B030D-6E8A-4147-A177-3AD203B41FA5}">
                      <a16:colId xmlns:a16="http://schemas.microsoft.com/office/drawing/2014/main" val="887513086"/>
                    </a:ext>
                  </a:extLst>
                </a:gridCol>
              </a:tblGrid>
              <a:tr h="54339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ABOUT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+mn-lt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9464"/>
                  </a:ext>
                </a:extLst>
              </a:tr>
              <a:tr h="162030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SEEK</a:t>
                      </a:r>
                      <a:endParaRPr lang="en-US" sz="16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Proposes a semantic reasoning framework for object search that combines LLMs with scene graphs. The LLM generates search hypotheses (e.g., "mugs are usually in kitchens") which are grounded in a 3D scene graph to plan efficient exploration trajectories. Integrates commonsense reasoning with geometric mapping to reduce search time in unfamiliar environments.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+mn-lt"/>
                        </a:rPr>
                        <a:t>Ginting et al., RSS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423722"/>
                  </a:ext>
                </a:extLst>
              </a:tr>
              <a:tr h="166177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+mn-lt"/>
                        </a:rPr>
                        <a:t>Open Scene Graphs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Introduces a persistent, open-vocabulary 3D scene graph as long-term semantic memory for navigation. Unlike episodic maps, it accumulates knowledge across multiple deployments, merging observations via VLM-based place recognition and object re-identification. Supports queries and enables zero-shot navigation to semantically specified goals across sessions.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da-DK" sz="1600" dirty="0">
                          <a:latin typeface="+mn-lt"/>
                        </a:rPr>
                        <a:t>Loo et al., IJRR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842468"/>
                  </a:ext>
                </a:extLst>
              </a:tr>
              <a:tr h="175962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YOLO-World / Florence-2</a:t>
                      </a:r>
                      <a:endParaRPr lang="en-US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+mn-lt"/>
                        </a:rPr>
                        <a:t>YOLO-World: Real-time open-vocabulary detection using vision-language pre-training; accepts text prompts at inference to detect arbitrary classes without retraining. Florence-2: Unified vision foundation model handling detection, segmentation, captioning, and grounding via a single transformer with task prompts. Both provide the perception backbone for modern robotics, enabling vision and thought capabilities for semantic mapping and reasoning.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+mn-lt"/>
                        </a:rPr>
                        <a:t>Cheng et al., CVPR 2024 / Xiao et al., 2023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20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3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FB78A-E9F8-F79B-00FF-F1A6D10B9841}"/>
              </a:ext>
            </a:extLst>
          </p:cNvPr>
          <p:cNvSpPr txBox="1"/>
          <p:nvPr/>
        </p:nvSpPr>
        <p:spPr>
          <a:xfrm>
            <a:off x="622595" y="355599"/>
            <a:ext cx="1085820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Project Focus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focuses on developing an offline semantic asset recall system for a low-cost mobile robot, training and evaluating it in a real laboratory/workshop environment, with persistent memory, probabilistic moved-object search, and natural-language interaction — all running on Jetson Orin Nano 8 GB without cloud dependency.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CONTRIBUTIONS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Low-Cost Offline Architecture: Complete mobile robot (₹35k-40k) with smartphone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 replacing LiDAR, running full perception-navigation-memory-search pipeline on Jetson Orin Nano 8 GB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Persistent Semantic Scene Graph: JSON-backed object-level memory storing identity, 3D location, timestamp, confidence, spatial relationships (on/inside/near), and carrier associations — surviving reboots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Two-Stage Edge Perception Pipeline: YOLO-World (continuous, 5-10 Hz) + Florence-2/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(event-triggered verification) with AWQ 4-bit quantization, scheduled via keyframe policy to fit 8 GB RAM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Bayesian Active Search Engine: Discrete-zone belief with history, semantic, carrier, and gravity priors; detection-failure-aware updates; priority map for viewpoint selection; explainable reasoning log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Multi-Modal Human-Robot Interface: Onboard 7" touchscreen (object cards, heatmap), speaker (TTS responses), 4-mic array (far-field STT), ultrasonic ring (close-proximity safety) — all offline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End-to-End Real-World Validation: Three demonstrated scenarios (stationary recall, moved-object search, safety inspection) with quantitative comparison against 4 baselines; offline demo with internet disabled; 15+ min continuous operation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31D28-12C7-CE2F-8691-9BF7F57E2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01" y="0"/>
            <a:ext cx="711199" cy="71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5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D4D1-9A1D-B9BD-853D-9B5A4266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80A7FD-0571-7ECC-7AD9-8125C0899D5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5AB83-4ACA-CB93-2565-FBAD1D2CD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22F69E-A8AA-E5C4-12DF-C66384238156}"/>
              </a:ext>
            </a:extLst>
          </p:cNvPr>
          <p:cNvSpPr txBox="1"/>
          <p:nvPr/>
        </p:nvSpPr>
        <p:spPr>
          <a:xfrm>
            <a:off x="102417" y="20271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MAP</a:t>
            </a:r>
          </a:p>
          <a:p>
            <a:endParaRPr lang="en-IN" dirty="0"/>
          </a:p>
        </p:txBody>
      </p:sp>
      <p:pic>
        <p:nvPicPr>
          <p:cNvPr id="4" name="Picture 3" descr="A white grid with black text">
            <a:extLst>
              <a:ext uri="{FF2B5EF4-FFF2-40B4-BE49-F238E27FC236}">
                <a16:creationId xmlns:a16="http://schemas.microsoft.com/office/drawing/2014/main" id="{4668131E-8CD5-70BD-76E1-D980B89C9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999429"/>
            <a:ext cx="11696700" cy="5238750"/>
          </a:xfrm>
          <a:prstGeom prst="rect">
            <a:avLst/>
          </a:prstGeom>
        </p:spPr>
      </p:pic>
      <p:pic>
        <p:nvPicPr>
          <p:cNvPr id="6" name="Picture 5" descr="A white grid with black text">
            <a:extLst>
              <a:ext uri="{FF2B5EF4-FFF2-40B4-BE49-F238E27FC236}">
                <a16:creationId xmlns:a16="http://schemas.microsoft.com/office/drawing/2014/main" id="{C9FA5CE8-FB12-27CA-61A9-D13DA0174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993518"/>
            <a:ext cx="11696700" cy="5238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053B52-DB2F-10E9-5FD9-09F8E1AACBD9}"/>
              </a:ext>
            </a:extLst>
          </p:cNvPr>
          <p:cNvSpPr/>
          <p:nvPr/>
        </p:nvSpPr>
        <p:spPr>
          <a:xfrm>
            <a:off x="2734574" y="1682151"/>
            <a:ext cx="1009290" cy="776377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11AE7-184B-D2C9-130F-74CE41A297B1}"/>
              </a:ext>
            </a:extLst>
          </p:cNvPr>
          <p:cNvSpPr/>
          <p:nvPr/>
        </p:nvSpPr>
        <p:spPr>
          <a:xfrm>
            <a:off x="3743864" y="1682150"/>
            <a:ext cx="1009290" cy="776377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758E0-FF81-2573-95AE-BF4B8362DE3E}"/>
              </a:ext>
            </a:extLst>
          </p:cNvPr>
          <p:cNvSpPr/>
          <p:nvPr/>
        </p:nvSpPr>
        <p:spPr>
          <a:xfrm>
            <a:off x="4753154" y="2458527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352A5A-E6EB-E27C-0536-790651340694}"/>
              </a:ext>
            </a:extLst>
          </p:cNvPr>
          <p:cNvSpPr/>
          <p:nvPr/>
        </p:nvSpPr>
        <p:spPr>
          <a:xfrm>
            <a:off x="6822117" y="2458526"/>
            <a:ext cx="10219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C9872E-8731-8C75-0199-F0B68835DA69}"/>
              </a:ext>
            </a:extLst>
          </p:cNvPr>
          <p:cNvSpPr/>
          <p:nvPr/>
        </p:nvSpPr>
        <p:spPr>
          <a:xfrm>
            <a:off x="5800126" y="2959099"/>
            <a:ext cx="1021990" cy="77637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1A9618-F101-056E-C894-7510595BAAAC}"/>
              </a:ext>
            </a:extLst>
          </p:cNvPr>
          <p:cNvSpPr/>
          <p:nvPr/>
        </p:nvSpPr>
        <p:spPr>
          <a:xfrm>
            <a:off x="6822116" y="2959098"/>
            <a:ext cx="1021990" cy="77637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A4B4FC-90DD-3C72-842D-5E43457326AE}"/>
              </a:ext>
            </a:extLst>
          </p:cNvPr>
          <p:cNvGrpSpPr/>
          <p:nvPr/>
        </p:nvGrpSpPr>
        <p:grpSpPr>
          <a:xfrm>
            <a:off x="7844106" y="3750659"/>
            <a:ext cx="2069380" cy="500573"/>
            <a:chOff x="7844106" y="3761193"/>
            <a:chExt cx="2069380" cy="500573"/>
          </a:xfrm>
          <a:solidFill>
            <a:srgbClr val="FF0000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183AFE9-2C6A-8FF0-4413-04CD8B92E328}"/>
                </a:ext>
              </a:extLst>
            </p:cNvPr>
            <p:cNvSpPr/>
            <p:nvPr/>
          </p:nvSpPr>
          <p:spPr>
            <a:xfrm>
              <a:off x="7844106" y="3761193"/>
              <a:ext cx="1034690" cy="50057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9868D3-8B13-3EA5-4435-27ABD07FDA0A}"/>
                </a:ext>
              </a:extLst>
            </p:cNvPr>
            <p:cNvSpPr/>
            <p:nvPr/>
          </p:nvSpPr>
          <p:spPr>
            <a:xfrm>
              <a:off x="8878796" y="3761193"/>
              <a:ext cx="1034690" cy="50057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4E35FB5-374E-33B2-F275-E9E04F7CB391}"/>
              </a:ext>
            </a:extLst>
          </p:cNvPr>
          <p:cNvSpPr/>
          <p:nvPr/>
        </p:nvSpPr>
        <p:spPr>
          <a:xfrm>
            <a:off x="8866096" y="4242121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14557-50D1-D693-2C7D-738CC0114233}"/>
              </a:ext>
            </a:extLst>
          </p:cNvPr>
          <p:cNvSpPr/>
          <p:nvPr/>
        </p:nvSpPr>
        <p:spPr>
          <a:xfrm>
            <a:off x="8859538" y="4733583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28BA5-8B10-0834-5D60-9EC523990D96}"/>
              </a:ext>
            </a:extLst>
          </p:cNvPr>
          <p:cNvSpPr/>
          <p:nvPr/>
        </p:nvSpPr>
        <p:spPr>
          <a:xfrm>
            <a:off x="9894228" y="4733584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715A2C-1716-6BD9-4A45-44BC9BBF7DC3}"/>
              </a:ext>
            </a:extLst>
          </p:cNvPr>
          <p:cNvSpPr/>
          <p:nvPr/>
        </p:nvSpPr>
        <p:spPr>
          <a:xfrm>
            <a:off x="9894228" y="5231120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5AD269-AD0B-7778-4481-49E77822BF2E}"/>
              </a:ext>
            </a:extLst>
          </p:cNvPr>
          <p:cNvSpPr/>
          <p:nvPr/>
        </p:nvSpPr>
        <p:spPr>
          <a:xfrm>
            <a:off x="10909660" y="5725619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460CD6-7FC0-1747-DA6E-52CD604A63F7}"/>
              </a:ext>
            </a:extLst>
          </p:cNvPr>
          <p:cNvGrpSpPr/>
          <p:nvPr/>
        </p:nvGrpSpPr>
        <p:grpSpPr>
          <a:xfrm>
            <a:off x="7757938" y="-34906"/>
            <a:ext cx="2579150" cy="1028423"/>
            <a:chOff x="7757938" y="-34906"/>
            <a:chExt cx="2579150" cy="1028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27D075-F887-1B0B-0BD8-3A7C08BF7489}"/>
                </a:ext>
              </a:extLst>
            </p:cNvPr>
            <p:cNvSpPr/>
            <p:nvPr/>
          </p:nvSpPr>
          <p:spPr>
            <a:xfrm>
              <a:off x="7757939" y="132737"/>
              <a:ext cx="541885" cy="15240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0623E4-B615-9C48-E34D-41AB0DF4A0F0}"/>
                </a:ext>
              </a:extLst>
            </p:cNvPr>
            <p:cNvSpPr/>
            <p:nvPr/>
          </p:nvSpPr>
          <p:spPr>
            <a:xfrm>
              <a:off x="7757938" y="743971"/>
              <a:ext cx="541885" cy="15240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7F15BA6-C0EA-D1D4-8967-0EF0EB6DB9A6}"/>
                </a:ext>
              </a:extLst>
            </p:cNvPr>
            <p:cNvSpPr/>
            <p:nvPr/>
          </p:nvSpPr>
          <p:spPr>
            <a:xfrm>
              <a:off x="7757938" y="446299"/>
              <a:ext cx="541885" cy="15240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0DA41A-6ED5-3614-2C34-A09816CC9EC4}"/>
                </a:ext>
              </a:extLst>
            </p:cNvPr>
            <p:cNvSpPr txBox="1"/>
            <p:nvPr/>
          </p:nvSpPr>
          <p:spPr>
            <a:xfrm>
              <a:off x="8299824" y="-34906"/>
              <a:ext cx="2037264" cy="1028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400" dirty="0"/>
                <a:t>Not completed</a:t>
              </a:r>
            </a:p>
            <a:p>
              <a:pPr>
                <a:lnSpc>
                  <a:spcPct val="150000"/>
                </a:lnSpc>
              </a:pPr>
              <a:r>
                <a:rPr lang="en-IN" sz="1400" dirty="0"/>
                <a:t>Partially completed</a:t>
              </a:r>
            </a:p>
            <a:p>
              <a:pPr>
                <a:lnSpc>
                  <a:spcPct val="150000"/>
                </a:lnSpc>
              </a:pPr>
              <a:r>
                <a:rPr lang="en-IN" sz="1400" dirty="0"/>
                <a:t>Fully completed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9056480-8D40-4044-A451-AE9BF6EB71D7}"/>
              </a:ext>
            </a:extLst>
          </p:cNvPr>
          <p:cNvSpPr/>
          <p:nvPr/>
        </p:nvSpPr>
        <p:spPr>
          <a:xfrm>
            <a:off x="5787635" y="2468409"/>
            <a:ext cx="1034690" cy="50057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65168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49DC-0C32-9514-92A7-F91C8A56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8EAFD26-11DB-A1B9-7B26-9E3ADCD2F351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E6009-30EF-049F-70EB-9F1DBACAB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8248B3-B24B-6111-12E9-B14C18BA5141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E857E3-469B-799F-81E1-C8596243F404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E6A7-37E5-BEED-157A-36BA25937FC0}"/>
              </a:ext>
            </a:extLst>
          </p:cNvPr>
          <p:cNvSpPr txBox="1"/>
          <p:nvPr/>
        </p:nvSpPr>
        <p:spPr>
          <a:xfrm>
            <a:off x="286512" y="1152278"/>
            <a:ext cx="124087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NVIDIA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/ Ubuntu 22.04 — Base OS for Jetson Orin Nano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ROS 2 Humble Hawksbill — Robotics middleware, Nav2, TF2,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robot_localization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NVIDIA Isaac Sim / Isaac Lab — Simulation environment for pre-deployment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Gazebo (Harmonic/Igloo) — Alternative simulation with ROS 2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3.10+ — RL/perception implementation, scripting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ONNX Runtime — Model inference on Jetson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YOLO-World (AILab-CVC) — Open-vocabulary object detection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Florence-2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Vision-language model for verification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Whisper.cpp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Offline speech-to-text (tiny/base model)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Piper / Coqui TTS — Offline text-to-speech (lightweight, multi-speaker)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BehaviorTree.CPP + Groot2 —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executive &amp; visualization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3D occupancy mapping (5 cm voxel resolution)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 / TypeScript — Web dashboard (object cards, heatmap, replay)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Android Studio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SDK — Smartphone VIO bridge application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micro-ROS (ESP-IDF) — ESP32 firmware for motor control + odometry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 + GitHub/GitLab — Version control, CI/CD, issue 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9EAB-D205-C334-D578-7D22C6D4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1CA7CCF-2DDB-19BD-8FF2-80CB3E6712A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C203A-8533-3859-C37C-1212A4ABA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552FD-6C66-82FD-957C-B86C5F8E3BEC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AC1465-4D23-A2D3-4723-9F8F6E244704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B9424-237A-4072-9C7D-501A9FDB73BE}"/>
              </a:ext>
            </a:extLst>
          </p:cNvPr>
          <p:cNvSpPr txBox="1"/>
          <p:nvPr/>
        </p:nvSpPr>
        <p:spPr>
          <a:xfrm>
            <a:off x="286512" y="1152278"/>
            <a:ext cx="124087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&amp; SENSING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NVIDIA Jetson Orin Nano 8 GB Developer Kit — Main compute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-compatible Android smartphone — VIO + RGB camera (already owned)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Motor control, wheel encoders, micro-ROS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&amp; POWER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3D printed chassis with encoder motors — Differential drive 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BO/GB37 geared motors with quadrature encoders (4×)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Motor driver BTS7960 (2×) — High-current dual H-bridge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4S LiPo battery (14.8V, 5000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50C) + balance charger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5V/8-10A buck converter (Jetson) + 5V logic regulator (ESP32/sensors)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Powered USB 3.0 hub (7-port) — Phone + ESP32 + mic + peripherals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&amp; HRI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4× Ultrasonic sensors (HC-SR04 / JSN-SR04T) — Near-field obstacle avoidance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7" HDMI Touchscreen (800×480, IPS) — Onboard display for object cards/heatmap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USB Speaker (5W+) — TTS audio output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ReSpeaker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4-Mic Array (USB) — Far-field STT, beamforming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60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B559-035A-0637-2E62-099ADE34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D1D05DC-49BD-7984-32C8-6E6B4D3FA91F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59F47D-BA77-890D-E53F-D92F0184C9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4F8F2-352B-0F4A-EACB-16952E96663B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7BC401-FECE-D0B1-BCE7-F0646D60D195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B54AF-F5F4-F83E-6AF2-0458B5323D28}"/>
              </a:ext>
            </a:extLst>
          </p:cNvPr>
          <p:cNvSpPr txBox="1"/>
          <p:nvPr/>
        </p:nvSpPr>
        <p:spPr>
          <a:xfrm>
            <a:off x="286512" y="1152278"/>
            <a:ext cx="124087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Wheels (80-100mm) + castor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Wiring, connectors, fuses, switches, XT60, JST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3D printing (mounts, brackets, sensor housings, covers)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Lab test objects (10-15 classes):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soldering iron, screwdriver, pliers, tape, ESP32 board, motor driver, battery pack, safety goggles, helmet, first-aid kit, toolbox, extension board, project box</a:t>
            </a:r>
          </a:p>
        </p:txBody>
      </p:sp>
    </p:spTree>
    <p:extLst>
      <p:ext uri="{BB962C8B-B14F-4D97-AF65-F5344CB8AC3E}">
        <p14:creationId xmlns:p14="http://schemas.microsoft.com/office/powerpoint/2010/main" val="396444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107D-7B6F-3CE4-B8E0-5AA73409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3D9D42-F53E-B60D-F331-0F75B2D1AF8F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E40F3-71E9-E3A8-C545-96955AB585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C734D8-C0A9-6059-01F5-FB54D3B2C260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337E4D-0DDE-359C-B564-D4CA52A2F002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4FA0A-F02C-96F2-6B14-A9D4D6182ABD}"/>
              </a:ext>
            </a:extLst>
          </p:cNvPr>
          <p:cNvSpPr txBox="1"/>
          <p:nvPr/>
        </p:nvSpPr>
        <p:spPr>
          <a:xfrm>
            <a:off x="367791" y="768240"/>
            <a:ext cx="11157901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– Literature Survey, Problem Formulation &amp; Architecture Design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Detailed literature survey across 5 research areas (25+ papers)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Study edge AI models (YOLO-World, Florence-2,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NanoLLaVA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Whisper.cpp, Piper TTS)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Define system architecture: 9-layer stack (Mobility → Interface)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 vs Cloud trade-off analysis for architectural decision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research gap &amp; finalize project contributions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– Hardware Fabrication &amp; Low-Level Control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Chassis fabrication (3D printed / metal), motor mounting, wiring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firmware: micro-ROS, encoder reading, PID velocity control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 system: battery management, buck converters, fusing, voltage monitoring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Phone mount design: rigid, vibration-damped, calibrated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extrinsics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Ultrasonic sensor ring: PCB design, GPIO/I2C interfacing, ROS 2 driver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Physical workspace setup: 5m×5m lab with bench, shelf, tool zones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– Software Platform &amp; Data Pipeline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Jetson flash,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6, ROS 2 Humble workspace setup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Android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bridge: pose + RGB + IMU → ROS 2 topics (/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/camera/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image_raw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USB throughput optimization, timestamp synchronization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robot_localization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EKF: fuse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 + wheel odometry + IMU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 pipeline, RViz visualization (map, TF, heatmap)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Ultrasonic driver: ROS 2 node publishing /ultrasonic/range array, fused 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757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5116-C618-3498-9F66-537DCFE5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7F24615-5720-79CD-24EC-DE7A7E87D9E9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B02189-7228-7B81-4E44-4173D419C2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BE5BF4-9068-F304-A001-08548622FDAC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1010CC-E4D8-3F4E-619D-524F0392A75F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7DA34-D203-5388-1277-CB3B8158DFBD}"/>
              </a:ext>
            </a:extLst>
          </p:cNvPr>
          <p:cNvSpPr txBox="1"/>
          <p:nvPr/>
        </p:nvSpPr>
        <p:spPr>
          <a:xfrm>
            <a:off x="367791" y="768240"/>
            <a:ext cx="11157901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Perception Stack &amp; Semantic Memory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benchmarking on PC → Jetson (latency, memory, accuracy on lab objects)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AWQ 4-bit quantization,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8 GB budget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Two-stage pipeline: YOLO-World (continuous) + VLM (keyframe-triggered)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Semantic scene graph: JSON schema, persistence, carrier ontology, query API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 memory cards: ID, class, position, confidence, relationships,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last_seen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 – Bayesian Search, Navigation &amp;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Discrete zone belief representation, prior formulation (history, semantic, carrier, gravity)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Detection-failure-aware Bayesian update, priority map generation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Nav2 MPPI configuration,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parameter tuning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Ultrasonic integration in local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emergency stop / replanning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BehaviorTree.CPP: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WaitForCommand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ParseIntent →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(fallback tree)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Failure states: nav fail, not found, multiple matches, VLM unavailable, tracking lost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VisualCoverageCritic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(Phase 3+)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 – Speech Interface, Display, Dashboard &amp; System Integration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Whisper.cpp (tiny/base) STT + Piper TTS integration, push-to-talk → intent parser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7" touchscreen GUI: object memory cards, probability heatmap, search log, system status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 web dashboard (mirror): live camera, object cards, heatmap, search replay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End-to-end integration testing, 15-min stress runs, RAM/CPU profiling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Offline validation (Wi-Fi/Bluetooth disabled), three demo scenarios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report, paper draft, viva preparation</a:t>
            </a:r>
          </a:p>
        </p:txBody>
      </p:sp>
    </p:spTree>
    <p:extLst>
      <p:ext uri="{BB962C8B-B14F-4D97-AF65-F5344CB8AC3E}">
        <p14:creationId xmlns:p14="http://schemas.microsoft.com/office/powerpoint/2010/main" val="208753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2E53-6700-297D-840E-712F1B7A7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0D6F762-F432-07F8-D1FC-0F6A216F5E2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F4A39-D8F3-EB32-3F0D-9348FB217E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30CAE2-9704-4A3A-1CE2-73D0B83C9289}"/>
              </a:ext>
            </a:extLst>
          </p:cNvPr>
          <p:cNvSpPr txBox="1"/>
          <p:nvPr/>
        </p:nvSpPr>
        <p:spPr>
          <a:xfrm>
            <a:off x="102417" y="10515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864FE9-325A-D574-03EF-4903E153A363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38EDB-C876-AB0B-4FE3-C89C0B2E594F}"/>
              </a:ext>
            </a:extLst>
          </p:cNvPr>
          <p:cNvSpPr txBox="1"/>
          <p:nvPr/>
        </p:nvSpPr>
        <p:spPr>
          <a:xfrm>
            <a:off x="600366" y="1289235"/>
            <a:ext cx="11157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 – Documentation, Reporting &amp; Project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Weekly progress logs, Git commits, architecture decision records (docs/decisions/)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Phase reports (4 phases), First Review PPT, Final Report, Paper manuscript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Budget tracking, procurement logs, risk register updates</a:t>
            </a:r>
          </a:p>
        </p:txBody>
      </p:sp>
    </p:spTree>
    <p:extLst>
      <p:ext uri="{BB962C8B-B14F-4D97-AF65-F5344CB8AC3E}">
        <p14:creationId xmlns:p14="http://schemas.microsoft.com/office/powerpoint/2010/main" val="104475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EC66-B28E-E7A9-9B19-9A127EF0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5591289-07B6-3A5A-43CF-10007BEF50B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9673F-0628-A6B6-4A75-D88A5E3614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BA2CDF-DD5E-2085-8FD0-B1AC0D7F73DD}"/>
              </a:ext>
            </a:extLst>
          </p:cNvPr>
          <p:cNvSpPr txBox="1"/>
          <p:nvPr/>
        </p:nvSpPr>
        <p:spPr>
          <a:xfrm>
            <a:off x="0" y="13907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928A90-5A93-663E-EED7-ADCB4ADFB1EE}"/>
              </a:ext>
            </a:extLst>
          </p:cNvPr>
          <p:cNvSpPr txBox="1">
            <a:spLocks/>
          </p:cNvSpPr>
          <p:nvPr/>
        </p:nvSpPr>
        <p:spPr>
          <a:xfrm>
            <a:off x="0" y="1293192"/>
            <a:ext cx="12192000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dirty="0"/>
              <a:t>	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D6261-8FEF-C8A7-C9AA-EB89D04BD72B}"/>
              </a:ext>
            </a:extLst>
          </p:cNvPr>
          <p:cNvSpPr txBox="1"/>
          <p:nvPr/>
        </p:nvSpPr>
        <p:spPr>
          <a:xfrm>
            <a:off x="118872" y="1119295"/>
            <a:ext cx="117317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Huang, O. Mees, A. Zeng, and W. Burgard, "Visual Language Maps for Robot Navigation," Proc. IEEE ICRA, London, UK, pp. 10608-10615, 2023.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Jatavallabhula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"CLIP-Fields: Weakly Supervised Semantic Fields for Robotic Memory," Proc. RSS, 2022.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Jatavallabhula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ConceptFusion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Open-Set Multimodal 3D Mapping," Proc. RSS, 2023.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Q. Gu et al.,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Open-Vocabulary 3D Scene Graphs for Perception and Planning," Proc. IEEE ICRA,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Z. Yan et al., "Dynamic Open-Vocabulary 3D Scene Graphs for Long-Term Language-Guided Mobile Manipulation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DovSG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)," IEEE RA-L, 2025.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Loo et al., "Open Scene Graphs for Open-World Object-Goal Navigation,"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X. Li et al.,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OpenObject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-NAV: Open-Vocabulary Object-Oriented Navigation Using Dynamic Carrier-Relationship Scene Graphs," arXiv:2409.18743,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X. Li et al.,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Open-Vocabulary Instance-Oriented Navigation in Dynamic Environments," arXiv:2501.04279, 2025.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M. Karnan et al., "ZAVIS: Zero-Shot Active Visual Search," arXiv:2209.08803, 2022.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Ginting et al., "SEEK: Semantic Reasoning for Object Goal Navigation in Real-World Inspection Tasks," Proc. RSS,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77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4E8C-CB82-8EED-8B5E-1C6FE73D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3C239BF-CAD6-519B-F809-84AD8C9DFD2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2C93-C84A-2506-9F91-BEFF0A98F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BAD83-C3D6-8644-EBBA-2593D627991B}"/>
              </a:ext>
            </a:extLst>
          </p:cNvPr>
          <p:cNvSpPr txBox="1"/>
          <p:nvPr/>
        </p:nvSpPr>
        <p:spPr>
          <a:xfrm>
            <a:off x="0" y="2629091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4020A3-1CCA-E234-FAD5-4E85B29794E8}"/>
              </a:ext>
            </a:extLst>
          </p:cNvPr>
          <p:cNvSpPr txBox="1">
            <a:spLocks/>
          </p:cNvSpPr>
          <p:nvPr/>
        </p:nvSpPr>
        <p:spPr>
          <a:xfrm>
            <a:off x="0" y="1293192"/>
            <a:ext cx="12192000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1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3630</Words>
  <Application>Microsoft Office PowerPoint</Application>
  <PresentationFormat>Widescreen</PresentationFormat>
  <Paragraphs>296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Book Antiqua</vt:lpstr>
      <vt:lpstr>Calibri</vt:lpstr>
      <vt:lpstr>Calibri Light</vt:lpstr>
      <vt:lpstr>Cambria</vt:lpstr>
      <vt:lpstr>Gill Sans MT</vt:lpstr>
      <vt:lpstr>Swis721 BlkCn BT</vt:lpstr>
      <vt:lpstr>Times New Roman</vt:lpstr>
      <vt:lpstr>Office Theme</vt:lpstr>
      <vt:lpstr>B.TECH PROJECT PHASE 1 FIRST REVIEW</vt:lpstr>
      <vt:lpstr>Embodied Semantic Asset Recall Robot  Offline Industrial Object Search, Recall, and Verification via Edge-Optimized Vision-Language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Abraham</dc:creator>
  <cp:lastModifiedBy>Tharun Oommen Jacob</cp:lastModifiedBy>
  <cp:revision>42</cp:revision>
  <cp:lastPrinted>2024-11-07T04:07:42Z</cp:lastPrinted>
  <dcterms:modified xsi:type="dcterms:W3CDTF">2026-08-19T04:57:49Z</dcterms:modified>
</cp:coreProperties>
</file>